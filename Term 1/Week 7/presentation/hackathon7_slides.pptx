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HACKATHON 7: EYES ON EARTH  |  SDG 15 LIFE ON 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Invasive Plant Spotter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D1D5DB"/>
                </a:solidFill>
              </a:defRPr>
            </a:pPr>
            <a:r>
              <a:t>Detecting Japanese knotweed and giant hogweed in photos from the Netherlands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CA3AF"/>
                </a:solidFill>
              </a:defRPr>
            </a:pPr>
            <a:r>
              <a:t>Dylan and Ana  |  HHS AI for Good 26/27  |  Tool: Roboflow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THE PROBLEM AND WHO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Two invasive plants, one real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Japanese knotweed damages paving, dikes and foundations.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Giant hogweed sap causes severe burns and scarring when skin meets sunlight.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Both crowd out native plants along riverbanks, parks and roadsides.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Who needs it: municipal green-space teams, water boards and volunteer groups, who must find these plants early.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SDG 15, target 15.8: prevent and reduce the impact of invasive alien species.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Our answer: a screening aid. A person confirms every finding.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Problem framing: Ana's slide, shortened.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Data: 415 scraped photos, none of our 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Source: iNaturalist, research grade observations in the Netherlands.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215 Japanese knotweed + 200 giant hogweed, licence CC BY or CC BY-NC, up to 3 photos per observation.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No own photos: it is autumn and the plants are dying back. Autumn and winter photos were picked first.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Author, licence and link of every photo are listed in data/sources.csv.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Boxes made by Roboflow Auto Label. We checked 14 images and deleted 1 stray box.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Random split by image: 291 train, 83 valid, 41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RESULTS ON THE 41 TEST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Model: RF-DETR Small trained in Roboflow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60320" cy="1645920"/>
          </a:xfrm>
          <a:prstGeom prst="roundRect">
            <a:avLst/>
          </a:prstGeom>
          <a:solidFill>
            <a:srgbClr val="F1F5F2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66534"/>
                </a:solidFill>
              </a:defRPr>
            </a:pPr>
            <a:r>
              <a:t>90.5%</a:t>
            </a:r>
          </a:p>
          <a:p>
            <a:pPr algn="ctr">
              <a:defRPr sz="1600">
                <a:solidFill>
                  <a:srgbClr val="4B5563"/>
                </a:solidFill>
              </a:defRPr>
            </a:pPr>
            <a:r>
              <a:t>mAP@50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737360"/>
            <a:ext cx="2560320" cy="1645920"/>
          </a:xfrm>
          <a:prstGeom prst="roundRect">
            <a:avLst/>
          </a:prstGeom>
          <a:solidFill>
            <a:srgbClr val="F1F5F2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66534"/>
                </a:solidFill>
              </a:defRPr>
            </a:pPr>
            <a:r>
              <a:t>98.0%</a:t>
            </a:r>
          </a:p>
          <a:p>
            <a:pPr algn="ctr">
              <a:defRPr sz="1600">
                <a:solidFill>
                  <a:srgbClr val="4B5563"/>
                </a:solidFill>
              </a:defRPr>
            </a:pPr>
            <a:r>
              <a:t>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37360"/>
            <a:ext cx="2560320" cy="1645920"/>
          </a:xfrm>
          <a:prstGeom prst="roundRect">
            <a:avLst/>
          </a:prstGeom>
          <a:solidFill>
            <a:srgbClr val="F1F5F2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66534"/>
                </a:solidFill>
              </a:defRPr>
            </a:pPr>
            <a:r>
              <a:t>82.5%</a:t>
            </a:r>
          </a:p>
          <a:p>
            <a:pPr algn="ctr">
              <a:defRPr sz="1600">
                <a:solidFill>
                  <a:srgbClr val="4B5563"/>
                </a:solidFill>
              </a:defRPr>
            </a:pPr>
            <a:r>
              <a:t>Recall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737360"/>
            <a:ext cx="2560320" cy="1645920"/>
          </a:xfrm>
          <a:prstGeom prst="roundRect">
            <a:avLst/>
          </a:prstGeom>
          <a:solidFill>
            <a:srgbClr val="F1F5F2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66534"/>
                </a:solidFill>
              </a:defRPr>
            </a:pPr>
            <a:r>
              <a:t>89.4%</a:t>
            </a:r>
          </a:p>
          <a:p>
            <a:pPr algn="ctr">
              <a:defRPr sz="1600">
                <a:solidFill>
                  <a:srgbClr val="4B5563"/>
                </a:solidFill>
              </a:defRPr>
            </a:pPr>
            <a:r>
              <a:t>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When it draws a box it is almost always right (98% precision), but it misses about 1 in 6 plants.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Treat the scores as promising, not as field accuracy: the test boxes also came from Auto Label, and photos of the same observation can sit in both train and test.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Two classes only: japanese_knotweed and giant_hogweed.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STREAMLIT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Live demo: upload a photo, get boxes and confidence</a:t>
            </a:r>
          </a:p>
        </p:txBody>
      </p:sp>
      <p:pic>
        <p:nvPicPr>
          <p:cNvPr id="5" name="Picture 4" descr="dem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4519749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0" y="169164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Run: python -m streamlit run app.py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Three new photos the model never saw: hogweed 90%, knotweed 93%, knotweed 99%.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On one knotweed photo the box covered only the upper part of the plant.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Three photos is a sanity check, not an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Demo photo: Peter Hollings-Scott, iNaturalist observation 395443468, CC BY-NC.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LIMITATIONS AND ETHICAL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What could go wrong, and our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False negative: an invasive plant spreads unnoticed, and hogweed near paths can burn people.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False positive: a native plant is sprayed, or a landowner is wrongly blamed.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Look-alikes such as giant cow parsley and angelica were never tested.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Narrow data: two classes, Dutch photos only, mostly taken by people who already knew the plant.</a:t>
            </a:r>
          </a:p>
          <a:p>
            <a:pPr>
              <a:spcAft>
                <a:spcPts val="900"/>
              </a:spcAft>
              <a:defRPr sz="2000">
                <a:solidFill>
                  <a:srgbClr val="111827"/>
                </a:solidFill>
              </a:defRPr>
            </a:pPr>
            <a:r>
              <a:t>•  Safeguards: screening aid only, an expert confirms every detection, and the app never encourages anyone to touch or approach a plant.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Full reflection: ETHICS.md in the repo.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What we learned and what we would do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111827"/>
                </a:solidFill>
              </a:defRPr>
            </a:pPr>
            <a:r>
              <a:t>•  A high score is not proof: an AI made the labels and we checked only 14 of 415.</a:t>
            </a:r>
          </a:p>
          <a:p>
            <a:pPr>
              <a:spcAft>
                <a:spcPts val="900"/>
              </a:spcAft>
              <a:defRPr sz="2200">
                <a:solidFill>
                  <a:srgbClr val="111827"/>
                </a:solidFill>
              </a:defRPr>
            </a:pPr>
            <a:r>
              <a:t>•  Look at images at full size. Thumbnails made two good boxes look wrong.</a:t>
            </a:r>
          </a:p>
          <a:p>
            <a:pPr>
              <a:spcAft>
                <a:spcPts val="900"/>
              </a:spcAft>
              <a:defRPr sz="2200">
                <a:solidFill>
                  <a:srgbClr val="111827"/>
                </a:solidFill>
              </a:defRPr>
            </a:pPr>
            <a:r>
              <a:t>•  Scraped data is fast, but gives no control over season or look-alikes.</a:t>
            </a:r>
          </a:p>
          <a:p>
            <a:pPr>
              <a:spcAft>
                <a:spcPts val="900"/>
              </a:spcAft>
              <a:defRPr sz="2200">
                <a:solidFill>
                  <a:srgbClr val="111827"/>
                </a:solidFill>
              </a:defRPr>
            </a:pPr>
            <a:r>
              <a:t>•  Next: label by hand, test look-alikes and winter canes, and split the data by observation.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Code, README and ethics: github.com/landinh0804/ai4g-portfolio-Dylan, Term 1/Week 7/hackathon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