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 of people</c:v>
                </c:pt>
              </c:strCache>
            </c:strRef>
          </c:tx>
          <c:dPt>
            <c:idx val="0"/>
            <c:spPr>
              <a:solidFill>
                <a:srgbClr val="1F4D3A"/>
              </a:solidFill>
            </c:spPr>
          </c:dPt>
          <c:dPt>
            <c:idx val="1"/>
            <c:spPr>
              <a:solidFill>
                <a:srgbClr val="F2A541"/>
              </a:solidFill>
            </c:spPr>
          </c:dPt>
          <c:cat>
            <c:strRef>
              <c:f>Sheet1!$A$2:$A$3</c:f>
              <c:strCache>
                <c:ptCount val="2"/>
                <c:pt idx="0">
                  <c:v>Low income (&lt;=50K): 76%</c:v>
                </c:pt>
                <c:pt idx="1">
                  <c:v>Higher income (&gt;50K): 24%</c:v>
                </c:pt>
              </c:strCache>
            </c:strRef>
          </c:cat>
          <c:val>
            <c:numRef>
              <c:f>Sheet1!$B$2:$B$3</c:f>
              <c:numCache>
                <c:formatCode>General</c:formatCode>
                <c:ptCount val="2"/>
                <c:pt idx="0">
                  <c:v>0.761</c:v>
                </c:pt>
                <c:pt idx="1">
                  <c:v>0.239</c:v>
                </c:pt>
              </c:numCache>
            </c:numRef>
          </c:val>
        </c:ser>
        <c:dLbls>
          <c:numFmt formatCode="0%" sourceLinked="0"/>
          <c:txPr>
            <a:bodyPr/>
            <a:lstStyle/>
            <a:p>
              <a:pPr>
                <a:defRPr sz="18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Calibri"/>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Calibri"/>
              </a:rPr>
              <a:t>Test balanced accuracy</a:t>
            </a:r>
          </a:p>
        </c:rich>
      </c:tx>
      <c:layout/>
      <c:overlay val="0"/>
    </c:title>
    <c:autoTitleDeleted val="0"/>
    <c:plotArea>
      <c:barChart>
        <c:barDir val="col"/>
        <c:grouping val="clustered"/>
        <c:ser>
          <c:idx val="0"/>
          <c:order val="0"/>
          <c:tx>
            <c:strRef>
              <c:f>Sheet1!$B$1</c:f>
              <c:strCache>
                <c:ptCount val="1"/>
                <c:pt idx="0">
                  <c:v>Test balanced accuracy</c:v>
                </c:pt>
              </c:strCache>
            </c:strRef>
          </c:tx>
          <c:dPt>
            <c:idx val="0"/>
            <c:spPr>
              <a:solidFill>
                <a:srgbClr val="55655D"/>
              </a:solidFill>
            </c:spPr>
          </c:dPt>
          <c:dPt>
            <c:idx val="1"/>
            <c:spPr>
              <a:solidFill>
                <a:srgbClr val="8DB580"/>
              </a:solidFill>
            </c:spPr>
          </c:dPt>
          <c:dPt>
            <c:idx val="2"/>
            <c:spPr>
              <a:solidFill>
                <a:srgbClr val="8DB580"/>
              </a:solidFill>
            </c:spPr>
          </c:dPt>
          <c:dPt>
            <c:idx val="3"/>
            <c:spPr>
              <a:solidFill>
                <a:srgbClr val="1F4D3A"/>
              </a:solidFill>
            </c:spPr>
          </c:dPt>
          <c:cat>
            <c:strRef>
              <c:f>Sheet1!$A$2:$A$5</c:f>
              <c:strCache>
                <c:ptCount val="4"/>
                <c:pt idx="0">
                  <c:v>Baseline</c:v>
                </c:pt>
                <c:pt idx="1">
                  <c:v>KNN</c:v>
                </c:pt>
                <c:pt idx="2">
                  <c:v>Logistic regression</c:v>
                </c:pt>
                <c:pt idx="3">
                  <c:v>Random forest</c:v>
                </c:pt>
              </c:strCache>
            </c:strRef>
          </c:cat>
          <c:val>
            <c:numRef>
              <c:f>Sheet1!$B$2:$B$5</c:f>
              <c:numCache>
                <c:formatCode>General</c:formatCode>
                <c:ptCount val="4"/>
                <c:pt idx="0">
                  <c:v>0.5</c:v>
                </c:pt>
                <c:pt idx="1">
                  <c:v>0.77</c:v>
                </c:pt>
                <c:pt idx="2">
                  <c:v>0.823</c:v>
                </c:pt>
                <c:pt idx="3">
                  <c:v>0.827</c:v>
                </c:pt>
              </c:numCache>
            </c:numRef>
          </c:val>
        </c:ser>
        <c:dLbls>
          <c:numFmt formatCode="0.000" sourceLinked="0"/>
          <c:txPr>
            <a:bodyPr/>
            <a:lstStyle/>
            <a:p>
              <a:pPr>
                <a:defRPr sz="15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
          <c:min val="0.0"/>
        </c:scaling>
        <c:delete val="0"/>
        <c:axPos val="l"/>
        <c:majorGridlines>
          <c:spPr>
            <a:ln>
              <a:solidFill>
                <a:srgbClr val="DDE5DF"/>
              </a:solidFill>
            </a:ln>
          </c:spPr>
        </c:majorGridlines>
        <c:numFmt formatCode="0.0" sourceLinked="0"/>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latin typeface="Calibri"/>
              </a:rPr>
              <a:t>Random forest, women vs men</a:t>
            </a:r>
          </a:p>
        </c:rich>
      </c:tx>
      <c:layout/>
      <c:overlay val="0"/>
    </c:title>
    <c:autoTitleDeleted val="0"/>
    <c:plotArea>
      <c:barChart>
        <c:barDir val="col"/>
        <c:grouping val="clustered"/>
        <c:ser>
          <c:idx val="0"/>
          <c:order val="0"/>
          <c:tx>
            <c:strRef>
              <c:f>Sheet1!$B$1</c:f>
              <c:strCache>
                <c:ptCount val="1"/>
                <c:pt idx="0">
                  <c:v>Women</c:v>
                </c:pt>
              </c:strCache>
            </c:strRef>
          </c:tx>
          <c:spPr>
            <a:solidFill>
              <a:srgbClr val="F2A541"/>
            </a:solidFill>
          </c:spPr>
          <c:cat>
            <c:strRef>
              <c:f>Sheet1!$A$2:$A$3</c:f>
              <c:strCache>
                <c:ptCount val="2"/>
                <c:pt idx="0">
                  <c:v>Low-income people found</c:v>
                </c:pt>
                <c:pt idx="1">
                  <c:v>Higher-income people left out</c:v>
                </c:pt>
              </c:strCache>
            </c:strRef>
          </c:cat>
          <c:val>
            <c:numRef>
              <c:f>Sheet1!$B$2:$B$3</c:f>
              <c:numCache>
                <c:formatCode>General</c:formatCode>
                <c:ptCount val="2"/>
                <c:pt idx="0">
                  <c:v>96.3</c:v>
                </c:pt>
                <c:pt idx="1">
                  <c:v>62.8</c:v>
                </c:pt>
              </c:numCache>
            </c:numRef>
          </c:val>
        </c:ser>
        <c:ser>
          <c:idx val="1"/>
          <c:order val="1"/>
          <c:tx>
            <c:strRef>
              <c:f>Sheet1!$C$1</c:f>
              <c:strCache>
                <c:ptCount val="1"/>
                <c:pt idx="0">
                  <c:v>Men</c:v>
                </c:pt>
              </c:strCache>
            </c:strRef>
          </c:tx>
          <c:spPr>
            <a:solidFill>
              <a:srgbClr val="1F4D3A"/>
            </a:solidFill>
          </c:spPr>
          <c:cat>
            <c:strRef>
              <c:f>Sheet1!$A$2:$A$3</c:f>
              <c:strCache>
                <c:ptCount val="2"/>
                <c:pt idx="0">
                  <c:v>Low-income people found</c:v>
                </c:pt>
                <c:pt idx="1">
                  <c:v>Higher-income people left out</c:v>
                </c:pt>
              </c:strCache>
            </c:strRef>
          </c:cat>
          <c:val>
            <c:numRef>
              <c:f>Sheet1!$C$2:$C$3</c:f>
              <c:numCache>
                <c:formatCode>General</c:formatCode>
                <c:ptCount val="2"/>
                <c:pt idx="0">
                  <c:v>74.5</c:v>
                </c:pt>
                <c:pt idx="1">
                  <c:v>86.1</c:v>
                </c:pt>
              </c:numCache>
            </c:numRef>
          </c:val>
        </c:ser>
        <c:dLbls>
          <c:numFmt formatCode="0.0&quot;%&quot;" sourceLinked="0"/>
          <c:txPr>
            <a:bodyPr/>
            <a:lstStyle/>
            <a:p>
              <a:pPr>
                <a:defRPr sz="14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100.0"/>
          <c:min val="0.0"/>
        </c:scaling>
        <c:delete val="0"/>
        <c:axPos val="l"/>
        <c:majorGridlines>
          <c:spPr>
            <a:ln>
              <a:solidFill>
                <a:srgbClr val="DDE5DF"/>
              </a:solidFill>
            </a:ln>
          </c:spPr>
        </c:majorGridlines>
        <c:numFmt formatCode="0&quot;%&quot;" sourceLinked="0"/>
        <c:majorTickMark val="out"/>
        <c:minorTickMark val="none"/>
        <c:tickLblPos val="nextTo"/>
        <c:txPr>
          <a:bodyPr/>
          <a:lstStyle/>
          <a:p>
            <a:pPr>
              <a:defRPr sz="1200"/>
            </a:pPr>
          </a:p>
        </c:txPr>
        <c:crossAx val="-2068027336"/>
        <c:crosses val="autoZero"/>
      </c:valAx>
    </c:plotArea>
    <c:legend>
      <c:legendPos val="b"/>
      <c:overlay val="0"/>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our project is about students who are entitled to money but do not get it. We built a proof of concept with scikit-learn, and we will be clear about what it can and cannot do. SDG 8: income security for low-income students.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grant is based on parents' income. The CPB found that 24 percent of entitled first-years do not use it. They miss about 175 euro a month, and 41 percent borrow from DUO instead. DUO estimates that a letter reduces non-use by about 15 percent. The CPB figure is based on 2018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the data is the UCI Adult dataset, 1994 US Census. The target is income above or below 50 thousand dollars. We use low income as a stand-in. A real DUO tool would need recent Dutch data, which is not public.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is a DUO team member. The model ranks, it does not decide. Entitlement is decided from the real parental income. Not in the data: Dutch families, recent years, students (the data is about adults).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balance is 76 percent low income. That is why plain accuracy and plain recall are not good main metrics. We removed the full stops in the labels, turned question marks into missing values, removed 52 duplicates, and dropped fnlwgt and education.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the test set is touched only once, and that all preprocessing happens inside a scikit-learn Pipeline, so nothing leaks from test into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is first in the table. Test scores match cross-validation, so the estimate is honest. Random forest: train 0.902, CV 0.826, test 0.827, so it overfits a bit but is still best on new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matrix: of 7,422 low-income people the forest finds 6,163 and misses 1,259, which is 17 percent. A missed student gets no letter and may miss about 175 euro a month. A false positive costs one letter.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the last cell of the notebook live. Change one value, for example the hours per week or the marital status, and show how the probability moves.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choice we defend hardest. 76 percent of people are low income, so a model that sends everyone a letter gets recall 1.0. Balanced accuracy gives that lazy model 0.5, so it is a fair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Sex and race are features. The model learns old patterns, for example that women earn less. The groups Amer-Indian-Eskimo and Other are under 100 people in the test set, too small to conclude anything. Income is personal data, so we only used a public, anonymised dataset (CC BY 4.0).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recommendation and the conditions. Likely question: if DUO knows the parents' income, why a model? Answer: DUO only checks the income after a student applies, so the model decides whom to write to before that; a real version would use data DUO has before an application, and our census data is a stand-in. Also be ready for: why balanced accuracy, why random forest over logistic regression, why race is in the model, the blind spot (married men), and why 1994 US data is not usable for real Dutch students.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D3A"/>
        </a:solidFill>
        <a:effectLst/>
      </p:bgPr>
    </p:bg>
    <p:spTree>
      <p:nvGrpSpPr>
        <p:cNvPr id="1" name=""/>
        <p:cNvGrpSpPr/>
        <p:nvPr/>
      </p:nvGrpSpPr>
      <p:grpSpPr/>
      <p:sp>
        <p:nvSpPr>
          <p:cNvPr id="2" name="Motif large"/>
          <p:cNvSpPr/>
          <p:nvPr/>
        </p:nvSpPr>
        <p:spPr>
          <a:xfrm>
            <a:off x="8138160" y="822960"/>
            <a:ext cx="3383280" cy="3383280"/>
          </a:xfrm>
          <a:prstGeom prst="ellipse">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small"/>
          <p:cNvSpPr/>
          <p:nvPr/>
        </p:nvSpPr>
        <p:spPr>
          <a:xfrm>
            <a:off x="9418320" y="3566160"/>
            <a:ext cx="2103120" cy="2103120"/>
          </a:xfrm>
          <a:prstGeom prst="ellipse">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6949440" cy="457200"/>
          </a:xfrm>
          <a:prstGeom prst="rect">
            <a:avLst/>
          </a:prstGeom>
          <a:noFill/>
        </p:spPr>
        <p:txBody>
          <a:bodyPr wrap="square" lIns="45720" rIns="45720" tIns="27432" bIns="27432" anchor="t">
            <a:spAutoFit/>
          </a:bodyPr>
          <a:lstStyle/>
          <a:p>
            <a:pPr algn="l">
              <a:spcAft>
                <a:spcPts val="600"/>
              </a:spcAft>
            </a:pPr>
            <a:r>
              <a:rPr sz="1400" b="1" i="0">
                <a:solidFill>
                  <a:srgbClr val="8DB580"/>
                </a:solidFill>
                <a:latin typeface="Calibri"/>
              </a:rPr>
              <a:t>AI FOR GOOD  |  HACKATHON 5  |  MODEL SHOWDOWN</a:t>
            </a:r>
          </a:p>
        </p:txBody>
      </p:sp>
      <p:sp>
        <p:nvSpPr>
          <p:cNvPr id="5" name="Title"/>
          <p:cNvSpPr txBox="1"/>
          <p:nvPr/>
        </p:nvSpPr>
        <p:spPr>
          <a:xfrm>
            <a:off x="731520" y="1645920"/>
            <a:ext cx="7315200" cy="2011680"/>
          </a:xfrm>
          <a:prstGeom prst="rect">
            <a:avLst/>
          </a:prstGeom>
          <a:noFill/>
        </p:spPr>
        <p:txBody>
          <a:bodyPr wrap="square" lIns="45720" rIns="45720" tIns="27432" bIns="27432" anchor="t">
            <a:spAutoFit/>
          </a:bodyPr>
          <a:lstStyle/>
          <a:p>
            <a:pPr algn="l">
              <a:spcAft>
                <a:spcPts val="600"/>
              </a:spcAft>
            </a:pPr>
            <a:r>
              <a:rPr sz="5400" b="1" i="0">
                <a:solidFill>
                  <a:srgbClr val="FFFFFF"/>
                </a:solidFill>
                <a:latin typeface="Cambria"/>
              </a:rPr>
              <a:t>Who misses the extra grant?</a:t>
            </a:r>
          </a:p>
        </p:txBody>
      </p:sp>
      <p:sp>
        <p:nvSpPr>
          <p:cNvPr id="6" name="TextBox 5"/>
          <p:cNvSpPr txBox="1"/>
          <p:nvPr/>
        </p:nvSpPr>
        <p:spPr>
          <a:xfrm>
            <a:off x="731520" y="3657600"/>
            <a:ext cx="7132320" cy="1097280"/>
          </a:xfrm>
          <a:prstGeom prst="rect">
            <a:avLst/>
          </a:prstGeom>
          <a:noFill/>
        </p:spPr>
        <p:txBody>
          <a:bodyPr wrap="square" lIns="45720" rIns="45720" tIns="27432" bIns="27432" anchor="t">
            <a:spAutoFit/>
          </a:bodyPr>
          <a:lstStyle/>
          <a:p>
            <a:pPr algn="l">
              <a:spcAft>
                <a:spcPts val="600"/>
              </a:spcAft>
            </a:pPr>
            <a:r>
              <a:rPr sz="2200" b="0" i="0">
                <a:solidFill>
                  <a:srgbClr val="EAF3E7"/>
                </a:solidFill>
                <a:latin typeface="Calibri"/>
              </a:rPr>
              <a:t>Three tuned models, one honest comparison, and what happens when the data is over 30 years old and American</a:t>
            </a:r>
          </a:p>
        </p:txBody>
      </p:sp>
      <p:sp>
        <p:nvSpPr>
          <p:cNvPr id="7" name="TextBox 6"/>
          <p:cNvSpPr txBox="1"/>
          <p:nvPr/>
        </p:nvSpPr>
        <p:spPr>
          <a:xfrm>
            <a:off x="731520" y="5394960"/>
            <a:ext cx="6858000" cy="822960"/>
          </a:xfrm>
          <a:prstGeom prst="rect">
            <a:avLst/>
          </a:prstGeom>
          <a:noFill/>
        </p:spPr>
        <p:txBody>
          <a:bodyPr wrap="square" lIns="45720" rIns="45720" tIns="27432" bIns="27432" anchor="t">
            <a:spAutoFit/>
          </a:bodyPr>
          <a:lstStyle/>
          <a:p>
            <a:pPr algn="l">
              <a:spcAft>
                <a:spcPts val="600"/>
              </a:spcAft>
            </a:pPr>
            <a:r>
              <a:rPr sz="1800" b="1" i="0">
                <a:solidFill>
                  <a:srgbClr val="F2A541"/>
                </a:solidFill>
                <a:latin typeface="Calibri"/>
              </a:rPr>
              <a:t>SDG 8</a:t>
            </a:r>
            <a:r>
              <a:rPr sz="1800" b="0" i="0">
                <a:solidFill>
                  <a:srgbClr val="FFFFFF"/>
                </a:solidFill>
                <a:latin typeface="Calibri"/>
              </a:rPr>
              <a:t>  Decent Work and Economic Growth</a:t>
            </a:r>
          </a:p>
          <a:p>
            <a:pPr algn="l">
              <a:spcAft>
                <a:spcPts val="600"/>
              </a:spcAft>
            </a:pPr>
            <a:r>
              <a:rPr sz="1800" b="0" i="0">
                <a:solidFill>
                  <a:srgbClr val="FFFFFF"/>
                </a:solidFill>
                <a:latin typeface="Calibri"/>
              </a:rPr>
              <a:t>Dylan Dinh Duy and Nina Borutyńska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About 1 in 4 entitled students never claims the grant</a:t>
            </a:r>
          </a:p>
        </p:txBody>
      </p:sp>
      <p:sp>
        <p:nvSpPr>
          <p:cNvPr id="3" name="Stat card"/>
          <p:cNvSpPr/>
          <p:nvPr/>
        </p:nvSpPr>
        <p:spPr>
          <a:xfrm>
            <a:off x="640080" y="1737360"/>
            <a:ext cx="3520440" cy="27432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920240"/>
            <a:ext cx="3154680" cy="1097280"/>
          </a:xfrm>
          <a:prstGeom prst="rect">
            <a:avLst/>
          </a:prstGeom>
          <a:noFill/>
        </p:spPr>
        <p:txBody>
          <a:bodyPr wrap="square" lIns="45720" rIns="45720" tIns="27432" bIns="27432" anchor="ctr">
            <a:spAutoFit/>
          </a:bodyPr>
          <a:lstStyle/>
          <a:p>
            <a:pPr algn="l">
              <a:spcAft>
                <a:spcPts val="600"/>
              </a:spcAft>
            </a:pPr>
            <a:r>
              <a:rPr sz="4400" b="1" i="0">
                <a:solidFill>
                  <a:srgbClr val="1F4D3A"/>
                </a:solidFill>
                <a:latin typeface="Cambria"/>
              </a:rPr>
              <a:t>24%</a:t>
            </a:r>
          </a:p>
        </p:txBody>
      </p:sp>
      <p:sp>
        <p:nvSpPr>
          <p:cNvPr id="5" name="TextBox 4"/>
          <p:cNvSpPr txBox="1"/>
          <p:nvPr/>
        </p:nvSpPr>
        <p:spPr>
          <a:xfrm>
            <a:off x="822959" y="3108960"/>
            <a:ext cx="3154680" cy="1280160"/>
          </a:xfrm>
          <a:prstGeom prst="rect">
            <a:avLst/>
          </a:prstGeom>
          <a:noFill/>
        </p:spPr>
        <p:txBody>
          <a:bodyPr wrap="square" lIns="45720" rIns="45720" tIns="27432" bIns="27432" anchor="t">
            <a:spAutoFit/>
          </a:bodyPr>
          <a:lstStyle/>
          <a:p>
            <a:pPr algn="l">
              <a:spcAft>
                <a:spcPts val="600"/>
              </a:spcAft>
            </a:pPr>
            <a:r>
              <a:rPr sz="1800" b="0" i="0">
                <a:solidFill>
                  <a:srgbClr val="1B2B24"/>
                </a:solidFill>
                <a:latin typeface="Calibri"/>
              </a:rPr>
              <a:t>of entitled first-year hbo/wo students do not use the aanvullende beurs (CPB, 2018 data)</a:t>
            </a:r>
          </a:p>
        </p:txBody>
      </p:sp>
      <p:sp>
        <p:nvSpPr>
          <p:cNvPr id="6" name="Stat card"/>
          <p:cNvSpPr/>
          <p:nvPr/>
        </p:nvSpPr>
        <p:spPr>
          <a:xfrm>
            <a:off x="4389120" y="1737360"/>
            <a:ext cx="3520440" cy="27432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20240"/>
            <a:ext cx="3154680" cy="1097280"/>
          </a:xfrm>
          <a:prstGeom prst="rect">
            <a:avLst/>
          </a:prstGeom>
          <a:noFill/>
        </p:spPr>
        <p:txBody>
          <a:bodyPr wrap="square" lIns="45720" rIns="45720" tIns="27432" bIns="27432" anchor="ctr">
            <a:spAutoFit/>
          </a:bodyPr>
          <a:lstStyle/>
          <a:p>
            <a:pPr algn="l">
              <a:spcAft>
                <a:spcPts val="600"/>
              </a:spcAft>
            </a:pPr>
            <a:r>
              <a:rPr sz="4400" b="1" i="0">
                <a:solidFill>
                  <a:srgbClr val="1F4D3A"/>
                </a:solidFill>
                <a:latin typeface="Cambria"/>
              </a:rPr>
              <a:t>EUR 175</a:t>
            </a:r>
          </a:p>
        </p:txBody>
      </p:sp>
      <p:sp>
        <p:nvSpPr>
          <p:cNvPr id="8" name="TextBox 7"/>
          <p:cNvSpPr txBox="1"/>
          <p:nvPr/>
        </p:nvSpPr>
        <p:spPr>
          <a:xfrm>
            <a:off x="4572000" y="3108960"/>
            <a:ext cx="3154680" cy="1280160"/>
          </a:xfrm>
          <a:prstGeom prst="rect">
            <a:avLst/>
          </a:prstGeom>
          <a:noFill/>
        </p:spPr>
        <p:txBody>
          <a:bodyPr wrap="square" lIns="45720" rIns="45720" tIns="27432" bIns="27432" anchor="t">
            <a:spAutoFit/>
          </a:bodyPr>
          <a:lstStyle/>
          <a:p>
            <a:pPr algn="l">
              <a:spcAft>
                <a:spcPts val="600"/>
              </a:spcAft>
            </a:pPr>
            <a:r>
              <a:rPr sz="1800" b="0" i="0">
                <a:solidFill>
                  <a:srgbClr val="1B2B24"/>
                </a:solidFill>
                <a:latin typeface="Calibri"/>
              </a:rPr>
              <a:t>per month missed on average</a:t>
            </a:r>
          </a:p>
        </p:txBody>
      </p:sp>
      <p:sp>
        <p:nvSpPr>
          <p:cNvPr id="9" name="Stat card"/>
          <p:cNvSpPr/>
          <p:nvPr/>
        </p:nvSpPr>
        <p:spPr>
          <a:xfrm>
            <a:off x="8138159" y="1737360"/>
            <a:ext cx="3520440" cy="27432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39" y="1920240"/>
            <a:ext cx="3154680" cy="1097280"/>
          </a:xfrm>
          <a:prstGeom prst="rect">
            <a:avLst/>
          </a:prstGeom>
          <a:noFill/>
        </p:spPr>
        <p:txBody>
          <a:bodyPr wrap="square" lIns="45720" rIns="45720" tIns="27432" bIns="27432" anchor="ctr">
            <a:spAutoFit/>
          </a:bodyPr>
          <a:lstStyle/>
          <a:p>
            <a:pPr algn="l">
              <a:spcAft>
                <a:spcPts val="600"/>
              </a:spcAft>
            </a:pPr>
            <a:r>
              <a:rPr sz="4400" b="1" i="0">
                <a:solidFill>
                  <a:srgbClr val="1F4D3A"/>
                </a:solidFill>
                <a:latin typeface="Cambria"/>
              </a:rPr>
              <a:t>41%</a:t>
            </a:r>
          </a:p>
        </p:txBody>
      </p:sp>
      <p:sp>
        <p:nvSpPr>
          <p:cNvPr id="11" name="TextBox 10"/>
          <p:cNvSpPr txBox="1"/>
          <p:nvPr/>
        </p:nvSpPr>
        <p:spPr>
          <a:xfrm>
            <a:off x="8321039" y="3108960"/>
            <a:ext cx="3154680" cy="1280160"/>
          </a:xfrm>
          <a:prstGeom prst="rect">
            <a:avLst/>
          </a:prstGeom>
          <a:noFill/>
        </p:spPr>
        <p:txBody>
          <a:bodyPr wrap="square" lIns="45720" rIns="45720" tIns="27432" bIns="27432" anchor="t">
            <a:spAutoFit/>
          </a:bodyPr>
          <a:lstStyle/>
          <a:p>
            <a:pPr algn="l">
              <a:spcAft>
                <a:spcPts val="600"/>
              </a:spcAft>
            </a:pPr>
            <a:r>
              <a:rPr sz="1800" b="0" i="0">
                <a:solidFill>
                  <a:srgbClr val="1B2B24"/>
                </a:solidFill>
                <a:latin typeface="Calibri"/>
              </a:rPr>
              <a:t>of them take a DUO loan instead, which must be repaid</a:t>
            </a:r>
          </a:p>
        </p:txBody>
      </p:sp>
      <p:sp>
        <p:nvSpPr>
          <p:cNvPr id="12" name="TextBox 11"/>
          <p:cNvSpPr txBox="1"/>
          <p:nvPr/>
        </p:nvSpPr>
        <p:spPr>
          <a:xfrm>
            <a:off x="640080" y="4800600"/>
            <a:ext cx="10881360" cy="822960"/>
          </a:xfrm>
          <a:prstGeom prst="rect">
            <a:avLst/>
          </a:prstGeom>
          <a:noFill/>
        </p:spPr>
        <p:txBody>
          <a:bodyPr wrap="square" lIns="45720" rIns="45720" tIns="27432" bIns="27432" anchor="t">
            <a:spAutoFit/>
          </a:bodyPr>
          <a:lstStyle/>
          <a:p>
            <a:pPr algn="l">
              <a:spcAft>
                <a:spcPts val="600"/>
              </a:spcAft>
            </a:pPr>
            <a:r>
              <a:rPr sz="2000" b="1" i="0">
                <a:solidFill>
                  <a:srgbClr val="1F4D3A"/>
                </a:solidFill>
                <a:latin typeface="Calibri"/>
              </a:rPr>
              <a:t>Why it matters: </a:t>
            </a:r>
            <a:r>
              <a:rPr sz="2000" b="0" i="0">
                <a:solidFill>
                  <a:srgbClr val="1B2B24"/>
                </a:solidFill>
                <a:latin typeface="Calibri"/>
              </a:rPr>
              <a:t>DUO estimates that a letter reduces non-use by about 15%, so reaching the right students pays off.</a:t>
            </a:r>
          </a:p>
        </p:txBody>
      </p:sp>
      <p:sp>
        <p:nvSpPr>
          <p:cNvPr id="13" name="TextBox 12"/>
          <p:cNvSpPr txBox="1"/>
          <p:nvPr/>
        </p:nvSpPr>
        <p:spPr>
          <a:xfrm>
            <a:off x="640080" y="5989320"/>
            <a:ext cx="10881360" cy="548640"/>
          </a:xfrm>
          <a:prstGeom prst="rect">
            <a:avLst/>
          </a:prstGeom>
          <a:noFill/>
        </p:spPr>
        <p:txBody>
          <a:bodyPr wrap="square" lIns="45720" rIns="45720" tIns="27432" bIns="27432" anchor="t">
            <a:spAutoFit/>
          </a:bodyPr>
          <a:lstStyle/>
          <a:p>
            <a:pPr algn="l">
              <a:spcAft>
                <a:spcPts val="600"/>
              </a:spcAft>
            </a:pPr>
            <a:r>
              <a:rPr sz="1200" b="0" i="0">
                <a:solidFill>
                  <a:srgbClr val="55655D"/>
                </a:solidFill>
                <a:latin typeface="Calibri"/>
              </a:rPr>
              <a:t>Sources: CPB, "Niet-gebruik van de aanvullende beurs" (Dec 2020); Vox (10 Dec 2020); TU/e Cursor (22 Nov 2021)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What our model really does</a:t>
            </a:r>
          </a:p>
        </p:txBody>
      </p:sp>
      <p:sp>
        <p:nvSpPr>
          <p:cNvPr id="3" name="Card real world"/>
          <p:cNvSpPr/>
          <p:nvPr/>
        </p:nvSpPr>
        <p:spPr>
          <a:xfrm>
            <a:off x="640080" y="1554480"/>
            <a:ext cx="5212080" cy="27432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4754880" cy="457200"/>
          </a:xfrm>
          <a:prstGeom prst="rect">
            <a:avLst/>
          </a:prstGeom>
          <a:noFill/>
        </p:spPr>
        <p:txBody>
          <a:bodyPr wrap="square" lIns="45720" rIns="45720" tIns="27432" bIns="27432" anchor="t">
            <a:spAutoFit/>
          </a:bodyPr>
          <a:lstStyle/>
          <a:p>
            <a:pPr algn="l">
              <a:spcAft>
                <a:spcPts val="600"/>
              </a:spcAft>
            </a:pPr>
            <a:r>
              <a:rPr sz="1400" b="1" i="0">
                <a:solidFill>
                  <a:srgbClr val="55655D"/>
                </a:solidFill>
                <a:latin typeface="Calibri"/>
              </a:rPr>
              <a:t>THE REAL PROBLEM</a:t>
            </a:r>
          </a:p>
        </p:txBody>
      </p:sp>
      <p:sp>
        <p:nvSpPr>
          <p:cNvPr id="5" name="TextBox 4"/>
          <p:cNvSpPr txBox="1"/>
          <p:nvPr/>
        </p:nvSpPr>
        <p:spPr>
          <a:xfrm>
            <a:off x="868680" y="2148840"/>
            <a:ext cx="4754880" cy="2011680"/>
          </a:xfrm>
          <a:prstGeom prst="rect">
            <a:avLst/>
          </a:prstGeom>
          <a:noFill/>
        </p:spPr>
        <p:txBody>
          <a:bodyPr wrap="square" lIns="45720" rIns="45720" tIns="27432" bIns="27432" anchor="t">
            <a:spAutoFit/>
          </a:bodyPr>
          <a:lstStyle/>
          <a:p>
            <a:pPr algn="l">
              <a:spcAft>
                <a:spcPts val="1400"/>
              </a:spcAft>
            </a:pPr>
            <a:r>
              <a:rPr sz="2200" b="0" i="0">
                <a:solidFill>
                  <a:srgbClr val="1B2B24"/>
                </a:solidFill>
                <a:latin typeface="Calibri"/>
              </a:rPr>
              <a:t>Dutch students entitled to the aanvullende beurs who never apply</a:t>
            </a:r>
          </a:p>
          <a:p>
            <a:pPr algn="l">
              <a:spcAft>
                <a:spcPts val="1400"/>
              </a:spcAft>
            </a:pPr>
            <a:r>
              <a:rPr sz="2200" b="0" i="0">
                <a:solidFill>
                  <a:srgbClr val="1B2B24"/>
                </a:solidFill>
                <a:latin typeface="Calibri"/>
              </a:rPr>
              <a:t>DUO wants to send them a letter</a:t>
            </a:r>
          </a:p>
        </p:txBody>
      </p:sp>
      <p:sp>
        <p:nvSpPr>
          <p:cNvPr id="6" name="Card our model"/>
          <p:cNvSpPr/>
          <p:nvPr/>
        </p:nvSpPr>
        <p:spPr>
          <a:xfrm>
            <a:off x="6355080" y="1554480"/>
            <a:ext cx="5212080" cy="2743200"/>
          </a:xfrm>
          <a:prstGeom prst="roundRect">
            <a:avLst>
              <a:gd name="adj" fmla="val 8000"/>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691640"/>
            <a:ext cx="4754880" cy="457200"/>
          </a:xfrm>
          <a:prstGeom prst="rect">
            <a:avLst/>
          </a:prstGeom>
          <a:noFill/>
        </p:spPr>
        <p:txBody>
          <a:bodyPr wrap="square" lIns="45720" rIns="45720" tIns="27432" bIns="27432" anchor="t">
            <a:spAutoFit/>
          </a:bodyPr>
          <a:lstStyle/>
          <a:p>
            <a:pPr algn="l">
              <a:spcAft>
                <a:spcPts val="600"/>
              </a:spcAft>
            </a:pPr>
            <a:r>
              <a:rPr sz="1400" b="1" i="0">
                <a:solidFill>
                  <a:srgbClr val="8DB580"/>
                </a:solidFill>
                <a:latin typeface="Calibri"/>
              </a:rPr>
              <a:t>OUR PROOF OF CONCEPT</a:t>
            </a:r>
          </a:p>
        </p:txBody>
      </p:sp>
      <p:sp>
        <p:nvSpPr>
          <p:cNvPr id="8" name="TextBox 7"/>
          <p:cNvSpPr txBox="1"/>
          <p:nvPr/>
        </p:nvSpPr>
        <p:spPr>
          <a:xfrm>
            <a:off x="6583680" y="2148840"/>
            <a:ext cx="4754880" cy="2011680"/>
          </a:xfrm>
          <a:prstGeom prst="rect">
            <a:avLst/>
          </a:prstGeom>
          <a:noFill/>
        </p:spPr>
        <p:txBody>
          <a:bodyPr wrap="square" lIns="45720" rIns="45720" tIns="27432" bIns="27432" anchor="t">
            <a:spAutoFit/>
          </a:bodyPr>
          <a:lstStyle/>
          <a:p>
            <a:pPr algn="l">
              <a:spcAft>
                <a:spcPts val="1400"/>
              </a:spcAft>
            </a:pPr>
            <a:r>
              <a:rPr sz="2200" b="0" i="0">
                <a:solidFill>
                  <a:srgbClr val="FFFFFF"/>
                </a:solidFill>
                <a:latin typeface="Calibri"/>
              </a:rPr>
              <a:t>Predicts if a person earns $50K or less (low income)</a:t>
            </a:r>
          </a:p>
          <a:p>
            <a:pPr algn="l">
              <a:spcAft>
                <a:spcPts val="1400"/>
              </a:spcAft>
            </a:pPr>
            <a:r>
              <a:rPr sz="2200" b="0" i="0">
                <a:solidFill>
                  <a:srgbClr val="FFFFFF"/>
                </a:solidFill>
                <a:latin typeface="Calibri"/>
              </a:rPr>
              <a:t>Low income stands in for "parents may be entitled"</a:t>
            </a:r>
          </a:p>
        </p:txBody>
      </p:sp>
      <p:sp>
        <p:nvSpPr>
          <p:cNvPr id="9" name="TextBox 8"/>
          <p:cNvSpPr txBox="1"/>
          <p:nvPr/>
        </p:nvSpPr>
        <p:spPr>
          <a:xfrm>
            <a:off x="5852160" y="2468880"/>
            <a:ext cx="548640" cy="914400"/>
          </a:xfrm>
          <a:prstGeom prst="rect">
            <a:avLst/>
          </a:prstGeom>
          <a:noFill/>
        </p:spPr>
        <p:txBody>
          <a:bodyPr wrap="square" lIns="45720" rIns="45720" tIns="27432" bIns="27432" anchor="ctr">
            <a:spAutoFit/>
          </a:bodyPr>
          <a:lstStyle/>
          <a:p>
            <a:pPr algn="ctr">
              <a:spcAft>
                <a:spcPts val="600"/>
              </a:spcAft>
            </a:pPr>
            <a:r>
              <a:rPr sz="4000" b="1" i="0">
                <a:solidFill>
                  <a:srgbClr val="F2A541"/>
                </a:solidFill>
                <a:latin typeface="Calibri"/>
              </a:rPr>
              <a:t>&gt;</a:t>
            </a:r>
          </a:p>
        </p:txBody>
      </p:sp>
      <p:sp>
        <p:nvSpPr>
          <p:cNvPr id="10" name="Warning"/>
          <p:cNvSpPr/>
          <p:nvPr/>
        </p:nvSpPr>
        <p:spPr>
          <a:xfrm>
            <a:off x="640080" y="4663440"/>
            <a:ext cx="10927080" cy="1371600"/>
          </a:xfrm>
          <a:prstGeom prst="roundRect">
            <a:avLst>
              <a:gd name="adj" fmla="val 8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09160"/>
            <a:ext cx="10515600" cy="1280160"/>
          </a:xfrm>
          <a:prstGeom prst="rect">
            <a:avLst/>
          </a:prstGeom>
          <a:noFill/>
        </p:spPr>
        <p:txBody>
          <a:bodyPr wrap="square" lIns="45720" rIns="45720" tIns="27432" bIns="27432" anchor="ctr">
            <a:spAutoFit/>
          </a:bodyPr>
          <a:lstStyle/>
          <a:p>
            <a:pPr algn="l">
              <a:spcAft>
                <a:spcPts val="600"/>
              </a:spcAft>
            </a:pPr>
            <a:r>
              <a:rPr sz="1900" b="1" i="0">
                <a:solidFill>
                  <a:srgbClr val="1B2B24"/>
                </a:solidFill>
                <a:latin typeface="Calibri"/>
              </a:rPr>
              <a:t>Not Dutch data. </a:t>
            </a:r>
            <a:r>
              <a:rPr sz="1900" b="0" i="0">
                <a:solidFill>
                  <a:srgbClr val="1B2B24"/>
                </a:solidFill>
                <a:latin typeface="Calibri"/>
              </a:rPr>
              <a:t>48,842 US adults from the 1994 Census (UCI Adult, CC BY 4.0). It does not predict "entitled but not applying". It applies the full method to a public dataset. A real DUO tool needs recent Dutch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Who uses it, and who must not</a:t>
            </a:r>
          </a:p>
        </p:txBody>
      </p:sp>
      <p:sp>
        <p:nvSpPr>
          <p:cNvPr id="3" name="Card USER"/>
          <p:cNvSpPr/>
          <p:nvPr/>
        </p:nvSpPr>
        <p:spPr>
          <a:xfrm>
            <a:off x="640080" y="1645920"/>
            <a:ext cx="2606040" cy="3291840"/>
          </a:xfrm>
          <a:prstGeom prst="roundRect">
            <a:avLst>
              <a:gd name="adj" fmla="val 8000"/>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783080"/>
            <a:ext cx="2240280" cy="457200"/>
          </a:xfrm>
          <a:prstGeom prst="rect">
            <a:avLst/>
          </a:prstGeom>
          <a:noFill/>
        </p:spPr>
        <p:txBody>
          <a:bodyPr wrap="square" lIns="45720" rIns="45720" tIns="27432" bIns="27432" anchor="t">
            <a:spAutoFit/>
          </a:bodyPr>
          <a:lstStyle/>
          <a:p>
            <a:pPr algn="l">
              <a:spcAft>
                <a:spcPts val="600"/>
              </a:spcAft>
            </a:pPr>
            <a:r>
              <a:rPr sz="1400" b="1" i="0">
                <a:solidFill>
                  <a:srgbClr val="8DB580"/>
                </a:solidFill>
                <a:latin typeface="Calibri"/>
              </a:rPr>
              <a:t>USER</a:t>
            </a:r>
          </a:p>
        </p:txBody>
      </p:sp>
      <p:sp>
        <p:nvSpPr>
          <p:cNvPr id="5" name="TextBox 4"/>
          <p:cNvSpPr txBox="1"/>
          <p:nvPr/>
        </p:nvSpPr>
        <p:spPr>
          <a:xfrm>
            <a:off x="822959" y="2286000"/>
            <a:ext cx="2240280" cy="2560320"/>
          </a:xfrm>
          <a:prstGeom prst="rect">
            <a:avLst/>
          </a:prstGeom>
          <a:noFill/>
        </p:spPr>
        <p:txBody>
          <a:bodyPr wrap="square" lIns="45720" rIns="45720" tIns="27432" bIns="27432" anchor="t">
            <a:spAutoFit/>
          </a:bodyPr>
          <a:lstStyle/>
          <a:p>
            <a:pPr algn="l">
              <a:spcAft>
                <a:spcPts val="600"/>
              </a:spcAft>
            </a:pPr>
            <a:r>
              <a:rPr sz="2000" b="0" i="0">
                <a:solidFill>
                  <a:srgbClr val="FFFFFF"/>
                </a:solidFill>
                <a:latin typeface="Calibri"/>
              </a:rPr>
              <a:t>A DUO team member choosing who gets an information letter</a:t>
            </a:r>
          </a:p>
        </p:txBody>
      </p:sp>
      <p:sp>
        <p:nvSpPr>
          <p:cNvPr id="6" name="Card NEEDS"/>
          <p:cNvSpPr/>
          <p:nvPr/>
        </p:nvSpPr>
        <p:spPr>
          <a:xfrm>
            <a:off x="3410711" y="1645920"/>
            <a:ext cx="2606040" cy="329184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1" y="1783080"/>
            <a:ext cx="2240280" cy="457200"/>
          </a:xfrm>
          <a:prstGeom prst="rect">
            <a:avLst/>
          </a:prstGeom>
          <a:noFill/>
        </p:spPr>
        <p:txBody>
          <a:bodyPr wrap="square" lIns="45720" rIns="45720" tIns="27432" bIns="27432" anchor="t">
            <a:spAutoFit/>
          </a:bodyPr>
          <a:lstStyle/>
          <a:p>
            <a:pPr algn="l">
              <a:spcAft>
                <a:spcPts val="600"/>
              </a:spcAft>
            </a:pPr>
            <a:r>
              <a:rPr sz="1400" b="1" i="0">
                <a:solidFill>
                  <a:srgbClr val="55655D"/>
                </a:solidFill>
                <a:latin typeface="Calibri"/>
              </a:rPr>
              <a:t>NEEDS</a:t>
            </a:r>
          </a:p>
        </p:txBody>
      </p:sp>
      <p:sp>
        <p:nvSpPr>
          <p:cNvPr id="8" name="TextBox 7"/>
          <p:cNvSpPr txBox="1"/>
          <p:nvPr/>
        </p:nvSpPr>
        <p:spPr>
          <a:xfrm>
            <a:off x="3593591" y="2286000"/>
            <a:ext cx="2240280" cy="2560320"/>
          </a:xfrm>
          <a:prstGeom prst="rect">
            <a:avLst/>
          </a:prstGeom>
          <a:noFill/>
        </p:spPr>
        <p:txBody>
          <a:bodyPr wrap="square" lIns="45720" rIns="45720" tIns="27432" bIns="27432" anchor="t">
            <a:spAutoFit/>
          </a:bodyPr>
          <a:lstStyle/>
          <a:p>
            <a:pPr algn="l">
              <a:spcAft>
                <a:spcPts val="600"/>
              </a:spcAft>
            </a:pPr>
            <a:r>
              <a:rPr sz="2000" b="0" i="0">
                <a:solidFill>
                  <a:srgbClr val="1B2B24"/>
                </a:solidFill>
                <a:latin typeface="Calibri"/>
              </a:rPr>
              <a:t>A ranked list of students whose parents are probably low income, and a reason they can explain</a:t>
            </a:r>
          </a:p>
        </p:txBody>
      </p:sp>
      <p:sp>
        <p:nvSpPr>
          <p:cNvPr id="9" name="Card CONDITIONS"/>
          <p:cNvSpPr/>
          <p:nvPr/>
        </p:nvSpPr>
        <p:spPr>
          <a:xfrm>
            <a:off x="6181344" y="1645920"/>
            <a:ext cx="2606040" cy="329184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2240280" cy="457200"/>
          </a:xfrm>
          <a:prstGeom prst="rect">
            <a:avLst/>
          </a:prstGeom>
          <a:noFill/>
        </p:spPr>
        <p:txBody>
          <a:bodyPr wrap="square" lIns="45720" rIns="45720" tIns="27432" bIns="27432" anchor="t">
            <a:spAutoFit/>
          </a:bodyPr>
          <a:lstStyle/>
          <a:p>
            <a:pPr algn="l">
              <a:spcAft>
                <a:spcPts val="600"/>
              </a:spcAft>
            </a:pPr>
            <a:r>
              <a:rPr sz="1400" b="1" i="0">
                <a:solidFill>
                  <a:srgbClr val="55655D"/>
                </a:solidFill>
                <a:latin typeface="Calibri"/>
              </a:rPr>
              <a:t>CONDITIONS</a:t>
            </a:r>
          </a:p>
        </p:txBody>
      </p:sp>
      <p:sp>
        <p:nvSpPr>
          <p:cNvPr id="11" name="TextBox 10"/>
          <p:cNvSpPr txBox="1"/>
          <p:nvPr/>
        </p:nvSpPr>
        <p:spPr>
          <a:xfrm>
            <a:off x="6364224" y="2286000"/>
            <a:ext cx="2240280" cy="2560320"/>
          </a:xfrm>
          <a:prstGeom prst="rect">
            <a:avLst/>
          </a:prstGeom>
          <a:noFill/>
        </p:spPr>
        <p:txBody>
          <a:bodyPr wrap="square" lIns="45720" rIns="45720" tIns="27432" bIns="27432" anchor="t">
            <a:spAutoFit/>
          </a:bodyPr>
          <a:lstStyle/>
          <a:p>
            <a:pPr algn="l">
              <a:spcAft>
                <a:spcPts val="600"/>
              </a:spcAft>
            </a:pPr>
            <a:r>
              <a:rPr sz="2000" b="0" i="0">
                <a:solidFill>
                  <a:srgbClr val="1B2B24"/>
                </a:solidFill>
                <a:latin typeface="Calibri"/>
              </a:rPr>
              <a:t>The model only picks who gets a letter. DUO checks the real income. The letter is never the only channel.</a:t>
            </a:r>
          </a:p>
        </p:txBody>
      </p:sp>
      <p:sp>
        <p:nvSpPr>
          <p:cNvPr id="12" name="Card NOT FOR"/>
          <p:cNvSpPr/>
          <p:nvPr/>
        </p:nvSpPr>
        <p:spPr>
          <a:xfrm>
            <a:off x="8951976" y="1645920"/>
            <a:ext cx="2606040" cy="3291840"/>
          </a:xfrm>
          <a:prstGeom prst="roundRect">
            <a:avLst>
              <a:gd name="adj" fmla="val 8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34855" y="1783080"/>
            <a:ext cx="2240280" cy="457200"/>
          </a:xfrm>
          <a:prstGeom prst="rect">
            <a:avLst/>
          </a:prstGeom>
          <a:noFill/>
        </p:spPr>
        <p:txBody>
          <a:bodyPr wrap="square" lIns="45720" rIns="45720" tIns="27432" bIns="27432" anchor="t">
            <a:spAutoFit/>
          </a:bodyPr>
          <a:lstStyle/>
          <a:p>
            <a:pPr algn="l">
              <a:spcAft>
                <a:spcPts val="600"/>
              </a:spcAft>
            </a:pPr>
            <a:r>
              <a:rPr sz="1400" b="1" i="0">
                <a:solidFill>
                  <a:srgbClr val="1B2B24"/>
                </a:solidFill>
                <a:latin typeface="Calibri"/>
              </a:rPr>
              <a:t>NOT FOR</a:t>
            </a:r>
          </a:p>
        </p:txBody>
      </p:sp>
      <p:sp>
        <p:nvSpPr>
          <p:cNvPr id="14" name="TextBox 13"/>
          <p:cNvSpPr txBox="1"/>
          <p:nvPr/>
        </p:nvSpPr>
        <p:spPr>
          <a:xfrm>
            <a:off x="9134855" y="2286000"/>
            <a:ext cx="2240280" cy="2560320"/>
          </a:xfrm>
          <a:prstGeom prst="rect">
            <a:avLst/>
          </a:prstGeom>
          <a:noFill/>
        </p:spPr>
        <p:txBody>
          <a:bodyPr wrap="square" lIns="45720" rIns="45720" tIns="27432" bIns="27432" anchor="t">
            <a:spAutoFit/>
          </a:bodyPr>
          <a:lstStyle/>
          <a:p>
            <a:pPr algn="l">
              <a:spcAft>
                <a:spcPts val="600"/>
              </a:spcAft>
            </a:pPr>
            <a:r>
              <a:rPr sz="2000" b="0" i="0">
                <a:solidFill>
                  <a:srgbClr val="1B2B24"/>
                </a:solidFill>
                <a:latin typeface="Calibri"/>
              </a:rPr>
              <a:t>Refusing a grant. Dutch students, until it is trained again on recent Dutch data.</a:t>
            </a:r>
          </a:p>
        </p:txBody>
      </p:sp>
      <p:sp>
        <p:nvSpPr>
          <p:cNvPr id="15" name="TextBox 14"/>
          <p:cNvSpPr txBox="1"/>
          <p:nvPr/>
        </p:nvSpPr>
        <p:spPr>
          <a:xfrm>
            <a:off x="640080" y="5303520"/>
            <a:ext cx="10881360" cy="640080"/>
          </a:xfrm>
          <a:prstGeom prst="rect">
            <a:avLst/>
          </a:prstGeom>
          <a:noFill/>
        </p:spPr>
        <p:txBody>
          <a:bodyPr wrap="square" lIns="45720" rIns="45720" tIns="27432" bIns="27432" anchor="t">
            <a:spAutoFit/>
          </a:bodyPr>
          <a:lstStyle/>
          <a:p>
            <a:pPr algn="l">
              <a:spcAft>
                <a:spcPts val="600"/>
              </a:spcAft>
            </a:pPr>
            <a:r>
              <a:rPr sz="1600" b="0" i="0">
                <a:solidFill>
                  <a:srgbClr val="55655D"/>
                </a:solidFill>
                <a:latin typeface="Calibri"/>
              </a:rPr>
              <a:t>Affected people: students whose parents are, or are not, picked. "Not flagged" never means "not entitled".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The data: 48,842 US adults, 1994</a:t>
            </a:r>
          </a:p>
        </p:txBody>
      </p:sp>
      <p:graphicFrame>
        <p:nvGraphicFramePr>
          <p:cNvPr id="3" name="Class balance chart"/>
          <p:cNvGraphicFramePr>
            <a:graphicFrameLocks noGrp="1"/>
          </p:cNvGraphicFramePr>
          <p:nvPr/>
        </p:nvGraphicFramePr>
        <p:xfrm>
          <a:off x="640080" y="1463040"/>
          <a:ext cx="4754880" cy="4206240"/>
        </p:xfrm>
        <a:graphic>
          <a:graphicData uri="http://schemas.openxmlformats.org/drawingml/2006/chart">
            <c:chart xmlns:c="http://schemas.openxmlformats.org/drawingml/2006/chart" r:id="rId2"/>
          </a:graphicData>
        </a:graphic>
      </p:graphicFrame>
      <p:sp>
        <p:nvSpPr>
          <p:cNvPr id="4" name="Doughnut center label"/>
          <p:cNvSpPr txBox="1"/>
          <p:nvPr/>
        </p:nvSpPr>
        <p:spPr>
          <a:xfrm>
            <a:off x="2103120" y="2788920"/>
            <a:ext cx="1828800" cy="1188720"/>
          </a:xfrm>
          <a:prstGeom prst="rect">
            <a:avLst/>
          </a:prstGeom>
          <a:noFill/>
        </p:spPr>
        <p:txBody>
          <a:bodyPr wrap="square" lIns="45720" rIns="45720" tIns="27432" bIns="27432" anchor="ctr">
            <a:spAutoFit/>
          </a:bodyPr>
          <a:lstStyle/>
          <a:p>
            <a:pPr algn="ctr">
              <a:spcAft>
                <a:spcPts val="0"/>
              </a:spcAft>
            </a:pPr>
            <a:r>
              <a:rPr sz="4000" b="1" i="0">
                <a:solidFill>
                  <a:srgbClr val="1F4D3A"/>
                </a:solidFill>
                <a:latin typeface="Cambria"/>
              </a:rPr>
              <a:t>76%</a:t>
            </a:r>
          </a:p>
          <a:p>
            <a:pPr algn="ctr">
              <a:spcAft>
                <a:spcPts val="0"/>
              </a:spcAft>
            </a:pPr>
            <a:r>
              <a:rPr sz="1400" b="0" i="0">
                <a:solidFill>
                  <a:srgbClr val="55655D"/>
                </a:solidFill>
                <a:latin typeface="Calibri"/>
              </a:rPr>
              <a:t>low income</a:t>
            </a:r>
          </a:p>
        </p:txBody>
      </p:sp>
      <p:sp>
        <p:nvSpPr>
          <p:cNvPr id="5" name="TextBox 4"/>
          <p:cNvSpPr txBox="1"/>
          <p:nvPr/>
        </p:nvSpPr>
        <p:spPr>
          <a:xfrm>
            <a:off x="5852160" y="1554480"/>
            <a:ext cx="1554480" cy="457200"/>
          </a:xfrm>
          <a:prstGeom prst="rect">
            <a:avLst/>
          </a:prstGeom>
          <a:noFill/>
        </p:spPr>
        <p:txBody>
          <a:bodyPr wrap="square" lIns="45720" rIns="45720" tIns="27432" bIns="27432" anchor="t">
            <a:spAutoFit/>
          </a:bodyPr>
          <a:lstStyle/>
          <a:p>
            <a:pPr algn="l">
              <a:spcAft>
                <a:spcPts val="600"/>
              </a:spcAft>
            </a:pPr>
            <a:r>
              <a:rPr sz="1600" b="1" i="0">
                <a:solidFill>
                  <a:srgbClr val="55655D"/>
                </a:solidFill>
                <a:latin typeface="Calibri"/>
              </a:rPr>
              <a:t>Source</a:t>
            </a:r>
          </a:p>
        </p:txBody>
      </p:sp>
      <p:sp>
        <p:nvSpPr>
          <p:cNvPr id="6" name="TextBox 5"/>
          <p:cNvSpPr txBox="1"/>
          <p:nvPr/>
        </p:nvSpPr>
        <p:spPr>
          <a:xfrm>
            <a:off x="7406640" y="1554480"/>
            <a:ext cx="4206240" cy="100584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UCI Adult (Census Income), CC BY 4.0</a:t>
            </a:r>
          </a:p>
        </p:txBody>
      </p:sp>
      <p:sp>
        <p:nvSpPr>
          <p:cNvPr id="7" name="TextBox 6"/>
          <p:cNvSpPr txBox="1"/>
          <p:nvPr/>
        </p:nvSpPr>
        <p:spPr>
          <a:xfrm>
            <a:off x="5852160" y="2578608"/>
            <a:ext cx="1554480" cy="457200"/>
          </a:xfrm>
          <a:prstGeom prst="rect">
            <a:avLst/>
          </a:prstGeom>
          <a:noFill/>
        </p:spPr>
        <p:txBody>
          <a:bodyPr wrap="square" lIns="45720" rIns="45720" tIns="27432" bIns="27432" anchor="t">
            <a:spAutoFit/>
          </a:bodyPr>
          <a:lstStyle/>
          <a:p>
            <a:pPr algn="l">
              <a:spcAft>
                <a:spcPts val="600"/>
              </a:spcAft>
            </a:pPr>
            <a:r>
              <a:rPr sz="1600" b="1" i="0">
                <a:solidFill>
                  <a:srgbClr val="55655D"/>
                </a:solidFill>
                <a:latin typeface="Calibri"/>
              </a:rPr>
              <a:t>Size</a:t>
            </a:r>
          </a:p>
        </p:txBody>
      </p:sp>
      <p:sp>
        <p:nvSpPr>
          <p:cNvPr id="8" name="TextBox 7"/>
          <p:cNvSpPr txBox="1"/>
          <p:nvPr/>
        </p:nvSpPr>
        <p:spPr>
          <a:xfrm>
            <a:off x="7406640" y="2578608"/>
            <a:ext cx="4206240" cy="100584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48,842 rows, 14 features plus the target</a:t>
            </a:r>
          </a:p>
        </p:txBody>
      </p:sp>
      <p:sp>
        <p:nvSpPr>
          <p:cNvPr id="9" name="TextBox 8"/>
          <p:cNvSpPr txBox="1"/>
          <p:nvPr/>
        </p:nvSpPr>
        <p:spPr>
          <a:xfrm>
            <a:off x="5852160" y="3602736"/>
            <a:ext cx="1554480" cy="457200"/>
          </a:xfrm>
          <a:prstGeom prst="rect">
            <a:avLst/>
          </a:prstGeom>
          <a:noFill/>
        </p:spPr>
        <p:txBody>
          <a:bodyPr wrap="square" lIns="45720" rIns="45720" tIns="27432" bIns="27432" anchor="t">
            <a:spAutoFit/>
          </a:bodyPr>
          <a:lstStyle/>
          <a:p>
            <a:pPr algn="l">
              <a:spcAft>
                <a:spcPts val="600"/>
              </a:spcAft>
            </a:pPr>
            <a:r>
              <a:rPr sz="1600" b="1" i="0">
                <a:solidFill>
                  <a:srgbClr val="55655D"/>
                </a:solidFill>
                <a:latin typeface="Calibri"/>
              </a:rPr>
              <a:t>Cleaned</a:t>
            </a:r>
          </a:p>
        </p:txBody>
      </p:sp>
      <p:sp>
        <p:nvSpPr>
          <p:cNvPr id="10" name="TextBox 9"/>
          <p:cNvSpPr txBox="1"/>
          <p:nvPr/>
        </p:nvSpPr>
        <p:spPr>
          <a:xfrm>
            <a:off x="7406640" y="3602736"/>
            <a:ext cx="4206240" cy="100584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 became missing values, 52 duplicate rows removed, 2 columns dropped</a:t>
            </a:r>
          </a:p>
        </p:txBody>
      </p:sp>
      <p:sp>
        <p:nvSpPr>
          <p:cNvPr id="11" name="TextBox 10"/>
          <p:cNvSpPr txBox="1"/>
          <p:nvPr/>
        </p:nvSpPr>
        <p:spPr>
          <a:xfrm>
            <a:off x="5852160" y="4626864"/>
            <a:ext cx="1554480" cy="457200"/>
          </a:xfrm>
          <a:prstGeom prst="rect">
            <a:avLst/>
          </a:prstGeom>
          <a:noFill/>
        </p:spPr>
        <p:txBody>
          <a:bodyPr wrap="square" lIns="45720" rIns="45720" tIns="27432" bIns="27432" anchor="t">
            <a:spAutoFit/>
          </a:bodyPr>
          <a:lstStyle/>
          <a:p>
            <a:pPr algn="l">
              <a:spcAft>
                <a:spcPts val="600"/>
              </a:spcAft>
            </a:pPr>
            <a:r>
              <a:rPr sz="1600" b="1" i="0">
                <a:solidFill>
                  <a:srgbClr val="55655D"/>
                </a:solidFill>
                <a:latin typeface="Calibri"/>
              </a:rPr>
              <a:t>Limits</a:t>
            </a:r>
          </a:p>
        </p:txBody>
      </p:sp>
      <p:sp>
        <p:nvSpPr>
          <p:cNvPr id="12" name="TextBox 11"/>
          <p:cNvSpPr txBox="1"/>
          <p:nvPr/>
        </p:nvSpPr>
        <p:spPr>
          <a:xfrm>
            <a:off x="7406640" y="4626864"/>
            <a:ext cx="4206240" cy="100584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Old, US only, adults only. Sex and race are columns.</a:t>
            </a:r>
          </a:p>
        </p:txBody>
      </p:sp>
      <p:sp>
        <p:nvSpPr>
          <p:cNvPr id="13" name="TextBox 12"/>
          <p:cNvSpPr txBox="1"/>
          <p:nvPr/>
        </p:nvSpPr>
        <p:spPr>
          <a:xfrm>
            <a:off x="640080" y="5852160"/>
            <a:ext cx="10881360" cy="548640"/>
          </a:xfrm>
          <a:prstGeom prst="rect">
            <a:avLst/>
          </a:prstGeom>
          <a:noFill/>
        </p:spPr>
        <p:txBody>
          <a:bodyPr wrap="square" lIns="45720" rIns="45720" tIns="27432" bIns="27432" anchor="t">
            <a:spAutoFit/>
          </a:bodyPr>
          <a:lstStyle/>
          <a:p>
            <a:pPr algn="l">
              <a:spcAft>
                <a:spcPts val="600"/>
              </a:spcAft>
            </a:pPr>
            <a:r>
              <a:rPr sz="1600" b="1" i="0">
                <a:solidFill>
                  <a:srgbClr val="1F4D3A"/>
                </a:solidFill>
                <a:latin typeface="Calibri"/>
              </a:rPr>
              <a:t>76% low income means a model that always says "low income" is right 76% of the time without learning anything.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The solution, step by step</a:t>
            </a:r>
          </a:p>
        </p:txBody>
      </p:sp>
      <p:sp>
        <p:nvSpPr>
          <p:cNvPr id="3" name="Step card"/>
          <p:cNvSpPr/>
          <p:nvPr/>
        </p:nvSpPr>
        <p:spPr>
          <a:xfrm>
            <a:off x="640080" y="1645920"/>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59" y="182880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5" name="TextBox 4"/>
          <p:cNvSpPr txBox="1"/>
          <p:nvPr/>
        </p:nvSpPr>
        <p:spPr>
          <a:xfrm>
            <a:off x="1508760" y="182880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Split first</a:t>
            </a:r>
          </a:p>
        </p:txBody>
      </p:sp>
      <p:sp>
        <p:nvSpPr>
          <p:cNvPr id="6" name="TextBox 5"/>
          <p:cNvSpPr txBox="1"/>
          <p:nvPr/>
        </p:nvSpPr>
        <p:spPr>
          <a:xfrm>
            <a:off x="868680" y="2423160"/>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20% test set, stratified, kept closed until the end</a:t>
            </a:r>
          </a:p>
        </p:txBody>
      </p:sp>
      <p:sp>
        <p:nvSpPr>
          <p:cNvPr id="7" name="Step card"/>
          <p:cNvSpPr/>
          <p:nvPr/>
        </p:nvSpPr>
        <p:spPr>
          <a:xfrm>
            <a:off x="4343400" y="1645920"/>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26280" y="182880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TextBox 8"/>
          <p:cNvSpPr txBox="1"/>
          <p:nvPr/>
        </p:nvSpPr>
        <p:spPr>
          <a:xfrm>
            <a:off x="5212080" y="182880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Pipeline</a:t>
            </a:r>
          </a:p>
        </p:txBody>
      </p:sp>
      <p:sp>
        <p:nvSpPr>
          <p:cNvPr id="10" name="TextBox 9"/>
          <p:cNvSpPr txBox="1"/>
          <p:nvPr/>
        </p:nvSpPr>
        <p:spPr>
          <a:xfrm>
            <a:off x="4572000" y="2423160"/>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Impute, scale and one-hot encode, learned from training data only</a:t>
            </a:r>
          </a:p>
        </p:txBody>
      </p:sp>
      <p:sp>
        <p:nvSpPr>
          <p:cNvPr id="11" name="Step card"/>
          <p:cNvSpPr/>
          <p:nvPr/>
        </p:nvSpPr>
        <p:spPr>
          <a:xfrm>
            <a:off x="8046719" y="1645920"/>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599" y="182880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TextBox 12"/>
          <p:cNvSpPr txBox="1"/>
          <p:nvPr/>
        </p:nvSpPr>
        <p:spPr>
          <a:xfrm>
            <a:off x="8915399" y="182880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Baseline</a:t>
            </a:r>
          </a:p>
        </p:txBody>
      </p:sp>
      <p:sp>
        <p:nvSpPr>
          <p:cNvPr id="14" name="TextBox 13"/>
          <p:cNvSpPr txBox="1"/>
          <p:nvPr/>
        </p:nvSpPr>
        <p:spPr>
          <a:xfrm>
            <a:off x="8275319" y="2423160"/>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Always says "low income"</a:t>
            </a:r>
          </a:p>
        </p:txBody>
      </p:sp>
      <p:sp>
        <p:nvSpPr>
          <p:cNvPr id="15" name="Step card"/>
          <p:cNvSpPr/>
          <p:nvPr/>
        </p:nvSpPr>
        <p:spPr>
          <a:xfrm>
            <a:off x="640080" y="3749039"/>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59" y="393192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7" name="TextBox 16"/>
          <p:cNvSpPr txBox="1"/>
          <p:nvPr/>
        </p:nvSpPr>
        <p:spPr>
          <a:xfrm>
            <a:off x="1508760" y="393192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Tune</a:t>
            </a:r>
          </a:p>
        </p:txBody>
      </p:sp>
      <p:sp>
        <p:nvSpPr>
          <p:cNvPr id="18" name="TextBox 17"/>
          <p:cNvSpPr txBox="1"/>
          <p:nvPr/>
        </p:nvSpPr>
        <p:spPr>
          <a:xfrm>
            <a:off x="868680" y="4526279"/>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KNN, logistic regression, random forest, 5-fold cross-validation</a:t>
            </a:r>
          </a:p>
        </p:txBody>
      </p:sp>
      <p:sp>
        <p:nvSpPr>
          <p:cNvPr id="19" name="Step card"/>
          <p:cNvSpPr/>
          <p:nvPr/>
        </p:nvSpPr>
        <p:spPr>
          <a:xfrm>
            <a:off x="4343400" y="3749039"/>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26280" y="393192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1" name="TextBox 20"/>
          <p:cNvSpPr txBox="1"/>
          <p:nvPr/>
        </p:nvSpPr>
        <p:spPr>
          <a:xfrm>
            <a:off x="5212080" y="393192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Test once</a:t>
            </a:r>
          </a:p>
        </p:txBody>
      </p:sp>
      <p:sp>
        <p:nvSpPr>
          <p:cNvPr id="22" name="TextBox 21"/>
          <p:cNvSpPr txBox="1"/>
          <p:nvPr/>
        </p:nvSpPr>
        <p:spPr>
          <a:xfrm>
            <a:off x="4572000" y="4526279"/>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Same test rows for every model</a:t>
            </a:r>
          </a:p>
        </p:txBody>
      </p:sp>
      <p:sp>
        <p:nvSpPr>
          <p:cNvPr id="23" name="Step card"/>
          <p:cNvSpPr/>
          <p:nvPr/>
        </p:nvSpPr>
        <p:spPr>
          <a:xfrm>
            <a:off x="8046719" y="3749039"/>
            <a:ext cx="3520440" cy="187451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9" y="3931920"/>
            <a:ext cx="502920" cy="502920"/>
          </a:xfrm>
          <a:prstGeom prst="ellipse">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5" name="TextBox 24"/>
          <p:cNvSpPr txBox="1"/>
          <p:nvPr/>
        </p:nvSpPr>
        <p:spPr>
          <a:xfrm>
            <a:off x="8915399" y="3931920"/>
            <a:ext cx="2560320" cy="502920"/>
          </a:xfrm>
          <a:prstGeom prst="rect">
            <a:avLst/>
          </a:prstGeom>
          <a:noFill/>
        </p:spPr>
        <p:txBody>
          <a:bodyPr wrap="square" lIns="45720" rIns="45720" tIns="27432" bIns="27432" anchor="ctr">
            <a:spAutoFit/>
          </a:bodyPr>
          <a:lstStyle/>
          <a:p>
            <a:pPr algn="l">
              <a:spcAft>
                <a:spcPts val="600"/>
              </a:spcAft>
            </a:pPr>
            <a:r>
              <a:rPr sz="2200" b="1" i="0">
                <a:solidFill>
                  <a:srgbClr val="1F4D3A"/>
                </a:solidFill>
                <a:latin typeface="Cambria"/>
              </a:rPr>
              <a:t>Use it</a:t>
            </a:r>
          </a:p>
        </p:txBody>
      </p:sp>
      <p:sp>
        <p:nvSpPr>
          <p:cNvPr id="26" name="TextBox 25"/>
          <p:cNvSpPr txBox="1"/>
          <p:nvPr/>
        </p:nvSpPr>
        <p:spPr>
          <a:xfrm>
            <a:off x="8275319" y="4526279"/>
            <a:ext cx="3108960" cy="105156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Probability for a new person</a:t>
            </a:r>
          </a:p>
        </p:txBody>
      </p:sp>
      <p:sp>
        <p:nvSpPr>
          <p:cNvPr id="27" name="TextBox 26"/>
          <p:cNvSpPr txBox="1"/>
          <p:nvPr/>
        </p:nvSpPr>
        <p:spPr>
          <a:xfrm>
            <a:off x="640080" y="5806440"/>
            <a:ext cx="10881360" cy="868680"/>
          </a:xfrm>
          <a:prstGeom prst="rect">
            <a:avLst/>
          </a:prstGeom>
          <a:noFill/>
        </p:spPr>
        <p:txBody>
          <a:bodyPr wrap="square" lIns="45720" rIns="45720" tIns="27432" bIns="27432" anchor="t">
            <a:spAutoFit/>
          </a:bodyPr>
          <a:lstStyle/>
          <a:p>
            <a:pPr algn="l">
              <a:spcAft>
                <a:spcPts val="300"/>
              </a:spcAft>
            </a:pPr>
            <a:r>
              <a:rPr sz="1400" b="0" i="0">
                <a:solidFill>
                  <a:srgbClr val="55655D"/>
                </a:solidFill>
                <a:latin typeface="Calibri"/>
              </a:rPr>
              <a:t>Input: one person's census record (12 features). Output: the probability of low income. scikit-learn does the pipeline, the three models, the tuning and the scores.</a:t>
            </a:r>
          </a:p>
          <a:p>
            <a:pPr algn="l">
              <a:spcAft>
                <a:spcPts val="300"/>
              </a:spcAft>
            </a:pPr>
            <a:r>
              <a:rPr sz="1400" b="0" i="0">
                <a:solidFill>
                  <a:srgbClr val="55655D"/>
                </a:solidFill>
                <a:latin typeface="Calibri"/>
              </a:rPr>
              <a:t>Everything runs from the raw file to the final prediction with Run 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All three models beat the baseline</a:t>
            </a:r>
          </a:p>
        </p:txBody>
      </p:sp>
      <p:graphicFrame>
        <p:nvGraphicFramePr>
          <p:cNvPr id="3" name="Balanced accuracy chart"/>
          <p:cNvGraphicFramePr>
            <a:graphicFrameLocks noGrp="1"/>
          </p:cNvGraphicFramePr>
          <p:nvPr/>
        </p:nvGraphicFramePr>
        <p:xfrm>
          <a:off x="640080" y="1463040"/>
          <a:ext cx="5669280" cy="4297680"/>
        </p:xfrm>
        <a:graphic>
          <a:graphicData uri="http://schemas.openxmlformats.org/drawingml/2006/chart">
            <c:chart xmlns:c="http://schemas.openxmlformats.org/drawingml/2006/chart" r:id="rId2"/>
          </a:graphicData>
        </a:graphic>
      </p:graphicFrame>
      <p:graphicFrame>
        <p:nvGraphicFramePr>
          <p:cNvPr id="4" name="Comparison table"/>
          <p:cNvGraphicFramePr>
            <a:graphicFrameLocks noGrp="1"/>
          </p:cNvGraphicFramePr>
          <p:nvPr/>
        </p:nvGraphicFramePr>
        <p:xfrm>
          <a:off x="6583680" y="1737360"/>
          <a:ext cx="5029200" cy="3108960"/>
        </p:xfrm>
        <a:graphic>
          <a:graphicData uri="http://schemas.openxmlformats.org/drawingml/2006/table">
            <a:tbl>
              <a:tblPr firstRow="1" bandRow="1">
                <a:tableStyleId>{5C22544A-7EE6-4342-B048-85BDC9FD1C3A}</a:tableStyleId>
              </a:tblPr>
              <a:tblGrid>
                <a:gridCol w="1371600"/>
                <a:gridCol w="1463040"/>
                <a:gridCol w="1097280"/>
                <a:gridCol w="1097280"/>
              </a:tblGrid>
              <a:tr h="621792">
                <a:tc>
                  <a:txBody>
                    <a:bodyPr/>
                    <a:lstStyle/>
                    <a:p>
                      <a:pPr algn="l"/>
                      <a:r>
                        <a:rPr sz="1400" b="1">
                          <a:solidFill>
                            <a:srgbClr val="FFFFFF"/>
                          </a:solidFill>
                          <a:latin typeface="Calibri"/>
                        </a:rPr>
                        <a:t>Model</a:t>
                      </a:r>
                    </a:p>
                  </a:txBody>
                  <a:tcPr anchor="ctr" marL="54864" marR="54864">
                    <a:solidFill>
                      <a:srgbClr val="1F4D3A"/>
                    </a:solidFill>
                  </a:tcPr>
                </a:tc>
                <a:tc>
                  <a:txBody>
                    <a:bodyPr/>
                    <a:lstStyle/>
                    <a:p>
                      <a:pPr algn="ctr"/>
                      <a:r>
                        <a:rPr sz="1400" b="1">
                          <a:solidFill>
                            <a:srgbClr val="FFFFFF"/>
                          </a:solidFill>
                          <a:latin typeface="Calibri"/>
                        </a:rPr>
                        <a:t>CV (mean ± std)</a:t>
                      </a:r>
                    </a:p>
                  </a:txBody>
                  <a:tcPr anchor="ctr" marL="54864" marR="54864">
                    <a:solidFill>
                      <a:srgbClr val="1F4D3A"/>
                    </a:solidFill>
                  </a:tcPr>
                </a:tc>
                <a:tc>
                  <a:txBody>
                    <a:bodyPr/>
                    <a:lstStyle/>
                    <a:p>
                      <a:pPr algn="ctr"/>
                      <a:r>
                        <a:rPr sz="1400" b="1">
                          <a:solidFill>
                            <a:srgbClr val="FFFFFF"/>
                          </a:solidFill>
                          <a:latin typeface="Calibri"/>
                        </a:rPr>
                        <a:t>Test precision</a:t>
                      </a:r>
                    </a:p>
                  </a:txBody>
                  <a:tcPr anchor="ctr" marL="54864" marR="54864">
                    <a:solidFill>
                      <a:srgbClr val="1F4D3A"/>
                    </a:solidFill>
                  </a:tcPr>
                </a:tc>
                <a:tc>
                  <a:txBody>
                    <a:bodyPr/>
                    <a:lstStyle/>
                    <a:p>
                      <a:pPr algn="ctr"/>
                      <a:r>
                        <a:rPr sz="1400" b="1">
                          <a:solidFill>
                            <a:srgbClr val="FFFFFF"/>
                          </a:solidFill>
                          <a:latin typeface="Calibri"/>
                        </a:rPr>
                        <a:t>Test recall</a:t>
                      </a:r>
                    </a:p>
                  </a:txBody>
                  <a:tcPr anchor="ctr" marL="54864" marR="54864">
                    <a:solidFill>
                      <a:srgbClr val="1F4D3A"/>
                    </a:solidFill>
                  </a:tcPr>
                </a:tc>
              </a:tr>
              <a:tr h="621792">
                <a:tc>
                  <a:txBody>
                    <a:bodyPr/>
                    <a:lstStyle/>
                    <a:p>
                      <a:pPr algn="l"/>
                      <a:r>
                        <a:rPr sz="1400" b="0">
                          <a:solidFill>
                            <a:srgbClr val="1B2B24"/>
                          </a:solidFill>
                          <a:latin typeface="Calibri"/>
                        </a:rPr>
                        <a:t>Baseline</a:t>
                      </a:r>
                    </a:p>
                  </a:txBody>
                  <a:tcPr anchor="ctr" marL="54864" marR="54864">
                    <a:solidFill>
                      <a:srgbClr val="FFFFFF"/>
                    </a:solidFill>
                  </a:tcPr>
                </a:tc>
                <a:tc>
                  <a:txBody>
                    <a:bodyPr/>
                    <a:lstStyle/>
                    <a:p>
                      <a:pPr algn="ctr"/>
                      <a:r>
                        <a:rPr sz="1400" b="0">
                          <a:solidFill>
                            <a:srgbClr val="1B2B24"/>
                          </a:solidFill>
                          <a:latin typeface="Calibri"/>
                        </a:rPr>
                        <a:t>0.500 ± 0.000</a:t>
                      </a:r>
                    </a:p>
                  </a:txBody>
                  <a:tcPr anchor="ctr" marL="54864" marR="54864">
                    <a:solidFill>
                      <a:srgbClr val="FFFFFF"/>
                    </a:solidFill>
                  </a:tcPr>
                </a:tc>
                <a:tc>
                  <a:txBody>
                    <a:bodyPr/>
                    <a:lstStyle/>
                    <a:p>
                      <a:pPr algn="ctr"/>
                      <a:r>
                        <a:rPr sz="1400" b="0">
                          <a:solidFill>
                            <a:srgbClr val="1B2B24"/>
                          </a:solidFill>
                          <a:latin typeface="Calibri"/>
                        </a:rPr>
                        <a:t>0.761</a:t>
                      </a:r>
                    </a:p>
                  </a:txBody>
                  <a:tcPr anchor="ctr" marL="54864" marR="54864">
                    <a:solidFill>
                      <a:srgbClr val="FFFFFF"/>
                    </a:solidFill>
                  </a:tcPr>
                </a:tc>
                <a:tc>
                  <a:txBody>
                    <a:bodyPr/>
                    <a:lstStyle/>
                    <a:p>
                      <a:pPr algn="ctr"/>
                      <a:r>
                        <a:rPr sz="1400" b="0">
                          <a:solidFill>
                            <a:srgbClr val="1B2B24"/>
                          </a:solidFill>
                          <a:latin typeface="Calibri"/>
                        </a:rPr>
                        <a:t>1.000</a:t>
                      </a:r>
                    </a:p>
                  </a:txBody>
                  <a:tcPr anchor="ctr" marL="54864" marR="54864">
                    <a:solidFill>
                      <a:srgbClr val="FFFFFF"/>
                    </a:solidFill>
                  </a:tcPr>
                </a:tc>
              </a:tr>
              <a:tr h="621792">
                <a:tc>
                  <a:txBody>
                    <a:bodyPr/>
                    <a:lstStyle/>
                    <a:p>
                      <a:pPr algn="l"/>
                      <a:r>
                        <a:rPr sz="1400" b="0">
                          <a:solidFill>
                            <a:srgbClr val="1B2B24"/>
                          </a:solidFill>
                          <a:latin typeface="Calibri"/>
                        </a:rPr>
                        <a:t>KNN (k=31)</a:t>
                      </a:r>
                    </a:p>
                  </a:txBody>
                  <a:tcPr anchor="ctr" marL="54864" marR="54864">
                    <a:solidFill>
                      <a:srgbClr val="FFFFFF"/>
                    </a:solidFill>
                  </a:tcPr>
                </a:tc>
                <a:tc>
                  <a:txBody>
                    <a:bodyPr/>
                    <a:lstStyle/>
                    <a:p>
                      <a:pPr algn="ctr"/>
                      <a:r>
                        <a:rPr sz="1400" b="0">
                          <a:solidFill>
                            <a:srgbClr val="1B2B24"/>
                          </a:solidFill>
                          <a:latin typeface="Calibri"/>
                        </a:rPr>
                        <a:t>0.766 ± 0.006</a:t>
                      </a:r>
                    </a:p>
                  </a:txBody>
                  <a:tcPr anchor="ctr" marL="54864" marR="54864">
                    <a:solidFill>
                      <a:srgbClr val="FFFFFF"/>
                    </a:solidFill>
                  </a:tcPr>
                </a:tc>
                <a:tc>
                  <a:txBody>
                    <a:bodyPr/>
                    <a:lstStyle/>
                    <a:p>
                      <a:pPr algn="ctr"/>
                      <a:r>
                        <a:rPr sz="1400" b="0">
                          <a:solidFill>
                            <a:srgbClr val="1B2B24"/>
                          </a:solidFill>
                          <a:latin typeface="Calibri"/>
                        </a:rPr>
                        <a:t>0.884</a:t>
                      </a:r>
                    </a:p>
                  </a:txBody>
                  <a:tcPr anchor="ctr" marL="54864" marR="54864">
                    <a:solidFill>
                      <a:srgbClr val="FFFFFF"/>
                    </a:solidFill>
                  </a:tcPr>
                </a:tc>
                <a:tc>
                  <a:txBody>
                    <a:bodyPr/>
                    <a:lstStyle/>
                    <a:p>
                      <a:pPr algn="ctr"/>
                      <a:r>
                        <a:rPr sz="1400" b="0">
                          <a:solidFill>
                            <a:srgbClr val="1B2B24"/>
                          </a:solidFill>
                          <a:latin typeface="Calibri"/>
                        </a:rPr>
                        <a:t>0.925</a:t>
                      </a:r>
                    </a:p>
                  </a:txBody>
                  <a:tcPr anchor="ctr" marL="54864" marR="54864">
                    <a:solidFill>
                      <a:srgbClr val="FFFFFF"/>
                    </a:solidFill>
                  </a:tcPr>
                </a:tc>
              </a:tr>
              <a:tr h="621792">
                <a:tc>
                  <a:txBody>
                    <a:bodyPr/>
                    <a:lstStyle/>
                    <a:p>
                      <a:pPr algn="l"/>
                      <a:r>
                        <a:rPr sz="1400" b="0">
                          <a:solidFill>
                            <a:srgbClr val="1B2B24"/>
                          </a:solidFill>
                          <a:latin typeface="Calibri"/>
                        </a:rPr>
                        <a:t>Logistic reg.</a:t>
                      </a:r>
                    </a:p>
                  </a:txBody>
                  <a:tcPr anchor="ctr" marL="54864" marR="54864">
                    <a:solidFill>
                      <a:srgbClr val="FFFFFF"/>
                    </a:solidFill>
                  </a:tcPr>
                </a:tc>
                <a:tc>
                  <a:txBody>
                    <a:bodyPr/>
                    <a:lstStyle/>
                    <a:p>
                      <a:pPr algn="ctr"/>
                      <a:r>
                        <a:rPr sz="1400" b="0">
                          <a:solidFill>
                            <a:srgbClr val="1B2B24"/>
                          </a:solidFill>
                          <a:latin typeface="Calibri"/>
                        </a:rPr>
                        <a:t>0.820 ± 0.005</a:t>
                      </a:r>
                    </a:p>
                  </a:txBody>
                  <a:tcPr anchor="ctr" marL="54864" marR="54864">
                    <a:solidFill>
                      <a:srgbClr val="FFFFFF"/>
                    </a:solidFill>
                  </a:tcPr>
                </a:tc>
                <a:tc>
                  <a:txBody>
                    <a:bodyPr/>
                    <a:lstStyle/>
                    <a:p>
                      <a:pPr algn="ctr"/>
                      <a:r>
                        <a:rPr sz="1400" b="0">
                          <a:solidFill>
                            <a:srgbClr val="1B2B24"/>
                          </a:solidFill>
                          <a:latin typeface="Calibri"/>
                        </a:rPr>
                        <a:t>0.944</a:t>
                      </a:r>
                    </a:p>
                  </a:txBody>
                  <a:tcPr anchor="ctr" marL="54864" marR="54864">
                    <a:solidFill>
                      <a:srgbClr val="FFFFFF"/>
                    </a:solidFill>
                  </a:tcPr>
                </a:tc>
                <a:tc>
                  <a:txBody>
                    <a:bodyPr/>
                    <a:lstStyle/>
                    <a:p>
                      <a:pPr algn="ctr"/>
                      <a:r>
                        <a:rPr sz="1400" b="0">
                          <a:solidFill>
                            <a:srgbClr val="1B2B24"/>
                          </a:solidFill>
                          <a:latin typeface="Calibri"/>
                        </a:rPr>
                        <a:t>0.795</a:t>
                      </a:r>
                    </a:p>
                  </a:txBody>
                  <a:tcPr anchor="ctr" marL="54864" marR="54864">
                    <a:solidFill>
                      <a:srgbClr val="FFFFFF"/>
                    </a:solidFill>
                  </a:tcPr>
                </a:tc>
              </a:tr>
              <a:tr h="621792">
                <a:tc>
                  <a:txBody>
                    <a:bodyPr/>
                    <a:lstStyle/>
                    <a:p>
                      <a:pPr algn="l"/>
                      <a:r>
                        <a:rPr sz="1400" b="1">
                          <a:solidFill>
                            <a:srgbClr val="1B2B24"/>
                          </a:solidFill>
                          <a:latin typeface="Calibri"/>
                        </a:rPr>
                        <a:t>Random forest</a:t>
                      </a:r>
                    </a:p>
                  </a:txBody>
                  <a:tcPr anchor="ctr" marL="54864" marR="54864">
                    <a:solidFill>
                      <a:srgbClr val="EAF3E7"/>
                    </a:solidFill>
                  </a:tcPr>
                </a:tc>
                <a:tc>
                  <a:txBody>
                    <a:bodyPr/>
                    <a:lstStyle/>
                    <a:p>
                      <a:pPr algn="ctr"/>
                      <a:r>
                        <a:rPr sz="1400" b="1">
                          <a:solidFill>
                            <a:srgbClr val="1B2B24"/>
                          </a:solidFill>
                          <a:latin typeface="Calibri"/>
                        </a:rPr>
                        <a:t>0.826 ± 0.006</a:t>
                      </a:r>
                    </a:p>
                  </a:txBody>
                  <a:tcPr anchor="ctr" marL="54864" marR="54864">
                    <a:solidFill>
                      <a:srgbClr val="EAF3E7"/>
                    </a:solidFill>
                  </a:tcPr>
                </a:tc>
                <a:tc>
                  <a:txBody>
                    <a:bodyPr/>
                    <a:lstStyle/>
                    <a:p>
                      <a:pPr algn="ctr"/>
                      <a:r>
                        <a:rPr sz="1400" b="1">
                          <a:solidFill>
                            <a:srgbClr val="1B2B24"/>
                          </a:solidFill>
                          <a:latin typeface="Calibri"/>
                        </a:rPr>
                        <a:t>0.938</a:t>
                      </a:r>
                    </a:p>
                  </a:txBody>
                  <a:tcPr anchor="ctr" marL="54864" marR="54864">
                    <a:solidFill>
                      <a:srgbClr val="EAF3E7"/>
                    </a:solidFill>
                  </a:tcPr>
                </a:tc>
                <a:tc>
                  <a:txBody>
                    <a:bodyPr/>
                    <a:lstStyle/>
                    <a:p>
                      <a:pPr algn="ctr"/>
                      <a:r>
                        <a:rPr sz="1400" b="1">
                          <a:solidFill>
                            <a:srgbClr val="1B2B24"/>
                          </a:solidFill>
                          <a:latin typeface="Calibri"/>
                        </a:rPr>
                        <a:t>0.830</a:t>
                      </a:r>
                    </a:p>
                  </a:txBody>
                  <a:tcPr anchor="ctr" marL="54864" marR="54864">
                    <a:solidFill>
                      <a:srgbClr val="EAF3E7"/>
                    </a:solidFill>
                  </a:tcPr>
                </a:tc>
              </a:tr>
            </a:tbl>
          </a:graphicData>
        </a:graphic>
      </p:graphicFrame>
      <p:sp>
        <p:nvSpPr>
          <p:cNvPr id="5" name="TextBox 4"/>
          <p:cNvSpPr txBox="1"/>
          <p:nvPr/>
        </p:nvSpPr>
        <p:spPr>
          <a:xfrm>
            <a:off x="6583680" y="4937760"/>
            <a:ext cx="5029200" cy="1417320"/>
          </a:xfrm>
          <a:prstGeom prst="rect">
            <a:avLst/>
          </a:prstGeom>
          <a:noFill/>
        </p:spPr>
        <p:txBody>
          <a:bodyPr wrap="square" lIns="45720" rIns="45720" tIns="27432" bIns="27432" anchor="t">
            <a:spAutoFit/>
          </a:bodyPr>
          <a:lstStyle/>
          <a:p>
            <a:pPr algn="l">
              <a:spcAft>
                <a:spcPts val="600"/>
              </a:spcAft>
            </a:pPr>
            <a:r>
              <a:rPr sz="1400" b="0" i="0">
                <a:solidFill>
                  <a:srgbClr val="1B2B24"/>
                </a:solidFill>
                <a:latin typeface="Calibri"/>
              </a:rPr>
              <a:t>Random forest and logistic regression are tied on the main metric (spread about 0.006); the forest finds 264 more low-income students. Sending everyone a letter would waste 2,336 letters in the test set. The forest wastes 410.</a:t>
            </a:r>
          </a:p>
        </p:txBody>
      </p:sp>
      <p:sp>
        <p:nvSpPr>
          <p:cNvPr id="6" name="TextBox 5"/>
          <p:cNvSpPr txBox="1"/>
          <p:nvPr/>
        </p:nvSpPr>
        <p:spPr>
          <a:xfrm>
            <a:off x="640080" y="5989320"/>
            <a:ext cx="5669280" cy="457200"/>
          </a:xfrm>
          <a:prstGeom prst="rect">
            <a:avLst/>
          </a:prstGeom>
          <a:noFill/>
        </p:spPr>
        <p:txBody>
          <a:bodyPr wrap="square" lIns="45720" rIns="45720" tIns="27432" bIns="27432" anchor="t">
            <a:spAutoFit/>
          </a:bodyPr>
          <a:lstStyle/>
          <a:p>
            <a:pPr algn="l">
              <a:spcAft>
                <a:spcPts val="600"/>
              </a:spcAft>
            </a:pPr>
            <a:r>
              <a:rPr sz="1300" b="0" i="0">
                <a:solidFill>
                  <a:srgbClr val="55655D"/>
                </a:solidFill>
                <a:latin typeface="Calibri"/>
              </a:rPr>
              <a:t>Main metric: balanced accuracy. Settings were tuned on the training set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The random forest misses 1 in 6 low-income people</a:t>
            </a:r>
          </a:p>
        </p:txBody>
      </p:sp>
      <p:sp>
        <p:nvSpPr>
          <p:cNvPr id="3" name="TextBox 2"/>
          <p:cNvSpPr txBox="1"/>
          <p:nvPr/>
        </p:nvSpPr>
        <p:spPr>
          <a:xfrm>
            <a:off x="3017520" y="1417320"/>
            <a:ext cx="2743200" cy="457200"/>
          </a:xfrm>
          <a:prstGeom prst="rect">
            <a:avLst/>
          </a:prstGeom>
          <a:noFill/>
        </p:spPr>
        <p:txBody>
          <a:bodyPr wrap="square" lIns="45720" rIns="45720" tIns="27432" bIns="27432" anchor="t">
            <a:spAutoFit/>
          </a:bodyPr>
          <a:lstStyle/>
          <a:p>
            <a:pPr algn="ctr">
              <a:spcAft>
                <a:spcPts val="600"/>
              </a:spcAft>
            </a:pPr>
            <a:r>
              <a:rPr sz="1400" b="1" i="0">
                <a:solidFill>
                  <a:srgbClr val="55655D"/>
                </a:solidFill>
                <a:latin typeface="Calibri"/>
              </a:rPr>
              <a:t>Model says: low income</a:t>
            </a:r>
          </a:p>
        </p:txBody>
      </p:sp>
      <p:sp>
        <p:nvSpPr>
          <p:cNvPr id="4" name="TextBox 3"/>
          <p:cNvSpPr txBox="1"/>
          <p:nvPr/>
        </p:nvSpPr>
        <p:spPr>
          <a:xfrm>
            <a:off x="5852160" y="1417320"/>
            <a:ext cx="2743200" cy="457200"/>
          </a:xfrm>
          <a:prstGeom prst="rect">
            <a:avLst/>
          </a:prstGeom>
          <a:noFill/>
        </p:spPr>
        <p:txBody>
          <a:bodyPr wrap="square" lIns="45720" rIns="45720" tIns="27432" bIns="27432" anchor="t">
            <a:spAutoFit/>
          </a:bodyPr>
          <a:lstStyle/>
          <a:p>
            <a:pPr algn="ctr">
              <a:spcAft>
                <a:spcPts val="600"/>
              </a:spcAft>
            </a:pPr>
            <a:r>
              <a:rPr sz="1400" b="1" i="0">
                <a:solidFill>
                  <a:srgbClr val="55655D"/>
                </a:solidFill>
                <a:latin typeface="Calibri"/>
              </a:rPr>
              <a:t>Model says: higher income</a:t>
            </a:r>
          </a:p>
        </p:txBody>
      </p:sp>
      <p:sp>
        <p:nvSpPr>
          <p:cNvPr id="5" name="TextBox 4"/>
          <p:cNvSpPr txBox="1"/>
          <p:nvPr/>
        </p:nvSpPr>
        <p:spPr>
          <a:xfrm>
            <a:off x="640080" y="2331720"/>
            <a:ext cx="2286000" cy="1097280"/>
          </a:xfrm>
          <a:prstGeom prst="rect">
            <a:avLst/>
          </a:prstGeom>
          <a:noFill/>
        </p:spPr>
        <p:txBody>
          <a:bodyPr wrap="square" lIns="45720" rIns="45720" tIns="27432" bIns="27432" anchor="t">
            <a:spAutoFit/>
          </a:bodyPr>
          <a:lstStyle/>
          <a:p>
            <a:pPr algn="r">
              <a:spcAft>
                <a:spcPts val="600"/>
              </a:spcAft>
            </a:pPr>
            <a:r>
              <a:rPr sz="1400" b="1" i="0">
                <a:solidFill>
                  <a:srgbClr val="55655D"/>
                </a:solidFill>
                <a:latin typeface="Calibri"/>
              </a:rPr>
              <a:t>Really low income (7,422)</a:t>
            </a:r>
          </a:p>
        </p:txBody>
      </p:sp>
      <p:sp>
        <p:nvSpPr>
          <p:cNvPr id="6" name="TextBox 5"/>
          <p:cNvSpPr txBox="1"/>
          <p:nvPr/>
        </p:nvSpPr>
        <p:spPr>
          <a:xfrm>
            <a:off x="640080" y="4114800"/>
            <a:ext cx="2286000" cy="1097280"/>
          </a:xfrm>
          <a:prstGeom prst="rect">
            <a:avLst/>
          </a:prstGeom>
          <a:noFill/>
        </p:spPr>
        <p:txBody>
          <a:bodyPr wrap="square" lIns="45720" rIns="45720" tIns="27432" bIns="27432" anchor="t">
            <a:spAutoFit/>
          </a:bodyPr>
          <a:lstStyle/>
          <a:p>
            <a:pPr algn="r">
              <a:spcAft>
                <a:spcPts val="600"/>
              </a:spcAft>
            </a:pPr>
            <a:r>
              <a:rPr sz="1400" b="1" i="0">
                <a:solidFill>
                  <a:srgbClr val="55655D"/>
                </a:solidFill>
                <a:latin typeface="Calibri"/>
              </a:rPr>
              <a:t>Really higher income (2,336)</a:t>
            </a:r>
          </a:p>
        </p:txBody>
      </p:sp>
      <p:sp>
        <p:nvSpPr>
          <p:cNvPr id="7" name="Matrix cell"/>
          <p:cNvSpPr/>
          <p:nvPr/>
        </p:nvSpPr>
        <p:spPr>
          <a:xfrm>
            <a:off x="3017520" y="1874519"/>
            <a:ext cx="2743200" cy="1828800"/>
          </a:xfrm>
          <a:prstGeom prst="roundRect">
            <a:avLst>
              <a:gd name="adj" fmla="val 8000"/>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057400"/>
            <a:ext cx="2560320" cy="822960"/>
          </a:xfrm>
          <a:prstGeom prst="rect">
            <a:avLst/>
          </a:prstGeom>
          <a:noFill/>
        </p:spPr>
        <p:txBody>
          <a:bodyPr wrap="square" lIns="45720" rIns="45720" tIns="27432" bIns="27432" anchor="ctr">
            <a:spAutoFit/>
          </a:bodyPr>
          <a:lstStyle/>
          <a:p>
            <a:pPr algn="ctr">
              <a:spcAft>
                <a:spcPts val="600"/>
              </a:spcAft>
            </a:pPr>
            <a:r>
              <a:rPr sz="4400" b="1" i="0">
                <a:solidFill>
                  <a:srgbClr val="FFFFFF"/>
                </a:solidFill>
                <a:latin typeface="Cambria"/>
              </a:rPr>
              <a:t>6,163</a:t>
            </a:r>
          </a:p>
        </p:txBody>
      </p:sp>
      <p:sp>
        <p:nvSpPr>
          <p:cNvPr id="9" name="TextBox 8"/>
          <p:cNvSpPr txBox="1"/>
          <p:nvPr/>
        </p:nvSpPr>
        <p:spPr>
          <a:xfrm>
            <a:off x="3108960" y="2926079"/>
            <a:ext cx="2560320" cy="731520"/>
          </a:xfrm>
          <a:prstGeom prst="rect">
            <a:avLst/>
          </a:prstGeom>
          <a:noFill/>
        </p:spPr>
        <p:txBody>
          <a:bodyPr wrap="square" lIns="45720" rIns="45720" tIns="27432" bIns="27432" anchor="t">
            <a:spAutoFit/>
          </a:bodyPr>
          <a:lstStyle/>
          <a:p>
            <a:pPr algn="ctr">
              <a:spcAft>
                <a:spcPts val="600"/>
              </a:spcAft>
            </a:pPr>
            <a:r>
              <a:rPr sz="1400" b="0" i="0">
                <a:solidFill>
                  <a:srgbClr val="FFFFFF"/>
                </a:solidFill>
                <a:latin typeface="Calibri"/>
              </a:rPr>
              <a:t>low income, gets a letter</a:t>
            </a:r>
          </a:p>
        </p:txBody>
      </p:sp>
      <p:sp>
        <p:nvSpPr>
          <p:cNvPr id="10" name="Matrix cell"/>
          <p:cNvSpPr/>
          <p:nvPr/>
        </p:nvSpPr>
        <p:spPr>
          <a:xfrm>
            <a:off x="5852160" y="1874519"/>
            <a:ext cx="2743200" cy="1828800"/>
          </a:xfrm>
          <a:prstGeom prst="roundRect">
            <a:avLst>
              <a:gd name="adj" fmla="val 8000"/>
            </a:avLst>
          </a:prstGeom>
          <a:solidFill>
            <a:srgbClr val="B53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0" y="2057400"/>
            <a:ext cx="2560320" cy="822960"/>
          </a:xfrm>
          <a:prstGeom prst="rect">
            <a:avLst/>
          </a:prstGeom>
          <a:noFill/>
        </p:spPr>
        <p:txBody>
          <a:bodyPr wrap="square" lIns="45720" rIns="45720" tIns="27432" bIns="27432" anchor="ctr">
            <a:spAutoFit/>
          </a:bodyPr>
          <a:lstStyle/>
          <a:p>
            <a:pPr algn="ctr">
              <a:spcAft>
                <a:spcPts val="600"/>
              </a:spcAft>
            </a:pPr>
            <a:r>
              <a:rPr sz="4400" b="1" i="0">
                <a:solidFill>
                  <a:srgbClr val="FFFFFF"/>
                </a:solidFill>
                <a:latin typeface="Cambria"/>
              </a:rPr>
              <a:t>1,259</a:t>
            </a:r>
          </a:p>
        </p:txBody>
      </p:sp>
      <p:sp>
        <p:nvSpPr>
          <p:cNvPr id="12" name="TextBox 11"/>
          <p:cNvSpPr txBox="1"/>
          <p:nvPr/>
        </p:nvSpPr>
        <p:spPr>
          <a:xfrm>
            <a:off x="5943600" y="2926079"/>
            <a:ext cx="2560320" cy="731520"/>
          </a:xfrm>
          <a:prstGeom prst="rect">
            <a:avLst/>
          </a:prstGeom>
          <a:noFill/>
        </p:spPr>
        <p:txBody>
          <a:bodyPr wrap="square" lIns="45720" rIns="45720" tIns="27432" bIns="27432" anchor="t">
            <a:spAutoFit/>
          </a:bodyPr>
          <a:lstStyle/>
          <a:p>
            <a:pPr algn="ctr">
              <a:spcAft>
                <a:spcPts val="600"/>
              </a:spcAft>
            </a:pPr>
            <a:r>
              <a:rPr sz="1400" b="0" i="0">
                <a:solidFill>
                  <a:srgbClr val="FFFFFF"/>
                </a:solidFill>
                <a:latin typeface="Calibri"/>
              </a:rPr>
              <a:t>low income, MISSED</a:t>
            </a:r>
          </a:p>
        </p:txBody>
      </p:sp>
      <p:sp>
        <p:nvSpPr>
          <p:cNvPr id="13" name="Matrix cell"/>
          <p:cNvSpPr/>
          <p:nvPr/>
        </p:nvSpPr>
        <p:spPr>
          <a:xfrm>
            <a:off x="3017520" y="3794760"/>
            <a:ext cx="2743200" cy="18288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3977640"/>
            <a:ext cx="2560320" cy="822960"/>
          </a:xfrm>
          <a:prstGeom prst="rect">
            <a:avLst/>
          </a:prstGeom>
          <a:noFill/>
        </p:spPr>
        <p:txBody>
          <a:bodyPr wrap="square" lIns="45720" rIns="45720" tIns="27432" bIns="27432" anchor="ctr">
            <a:spAutoFit/>
          </a:bodyPr>
          <a:lstStyle/>
          <a:p>
            <a:pPr algn="ctr">
              <a:spcAft>
                <a:spcPts val="600"/>
              </a:spcAft>
            </a:pPr>
            <a:r>
              <a:rPr sz="4400" b="1" i="0">
                <a:solidFill>
                  <a:srgbClr val="1B2B24"/>
                </a:solidFill>
                <a:latin typeface="Cambria"/>
              </a:rPr>
              <a:t>410</a:t>
            </a:r>
          </a:p>
        </p:txBody>
      </p:sp>
      <p:sp>
        <p:nvSpPr>
          <p:cNvPr id="15" name="TextBox 14"/>
          <p:cNvSpPr txBox="1"/>
          <p:nvPr/>
        </p:nvSpPr>
        <p:spPr>
          <a:xfrm>
            <a:off x="3108960" y="4846320"/>
            <a:ext cx="2560320" cy="731520"/>
          </a:xfrm>
          <a:prstGeom prst="rect">
            <a:avLst/>
          </a:prstGeom>
          <a:noFill/>
        </p:spPr>
        <p:txBody>
          <a:bodyPr wrap="square" lIns="45720" rIns="45720" tIns="27432" bIns="27432" anchor="t">
            <a:spAutoFit/>
          </a:bodyPr>
          <a:lstStyle/>
          <a:p>
            <a:pPr algn="ctr">
              <a:spcAft>
                <a:spcPts val="600"/>
              </a:spcAft>
            </a:pPr>
            <a:r>
              <a:rPr sz="1400" b="0" i="0">
                <a:solidFill>
                  <a:srgbClr val="1B2B24"/>
                </a:solidFill>
                <a:latin typeface="Calibri"/>
              </a:rPr>
              <a:t>higher income, letter by mistake</a:t>
            </a:r>
          </a:p>
        </p:txBody>
      </p:sp>
      <p:sp>
        <p:nvSpPr>
          <p:cNvPr id="16" name="Matrix cell"/>
          <p:cNvSpPr/>
          <p:nvPr/>
        </p:nvSpPr>
        <p:spPr>
          <a:xfrm>
            <a:off x="5852160" y="3794760"/>
            <a:ext cx="2743200" cy="182880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0" y="3977640"/>
            <a:ext cx="2560320" cy="822960"/>
          </a:xfrm>
          <a:prstGeom prst="rect">
            <a:avLst/>
          </a:prstGeom>
          <a:noFill/>
        </p:spPr>
        <p:txBody>
          <a:bodyPr wrap="square" lIns="45720" rIns="45720" tIns="27432" bIns="27432" anchor="ctr">
            <a:spAutoFit/>
          </a:bodyPr>
          <a:lstStyle/>
          <a:p>
            <a:pPr algn="ctr">
              <a:spcAft>
                <a:spcPts val="600"/>
              </a:spcAft>
            </a:pPr>
            <a:r>
              <a:rPr sz="4400" b="1" i="0">
                <a:solidFill>
                  <a:srgbClr val="1B2B24"/>
                </a:solidFill>
                <a:latin typeface="Cambria"/>
              </a:rPr>
              <a:t>1,926</a:t>
            </a:r>
          </a:p>
        </p:txBody>
      </p:sp>
      <p:sp>
        <p:nvSpPr>
          <p:cNvPr id="18" name="TextBox 17"/>
          <p:cNvSpPr txBox="1"/>
          <p:nvPr/>
        </p:nvSpPr>
        <p:spPr>
          <a:xfrm>
            <a:off x="5943600" y="4846320"/>
            <a:ext cx="2560320" cy="731520"/>
          </a:xfrm>
          <a:prstGeom prst="rect">
            <a:avLst/>
          </a:prstGeom>
          <a:noFill/>
        </p:spPr>
        <p:txBody>
          <a:bodyPr wrap="square" lIns="45720" rIns="45720" tIns="27432" bIns="27432" anchor="t">
            <a:spAutoFit/>
          </a:bodyPr>
          <a:lstStyle/>
          <a:p>
            <a:pPr algn="ctr">
              <a:spcAft>
                <a:spcPts val="600"/>
              </a:spcAft>
            </a:pPr>
            <a:r>
              <a:rPr sz="1400" b="0" i="0">
                <a:solidFill>
                  <a:srgbClr val="1B2B24"/>
                </a:solidFill>
                <a:latin typeface="Calibri"/>
              </a:rPr>
              <a:t>higher income, correctly left out</a:t>
            </a:r>
          </a:p>
        </p:txBody>
      </p:sp>
      <p:sp>
        <p:nvSpPr>
          <p:cNvPr id="19" name="Insight card"/>
          <p:cNvSpPr/>
          <p:nvPr/>
        </p:nvSpPr>
        <p:spPr>
          <a:xfrm>
            <a:off x="9052560" y="1874519"/>
            <a:ext cx="2560320" cy="3749039"/>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2011680"/>
            <a:ext cx="2286000" cy="3566160"/>
          </a:xfrm>
          <a:prstGeom prst="rect">
            <a:avLst/>
          </a:prstGeom>
          <a:noFill/>
        </p:spPr>
        <p:txBody>
          <a:bodyPr wrap="square" lIns="45720" rIns="45720" tIns="27432" bIns="27432" anchor="t">
            <a:spAutoFit/>
          </a:bodyPr>
          <a:lstStyle/>
          <a:p>
            <a:pPr algn="l">
              <a:spcAft>
                <a:spcPts val="800"/>
              </a:spcAft>
            </a:pPr>
            <a:r>
              <a:rPr sz="1800" b="1" i="0">
                <a:solidFill>
                  <a:srgbClr val="1F4D3A"/>
                </a:solidFill>
                <a:latin typeface="Calibri"/>
              </a:rPr>
              <a:t>Who is missed?</a:t>
            </a:r>
          </a:p>
          <a:p>
            <a:pPr algn="l">
              <a:spcAft>
                <a:spcPts val="800"/>
              </a:spcAft>
            </a:pPr>
            <a:r>
              <a:rPr sz="1500" b="0" i="0">
                <a:solidFill>
                  <a:srgbClr val="1B2B24"/>
                </a:solidFill>
                <a:latin typeface="Calibri"/>
              </a:rPr>
              <a:t>96% are married</a:t>
            </a:r>
          </a:p>
          <a:p>
            <a:pPr algn="l">
              <a:spcAft>
                <a:spcPts val="800"/>
              </a:spcAft>
            </a:pPr>
            <a:r>
              <a:rPr sz="1500" b="0" i="0">
                <a:solidFill>
                  <a:srgbClr val="1B2B24"/>
                </a:solidFill>
                <a:latin typeface="Calibri"/>
              </a:rPr>
              <a:t>91% are men</a:t>
            </a:r>
          </a:p>
          <a:p>
            <a:pPr algn="l">
              <a:spcAft>
                <a:spcPts val="800"/>
              </a:spcAft>
            </a:pPr>
            <a:r>
              <a:rPr sz="1500" b="0" i="0">
                <a:solidFill>
                  <a:srgbClr val="1B2B24"/>
                </a:solidFill>
                <a:latin typeface="Calibri"/>
              </a:rPr>
              <a:t>They are older and work more hours</a:t>
            </a:r>
          </a:p>
          <a:p>
            <a:pPr algn="l">
              <a:spcAft>
                <a:spcPts val="800"/>
              </a:spcAft>
            </a:pPr>
            <a:r>
              <a:rPr sz="1500" b="0" i="1">
                <a:solidFill>
                  <a:srgbClr val="1B2B24"/>
                </a:solidFill>
                <a:latin typeface="Calibri"/>
              </a:rPr>
              <a:t>The model learned "married man with a full-time job = high income".</a:t>
            </a:r>
          </a:p>
        </p:txBody>
      </p:sp>
      <p:sp>
        <p:nvSpPr>
          <p:cNvPr id="21" name="TextBox 20"/>
          <p:cNvSpPr txBox="1"/>
          <p:nvPr/>
        </p:nvSpPr>
        <p:spPr>
          <a:xfrm>
            <a:off x="640080" y="5943600"/>
            <a:ext cx="10881360" cy="548640"/>
          </a:xfrm>
          <a:prstGeom prst="rect">
            <a:avLst/>
          </a:prstGeom>
          <a:noFill/>
        </p:spPr>
        <p:txBody>
          <a:bodyPr wrap="square" lIns="45720" rIns="45720" tIns="27432" bIns="27432" anchor="t">
            <a:spAutoFit/>
          </a:bodyPr>
          <a:lstStyle/>
          <a:p>
            <a:pPr algn="l">
              <a:spcAft>
                <a:spcPts val="600"/>
              </a:spcAft>
            </a:pPr>
            <a:r>
              <a:rPr sz="1500" b="1" i="0">
                <a:solidFill>
                  <a:srgbClr val="1F4D3A"/>
                </a:solidFill>
                <a:latin typeface="Calibri"/>
              </a:rPr>
              <a:t>Test set: 9,758 people. Missing a student costs money; an extra letter costs almost nothing.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Live prediction: a made-up parent</a:t>
            </a:r>
          </a:p>
        </p:txBody>
      </p:sp>
      <p:sp>
        <p:nvSpPr>
          <p:cNvPr id="3" name="Input card"/>
          <p:cNvSpPr/>
          <p:nvPr/>
        </p:nvSpPr>
        <p:spPr>
          <a:xfrm>
            <a:off x="640080" y="1554480"/>
            <a:ext cx="5486400" cy="4206240"/>
          </a:xfrm>
          <a:prstGeom prst="roundRect">
            <a:avLst>
              <a:gd name="adj" fmla="val 8000"/>
            </a:avLst>
          </a:prstGeom>
          <a:solidFill>
            <a:srgbClr val="EAF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5029200" cy="457200"/>
          </a:xfrm>
          <a:prstGeom prst="rect">
            <a:avLst/>
          </a:prstGeom>
          <a:noFill/>
        </p:spPr>
        <p:txBody>
          <a:bodyPr wrap="square" lIns="45720" rIns="45720" tIns="27432" bIns="27432" anchor="t">
            <a:spAutoFit/>
          </a:bodyPr>
          <a:lstStyle/>
          <a:p>
            <a:pPr algn="l">
              <a:spcAft>
                <a:spcPts val="600"/>
              </a:spcAft>
            </a:pPr>
            <a:r>
              <a:rPr sz="1400" b="1" i="0">
                <a:solidFill>
                  <a:srgbClr val="55655D"/>
                </a:solidFill>
                <a:latin typeface="Calibri"/>
              </a:rPr>
              <a:t>INPUT</a:t>
            </a:r>
          </a:p>
        </p:txBody>
      </p:sp>
      <p:sp>
        <p:nvSpPr>
          <p:cNvPr id="5" name="TextBox 4"/>
          <p:cNvSpPr txBox="1"/>
          <p:nvPr/>
        </p:nvSpPr>
        <p:spPr>
          <a:xfrm>
            <a:off x="868680" y="2194560"/>
            <a:ext cx="5029200" cy="3474720"/>
          </a:xfrm>
          <a:prstGeom prst="rect">
            <a:avLst/>
          </a:prstGeom>
          <a:noFill/>
        </p:spPr>
        <p:txBody>
          <a:bodyPr wrap="square" lIns="45720" rIns="45720" tIns="27432" bIns="27432" anchor="t">
            <a:spAutoFit/>
          </a:bodyPr>
          <a:lstStyle/>
          <a:p>
            <a:pPr algn="l">
              <a:spcAft>
                <a:spcPts val="1400"/>
              </a:spcAft>
            </a:pPr>
            <a:r>
              <a:rPr sz="2000" b="0" i="0">
                <a:solidFill>
                  <a:srgbClr val="1B2B24"/>
                </a:solidFill>
                <a:latin typeface="Calibri"/>
              </a:rPr>
              <a:t>46 years old, divorced woman</a:t>
            </a:r>
          </a:p>
          <a:p>
            <a:pPr algn="l">
              <a:spcAft>
                <a:spcPts val="1400"/>
              </a:spcAft>
            </a:pPr>
            <a:r>
              <a:rPr sz="2000" b="0" i="0">
                <a:solidFill>
                  <a:srgbClr val="1B2B24"/>
                </a:solidFill>
                <a:latin typeface="Calibri"/>
              </a:rPr>
              <a:t>Works 32 hours a week in a service job</a:t>
            </a:r>
          </a:p>
          <a:p>
            <a:pPr algn="l">
              <a:spcAft>
                <a:spcPts val="1400"/>
              </a:spcAft>
            </a:pPr>
            <a:r>
              <a:rPr sz="2000" b="0" i="0">
                <a:solidFill>
                  <a:srgbClr val="1B2B24"/>
                </a:solidFill>
                <a:latin typeface="Calibri"/>
              </a:rPr>
              <a:t>Private sector, 9 years of education</a:t>
            </a:r>
          </a:p>
          <a:p>
            <a:pPr algn="l">
              <a:spcAft>
                <a:spcPts val="1400"/>
              </a:spcAft>
            </a:pPr>
            <a:r>
              <a:rPr sz="2000" b="0" i="0">
                <a:solidFill>
                  <a:srgbClr val="1B2B24"/>
                </a:solidFill>
                <a:latin typeface="Calibri"/>
              </a:rPr>
              <a:t>No capital gain or loss, born in the US</a:t>
            </a:r>
          </a:p>
        </p:txBody>
      </p:sp>
      <p:sp>
        <p:nvSpPr>
          <p:cNvPr id="6" name="TextBox 5"/>
          <p:cNvSpPr txBox="1"/>
          <p:nvPr/>
        </p:nvSpPr>
        <p:spPr>
          <a:xfrm>
            <a:off x="6172200" y="2743200"/>
            <a:ext cx="640080" cy="1005840"/>
          </a:xfrm>
          <a:prstGeom prst="rect">
            <a:avLst/>
          </a:prstGeom>
          <a:noFill/>
        </p:spPr>
        <p:txBody>
          <a:bodyPr wrap="square" lIns="45720" rIns="45720" tIns="27432" bIns="27432" anchor="ctr">
            <a:spAutoFit/>
          </a:bodyPr>
          <a:lstStyle/>
          <a:p>
            <a:pPr algn="ctr">
              <a:spcAft>
                <a:spcPts val="600"/>
              </a:spcAft>
            </a:pPr>
            <a:r>
              <a:rPr sz="4400" b="1" i="0">
                <a:solidFill>
                  <a:srgbClr val="F2A541"/>
                </a:solidFill>
                <a:latin typeface="Calibri"/>
              </a:rPr>
              <a:t>&gt;</a:t>
            </a:r>
          </a:p>
        </p:txBody>
      </p:sp>
      <p:sp>
        <p:nvSpPr>
          <p:cNvPr id="7" name="Output card"/>
          <p:cNvSpPr/>
          <p:nvPr/>
        </p:nvSpPr>
        <p:spPr>
          <a:xfrm>
            <a:off x="6858000" y="1554480"/>
            <a:ext cx="4709160" cy="4206240"/>
          </a:xfrm>
          <a:prstGeom prst="roundRect">
            <a:avLst>
              <a:gd name="adj" fmla="val 8000"/>
            </a:avLst>
          </a:prstGeom>
          <a:solidFill>
            <a:srgbClr val="1F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86600" y="1691640"/>
            <a:ext cx="4206240" cy="457200"/>
          </a:xfrm>
          <a:prstGeom prst="rect">
            <a:avLst/>
          </a:prstGeom>
          <a:noFill/>
        </p:spPr>
        <p:txBody>
          <a:bodyPr wrap="square" lIns="45720" rIns="45720" tIns="27432" bIns="27432" anchor="t">
            <a:spAutoFit/>
          </a:bodyPr>
          <a:lstStyle/>
          <a:p>
            <a:pPr algn="l">
              <a:spcAft>
                <a:spcPts val="600"/>
              </a:spcAft>
            </a:pPr>
            <a:r>
              <a:rPr sz="1400" b="1" i="0">
                <a:solidFill>
                  <a:srgbClr val="8DB580"/>
                </a:solidFill>
                <a:latin typeface="Calibri"/>
              </a:rPr>
              <a:t>OUTPUT</a:t>
            </a:r>
          </a:p>
        </p:txBody>
      </p:sp>
      <p:sp>
        <p:nvSpPr>
          <p:cNvPr id="9" name="TextBox 8"/>
          <p:cNvSpPr txBox="1"/>
          <p:nvPr/>
        </p:nvSpPr>
        <p:spPr>
          <a:xfrm>
            <a:off x="7086600" y="2194560"/>
            <a:ext cx="4206240" cy="1645920"/>
          </a:xfrm>
          <a:prstGeom prst="rect">
            <a:avLst/>
          </a:prstGeom>
          <a:noFill/>
        </p:spPr>
        <p:txBody>
          <a:bodyPr wrap="square" lIns="45720" rIns="45720" tIns="27432" bIns="27432" anchor="ctr">
            <a:spAutoFit/>
          </a:bodyPr>
          <a:lstStyle/>
          <a:p>
            <a:pPr algn="l">
              <a:spcAft>
                <a:spcPts val="600"/>
              </a:spcAft>
            </a:pPr>
            <a:r>
              <a:rPr sz="8000" b="1" i="0">
                <a:solidFill>
                  <a:srgbClr val="F2A541"/>
                </a:solidFill>
                <a:latin typeface="Cambria"/>
              </a:rPr>
              <a:t>99%</a:t>
            </a:r>
          </a:p>
        </p:txBody>
      </p:sp>
      <p:sp>
        <p:nvSpPr>
          <p:cNvPr id="10" name="TextBox 9"/>
          <p:cNvSpPr txBox="1"/>
          <p:nvPr/>
        </p:nvSpPr>
        <p:spPr>
          <a:xfrm>
            <a:off x="7086600" y="3931920"/>
            <a:ext cx="4206240" cy="1737360"/>
          </a:xfrm>
          <a:prstGeom prst="rect">
            <a:avLst/>
          </a:prstGeom>
          <a:noFill/>
        </p:spPr>
        <p:txBody>
          <a:bodyPr wrap="square" lIns="45720" rIns="45720" tIns="27432" bIns="27432" anchor="t">
            <a:spAutoFit/>
          </a:bodyPr>
          <a:lstStyle/>
          <a:p>
            <a:pPr algn="l">
              <a:spcAft>
                <a:spcPts val="1000"/>
              </a:spcAft>
            </a:pPr>
            <a:r>
              <a:rPr sz="1700" b="0" i="0">
                <a:solidFill>
                  <a:srgbClr val="FFFFFF"/>
                </a:solidFill>
                <a:latin typeface="Calibri"/>
              </a:rPr>
              <a:t>probability of low income: send the letter</a:t>
            </a:r>
          </a:p>
          <a:p>
            <a:pPr algn="l">
              <a:spcAft>
                <a:spcPts val="1000"/>
              </a:spcAft>
            </a:pPr>
            <a:r>
              <a:rPr sz="1700" b="0" i="0">
                <a:solidFill>
                  <a:srgbClr val="FFFFFF"/>
                </a:solidFill>
                <a:latin typeface="Calibri"/>
              </a:rPr>
              <a:t>DUO should always see the probability, because 55% and 99% are different messages.</a:t>
            </a:r>
          </a:p>
        </p:txBody>
      </p:sp>
      <p:sp>
        <p:nvSpPr>
          <p:cNvPr id="11" name="TextBox 10"/>
          <p:cNvSpPr txBox="1"/>
          <p:nvPr/>
        </p:nvSpPr>
        <p:spPr>
          <a:xfrm>
            <a:off x="640080" y="6035040"/>
            <a:ext cx="10881360" cy="457200"/>
          </a:xfrm>
          <a:prstGeom prst="rect">
            <a:avLst/>
          </a:prstGeom>
          <a:noFill/>
        </p:spPr>
        <p:txBody>
          <a:bodyPr wrap="square" lIns="45720" rIns="45720" tIns="27432" bIns="27432" anchor="t">
            <a:spAutoFit/>
          </a:bodyPr>
          <a:lstStyle/>
          <a:p>
            <a:pPr algn="l">
              <a:spcAft>
                <a:spcPts val="600"/>
              </a:spcAft>
            </a:pPr>
            <a:r>
              <a:rPr sz="1400" b="0" i="0">
                <a:solidFill>
                  <a:srgbClr val="55655D"/>
                </a:solidFill>
                <a:latin typeface="Calibri"/>
              </a:rPr>
              <a:t>Run live: the last cell of the notebook (step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4D3A"/>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FFFFFF"/>
                </a:solidFill>
                <a:latin typeface="Cambria"/>
              </a:rPr>
              <a:t>The decision we defend hardest: balanced accuracy, not recall</a:t>
            </a:r>
          </a:p>
        </p:txBody>
      </p:sp>
      <p:sp>
        <p:nvSpPr>
          <p:cNvPr id="3" name="Card recall"/>
          <p:cNvSpPr/>
          <p:nvPr/>
        </p:nvSpPr>
        <p:spPr>
          <a:xfrm>
            <a:off x="640080" y="1737360"/>
            <a:ext cx="5303520" cy="3200400"/>
          </a:xfrm>
          <a:prstGeom prst="roundRect">
            <a:avLst>
              <a:gd name="adj" fmla="val 8000"/>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19"/>
            <a:ext cx="4846320" cy="457200"/>
          </a:xfrm>
          <a:prstGeom prst="rect">
            <a:avLst/>
          </a:prstGeom>
          <a:noFill/>
        </p:spPr>
        <p:txBody>
          <a:bodyPr wrap="square" lIns="45720" rIns="45720" tIns="27432" bIns="27432" anchor="t">
            <a:spAutoFit/>
          </a:bodyPr>
          <a:lstStyle/>
          <a:p>
            <a:pPr algn="l">
              <a:spcAft>
                <a:spcPts val="600"/>
              </a:spcAft>
            </a:pPr>
            <a:r>
              <a:rPr sz="1400" b="1" i="0">
                <a:solidFill>
                  <a:srgbClr val="8DB580"/>
                </a:solidFill>
                <a:latin typeface="Calibri"/>
              </a:rPr>
              <a:t>THE LAZY BASELINE</a:t>
            </a:r>
          </a:p>
        </p:txBody>
      </p:sp>
      <p:sp>
        <p:nvSpPr>
          <p:cNvPr id="5" name="TextBox 4"/>
          <p:cNvSpPr txBox="1"/>
          <p:nvPr/>
        </p:nvSpPr>
        <p:spPr>
          <a:xfrm>
            <a:off x="868680" y="2331720"/>
            <a:ext cx="4846320" cy="914400"/>
          </a:xfrm>
          <a:prstGeom prst="rect">
            <a:avLst/>
          </a:prstGeom>
          <a:noFill/>
        </p:spPr>
        <p:txBody>
          <a:bodyPr wrap="square" lIns="45720" rIns="45720" tIns="27432" bIns="27432" anchor="t">
            <a:spAutoFit/>
          </a:bodyPr>
          <a:lstStyle/>
          <a:p>
            <a:pPr algn="l">
              <a:spcAft>
                <a:spcPts val="600"/>
              </a:spcAft>
            </a:pPr>
            <a:r>
              <a:rPr sz="4400" b="1" i="0">
                <a:solidFill>
                  <a:srgbClr val="FFFFFF"/>
                </a:solidFill>
                <a:latin typeface="Cambria"/>
              </a:rPr>
              <a:t>recall = 1.0</a:t>
            </a:r>
          </a:p>
        </p:txBody>
      </p:sp>
      <p:sp>
        <p:nvSpPr>
          <p:cNvPr id="6" name="TextBox 5"/>
          <p:cNvSpPr txBox="1"/>
          <p:nvPr/>
        </p:nvSpPr>
        <p:spPr>
          <a:xfrm>
            <a:off x="868680" y="3383280"/>
            <a:ext cx="4846320" cy="1463040"/>
          </a:xfrm>
          <a:prstGeom prst="rect">
            <a:avLst/>
          </a:prstGeom>
          <a:noFill/>
        </p:spPr>
        <p:txBody>
          <a:bodyPr wrap="square" lIns="45720" rIns="45720" tIns="27432" bIns="27432" anchor="t">
            <a:spAutoFit/>
          </a:bodyPr>
          <a:lstStyle/>
          <a:p>
            <a:pPr algn="l">
              <a:spcAft>
                <a:spcPts val="600"/>
              </a:spcAft>
            </a:pPr>
            <a:r>
              <a:rPr sz="1800" b="0" i="0">
                <a:solidFill>
                  <a:srgbClr val="EAF3E7"/>
                </a:solidFill>
                <a:latin typeface="Calibri"/>
              </a:rPr>
              <a:t>It says "low income" for everyone, so it finds every low-income person and learns nothing.</a:t>
            </a:r>
          </a:p>
        </p:txBody>
      </p:sp>
      <p:sp>
        <p:nvSpPr>
          <p:cNvPr id="7" name="Card balanced"/>
          <p:cNvSpPr/>
          <p:nvPr/>
        </p:nvSpPr>
        <p:spPr>
          <a:xfrm>
            <a:off x="6263640" y="1737360"/>
            <a:ext cx="5303520" cy="3200400"/>
          </a:xfrm>
          <a:prstGeom prst="roundRect">
            <a:avLst>
              <a:gd name="adj" fmla="val 8000"/>
            </a:avLst>
          </a:prstGeom>
          <a:solidFill>
            <a:srgbClr val="F2A5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874519"/>
            <a:ext cx="4846320" cy="457200"/>
          </a:xfrm>
          <a:prstGeom prst="rect">
            <a:avLst/>
          </a:prstGeom>
          <a:noFill/>
        </p:spPr>
        <p:txBody>
          <a:bodyPr wrap="square" lIns="45720" rIns="45720" tIns="27432" bIns="27432" anchor="t">
            <a:spAutoFit/>
          </a:bodyPr>
          <a:lstStyle/>
          <a:p>
            <a:pPr algn="l">
              <a:spcAft>
                <a:spcPts val="600"/>
              </a:spcAft>
            </a:pPr>
            <a:r>
              <a:rPr sz="1400" b="1" i="0">
                <a:solidFill>
                  <a:srgbClr val="1B2B24"/>
                </a:solidFill>
                <a:latin typeface="Calibri"/>
              </a:rPr>
              <a:t>THE SAME BASELINE, BALANCED</a:t>
            </a:r>
          </a:p>
        </p:txBody>
      </p:sp>
      <p:sp>
        <p:nvSpPr>
          <p:cNvPr id="9" name="TextBox 8"/>
          <p:cNvSpPr txBox="1"/>
          <p:nvPr/>
        </p:nvSpPr>
        <p:spPr>
          <a:xfrm>
            <a:off x="6492240" y="2286000"/>
            <a:ext cx="4846320" cy="1371600"/>
          </a:xfrm>
          <a:prstGeom prst="rect">
            <a:avLst/>
          </a:prstGeom>
          <a:noFill/>
        </p:spPr>
        <p:txBody>
          <a:bodyPr wrap="square" lIns="45720" rIns="45720" tIns="27432" bIns="27432" anchor="t">
            <a:spAutoFit/>
          </a:bodyPr>
          <a:lstStyle/>
          <a:p>
            <a:pPr algn="l">
              <a:spcAft>
                <a:spcPts val="0"/>
              </a:spcAft>
            </a:pPr>
            <a:r>
              <a:rPr sz="3600" b="1" i="0">
                <a:solidFill>
                  <a:srgbClr val="1B2B24"/>
                </a:solidFill>
                <a:latin typeface="Cambria"/>
              </a:rPr>
              <a:t>balanced</a:t>
            </a:r>
          </a:p>
          <a:p>
            <a:pPr algn="l">
              <a:spcAft>
                <a:spcPts val="0"/>
              </a:spcAft>
            </a:pPr>
            <a:r>
              <a:rPr sz="3600" b="1" i="0">
                <a:solidFill>
                  <a:srgbClr val="1B2B24"/>
                </a:solidFill>
                <a:latin typeface="Cambria"/>
              </a:rPr>
              <a:t>accuracy = 0.5</a:t>
            </a:r>
          </a:p>
        </p:txBody>
      </p:sp>
      <p:sp>
        <p:nvSpPr>
          <p:cNvPr id="10" name="TextBox 9"/>
          <p:cNvSpPr txBox="1"/>
          <p:nvPr/>
        </p:nvSpPr>
        <p:spPr>
          <a:xfrm>
            <a:off x="6492240" y="3703320"/>
            <a:ext cx="4846320" cy="1188720"/>
          </a:xfrm>
          <a:prstGeom prst="rect">
            <a:avLst/>
          </a:prstGeom>
          <a:noFill/>
        </p:spPr>
        <p:txBody>
          <a:bodyPr wrap="square" lIns="45720" rIns="45720" tIns="27432" bIns="27432" anchor="t">
            <a:spAutoFit/>
          </a:bodyPr>
          <a:lstStyle/>
          <a:p>
            <a:pPr algn="l">
              <a:spcAft>
                <a:spcPts val="600"/>
              </a:spcAft>
            </a:pPr>
            <a:r>
              <a:rPr sz="1700" b="0" i="0">
                <a:solidFill>
                  <a:srgbClr val="1B2B24"/>
                </a:solidFill>
                <a:latin typeface="Calibri"/>
              </a:rPr>
              <a:t>It averages the share of low-income people found and the share of higher-income people left out.</a:t>
            </a:r>
          </a:p>
        </p:txBody>
      </p:sp>
      <p:sp>
        <p:nvSpPr>
          <p:cNvPr id="11" name="TextBox 10"/>
          <p:cNvSpPr txBox="1"/>
          <p:nvPr/>
        </p:nvSpPr>
        <p:spPr>
          <a:xfrm>
            <a:off x="640080" y="5257800"/>
            <a:ext cx="10911535" cy="1097280"/>
          </a:xfrm>
          <a:prstGeom prst="rect">
            <a:avLst/>
          </a:prstGeom>
          <a:noFill/>
        </p:spPr>
        <p:txBody>
          <a:bodyPr wrap="square" lIns="45720" rIns="45720" tIns="27432" bIns="27432" anchor="t">
            <a:spAutoFit/>
          </a:bodyPr>
          <a:lstStyle/>
          <a:p>
            <a:pPr algn="l">
              <a:spcAft>
                <a:spcPts val="600"/>
              </a:spcAft>
            </a:pPr>
            <a:r>
              <a:rPr sz="2200" b="0" i="0">
                <a:solidFill>
                  <a:srgbClr val="FFFFFF"/>
                </a:solidFill>
                <a:latin typeface="Calibri"/>
              </a:rPr>
              <a:t>Every model has to beat 0.5. Recall, precision and F1 are still in every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1F4D3A"/>
                </a:solidFill>
                <a:latin typeface="Cambria"/>
              </a:rPr>
              <a:t>Ethics: sex and race are in the model</a:t>
            </a:r>
          </a:p>
        </p:txBody>
      </p:sp>
      <p:graphicFrame>
        <p:nvGraphicFramePr>
          <p:cNvPr id="3" name="Women vs men chart"/>
          <p:cNvGraphicFramePr>
            <a:graphicFrameLocks noGrp="1"/>
          </p:cNvGraphicFramePr>
          <p:nvPr/>
        </p:nvGraphicFramePr>
        <p:xfrm>
          <a:off x="640080" y="1463040"/>
          <a:ext cx="5760720" cy="4114800"/>
        </p:xfrm>
        <a:graphic>
          <a:graphicData uri="http://schemas.openxmlformats.org/drawingml/2006/chart">
            <c:chart xmlns:c="http://schemas.openxmlformats.org/drawingml/2006/chart" r:id="rId2"/>
          </a:graphicData>
        </a:graphic>
      </p:graphicFrame>
      <p:sp>
        <p:nvSpPr>
          <p:cNvPr id="4" name="TextBox 3"/>
          <p:cNvSpPr txBox="1"/>
          <p:nvPr/>
        </p:nvSpPr>
        <p:spPr>
          <a:xfrm>
            <a:off x="6675120" y="1508760"/>
            <a:ext cx="4937760" cy="365760"/>
          </a:xfrm>
          <a:prstGeom prst="rect">
            <a:avLst/>
          </a:prstGeom>
          <a:noFill/>
        </p:spPr>
        <p:txBody>
          <a:bodyPr wrap="square" lIns="45720" rIns="45720" tIns="27432" bIns="27432" anchor="t">
            <a:spAutoFit/>
          </a:bodyPr>
          <a:lstStyle/>
          <a:p>
            <a:pPr algn="l">
              <a:spcAft>
                <a:spcPts val="600"/>
              </a:spcAft>
            </a:pPr>
            <a:r>
              <a:rPr sz="1700" b="1" i="0">
                <a:solidFill>
                  <a:srgbClr val="1F4D3A"/>
                </a:solidFill>
                <a:latin typeface="Cambria"/>
              </a:rPr>
              <a:t>Old US data</a:t>
            </a:r>
          </a:p>
        </p:txBody>
      </p:sp>
      <p:sp>
        <p:nvSpPr>
          <p:cNvPr id="5" name="TextBox 4"/>
          <p:cNvSpPr txBox="1"/>
          <p:nvPr/>
        </p:nvSpPr>
        <p:spPr>
          <a:xfrm>
            <a:off x="6675120" y="1874519"/>
            <a:ext cx="4937760" cy="777240"/>
          </a:xfrm>
          <a:prstGeom prst="rect">
            <a:avLst/>
          </a:prstGeom>
          <a:noFill/>
        </p:spPr>
        <p:txBody>
          <a:bodyPr wrap="square" lIns="45720" rIns="45720" tIns="27432" bIns="27432" anchor="t">
            <a:spAutoFit/>
          </a:bodyPr>
          <a:lstStyle/>
          <a:p>
            <a:pPr algn="l">
              <a:spcAft>
                <a:spcPts val="600"/>
              </a:spcAft>
            </a:pPr>
            <a:r>
              <a:rPr sz="1400" b="0" i="0">
                <a:solidFill>
                  <a:srgbClr val="1B2B24"/>
                </a:solidFill>
                <a:latin typeface="Calibri"/>
              </a:rPr>
              <a:t>Says nothing about Dutch students. Train again on recent Dutch data first.</a:t>
            </a:r>
          </a:p>
        </p:txBody>
      </p:sp>
      <p:sp>
        <p:nvSpPr>
          <p:cNvPr id="6" name="TextBox 5"/>
          <p:cNvSpPr txBox="1"/>
          <p:nvPr/>
        </p:nvSpPr>
        <p:spPr>
          <a:xfrm>
            <a:off x="6675120" y="2606039"/>
            <a:ext cx="4937760" cy="365760"/>
          </a:xfrm>
          <a:prstGeom prst="rect">
            <a:avLst/>
          </a:prstGeom>
          <a:noFill/>
        </p:spPr>
        <p:txBody>
          <a:bodyPr wrap="square" lIns="45720" rIns="45720" tIns="27432" bIns="27432" anchor="t">
            <a:spAutoFit/>
          </a:bodyPr>
          <a:lstStyle/>
          <a:p>
            <a:pPr algn="l">
              <a:spcAft>
                <a:spcPts val="600"/>
              </a:spcAft>
            </a:pPr>
            <a:r>
              <a:rPr sz="1700" b="1" i="0">
                <a:solidFill>
                  <a:srgbClr val="1F4D3A"/>
                </a:solidFill>
                <a:latin typeface="Cambria"/>
              </a:rPr>
              <a:t>Group gaps</a:t>
            </a:r>
          </a:p>
        </p:txBody>
      </p:sp>
      <p:sp>
        <p:nvSpPr>
          <p:cNvPr id="7" name="TextBox 6"/>
          <p:cNvSpPr txBox="1"/>
          <p:nvPr/>
        </p:nvSpPr>
        <p:spPr>
          <a:xfrm>
            <a:off x="6675120" y="2971799"/>
            <a:ext cx="4937760" cy="777240"/>
          </a:xfrm>
          <a:prstGeom prst="rect">
            <a:avLst/>
          </a:prstGeom>
          <a:noFill/>
        </p:spPr>
        <p:txBody>
          <a:bodyPr wrap="square" lIns="45720" rIns="45720" tIns="27432" bIns="27432" anchor="t">
            <a:spAutoFit/>
          </a:bodyPr>
          <a:lstStyle/>
          <a:p>
            <a:pPr algn="l">
              <a:spcAft>
                <a:spcPts val="600"/>
              </a:spcAft>
            </a:pPr>
            <a:r>
              <a:rPr sz="1400" b="0" i="0">
                <a:solidFill>
                  <a:srgbClr val="1B2B24"/>
                </a:solidFill>
                <a:latin typeface="Calibri"/>
              </a:rPr>
              <a:t>Finds 96% of low-income women but 75% of men. Recall is lower for White (0.81) than Black (0.93) people.</a:t>
            </a:r>
          </a:p>
        </p:txBody>
      </p:sp>
      <p:sp>
        <p:nvSpPr>
          <p:cNvPr id="8" name="TextBox 7"/>
          <p:cNvSpPr txBox="1"/>
          <p:nvPr/>
        </p:nvSpPr>
        <p:spPr>
          <a:xfrm>
            <a:off x="6675120" y="3703320"/>
            <a:ext cx="4937760" cy="365760"/>
          </a:xfrm>
          <a:prstGeom prst="rect">
            <a:avLst/>
          </a:prstGeom>
          <a:noFill/>
        </p:spPr>
        <p:txBody>
          <a:bodyPr wrap="square" lIns="45720" rIns="45720" tIns="27432" bIns="27432" anchor="t">
            <a:spAutoFit/>
          </a:bodyPr>
          <a:lstStyle/>
          <a:p>
            <a:pPr algn="l">
              <a:spcAft>
                <a:spcPts val="600"/>
              </a:spcAft>
            </a:pPr>
            <a:r>
              <a:rPr sz="1700" b="1" i="0">
                <a:solidFill>
                  <a:srgbClr val="1F4D3A"/>
                </a:solidFill>
                <a:latin typeface="Cambria"/>
              </a:rPr>
              <a:t>Hidden proxies</a:t>
            </a:r>
          </a:p>
        </p:txBody>
      </p:sp>
      <p:sp>
        <p:nvSpPr>
          <p:cNvPr id="9" name="TextBox 8"/>
          <p:cNvSpPr txBox="1"/>
          <p:nvPr/>
        </p:nvSpPr>
        <p:spPr>
          <a:xfrm>
            <a:off x="6675120" y="4069080"/>
            <a:ext cx="4937760" cy="777240"/>
          </a:xfrm>
          <a:prstGeom prst="rect">
            <a:avLst/>
          </a:prstGeom>
          <a:noFill/>
        </p:spPr>
        <p:txBody>
          <a:bodyPr wrap="square" lIns="45720" rIns="45720" tIns="27432" bIns="27432" anchor="t">
            <a:spAutoFit/>
          </a:bodyPr>
          <a:lstStyle/>
          <a:p>
            <a:pPr algn="l">
              <a:spcAft>
                <a:spcPts val="600"/>
              </a:spcAft>
            </a:pPr>
            <a:r>
              <a:rPr sz="1400" b="0" i="0">
                <a:solidFill>
                  <a:srgbClr val="1B2B24"/>
                </a:solidFill>
                <a:latin typeface="Calibri"/>
              </a:rPr>
              <a:t>Marital status and occupation can stand in for sex and race, so dropping the columns is not enough.</a:t>
            </a:r>
          </a:p>
        </p:txBody>
      </p:sp>
      <p:sp>
        <p:nvSpPr>
          <p:cNvPr id="10" name="TextBox 9"/>
          <p:cNvSpPr txBox="1"/>
          <p:nvPr/>
        </p:nvSpPr>
        <p:spPr>
          <a:xfrm>
            <a:off x="6675120" y="4800600"/>
            <a:ext cx="4937760" cy="365760"/>
          </a:xfrm>
          <a:prstGeom prst="rect">
            <a:avLst/>
          </a:prstGeom>
          <a:noFill/>
        </p:spPr>
        <p:txBody>
          <a:bodyPr wrap="square" lIns="45720" rIns="45720" tIns="27432" bIns="27432" anchor="t">
            <a:spAutoFit/>
          </a:bodyPr>
          <a:lstStyle/>
          <a:p>
            <a:pPr algn="l">
              <a:spcAft>
                <a:spcPts val="600"/>
              </a:spcAft>
            </a:pPr>
            <a:r>
              <a:rPr sz="1700" b="1" i="0">
                <a:solidFill>
                  <a:srgbClr val="1F4D3A"/>
                </a:solidFill>
                <a:latin typeface="Cambria"/>
              </a:rPr>
              <a:t>What we did</a:t>
            </a:r>
          </a:p>
        </p:txBody>
      </p:sp>
      <p:sp>
        <p:nvSpPr>
          <p:cNvPr id="11" name="TextBox 10"/>
          <p:cNvSpPr txBox="1"/>
          <p:nvPr/>
        </p:nvSpPr>
        <p:spPr>
          <a:xfrm>
            <a:off x="6675120" y="5166360"/>
            <a:ext cx="4937760" cy="777240"/>
          </a:xfrm>
          <a:prstGeom prst="rect">
            <a:avLst/>
          </a:prstGeom>
          <a:noFill/>
        </p:spPr>
        <p:txBody>
          <a:bodyPr wrap="square" lIns="45720" rIns="45720" tIns="27432" bIns="27432" anchor="t">
            <a:spAutoFit/>
          </a:bodyPr>
          <a:lstStyle/>
          <a:p>
            <a:pPr algn="l">
              <a:spcAft>
                <a:spcPts val="600"/>
              </a:spcAft>
            </a:pPr>
            <a:r>
              <a:rPr sz="1400" b="0" i="0">
                <a:solidFill>
                  <a:srgbClr val="1B2B24"/>
                </a:solidFill>
                <a:latin typeface="Calibri"/>
              </a:rPr>
              <a:t>Balanced accuracy, a per-group check, and a README warning on who must not use it.</a:t>
            </a:r>
          </a:p>
        </p:txBody>
      </p:sp>
      <p:sp>
        <p:nvSpPr>
          <p:cNvPr id="12" name="TextBox 11"/>
          <p:cNvSpPr txBox="1"/>
          <p:nvPr/>
        </p:nvSpPr>
        <p:spPr>
          <a:xfrm>
            <a:off x="640080" y="5943600"/>
            <a:ext cx="10881360" cy="548640"/>
          </a:xfrm>
          <a:prstGeom prst="rect">
            <a:avLst/>
          </a:prstGeom>
          <a:noFill/>
        </p:spPr>
        <p:txBody>
          <a:bodyPr wrap="square" lIns="45720" rIns="45720" tIns="27432" bIns="27432" anchor="t">
            <a:spAutoFit/>
          </a:bodyPr>
          <a:lstStyle/>
          <a:p>
            <a:pPr algn="l">
              <a:spcAft>
                <a:spcPts val="600"/>
              </a:spcAft>
            </a:pPr>
            <a:r>
              <a:rPr sz="1500" b="0" i="0">
                <a:solidFill>
                  <a:srgbClr val="55655D"/>
                </a:solidFill>
                <a:latin typeface="Calibri"/>
              </a:rPr>
              <a:t>Next step: retrain on Dutch data, test without sex and race, choose the letter threshold with cross-validation.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F4D3A"/>
        </a:solidFill>
        <a:effectLst/>
      </p:bgPr>
    </p:bg>
    <p:spTree>
      <p:nvGrpSpPr>
        <p:cNvPr id="1" name=""/>
        <p:cNvGrpSpPr/>
        <p:nvPr/>
      </p:nvGrpSpPr>
      <p:grpSpPr/>
      <p:sp>
        <p:nvSpPr>
          <p:cNvPr id="2" name="Title"/>
          <p:cNvSpPr txBox="1"/>
          <p:nvPr/>
        </p:nvSpPr>
        <p:spPr>
          <a:xfrm>
            <a:off x="640080" y="274320"/>
            <a:ext cx="10911535" cy="1143000"/>
          </a:xfrm>
          <a:prstGeom prst="rect">
            <a:avLst/>
          </a:prstGeom>
          <a:noFill/>
        </p:spPr>
        <p:txBody>
          <a:bodyPr wrap="square" lIns="45720" rIns="45720" tIns="27432" bIns="27432" anchor="ctr">
            <a:spAutoFit/>
          </a:bodyPr>
          <a:lstStyle/>
          <a:p>
            <a:pPr algn="l">
              <a:spcAft>
                <a:spcPts val="600"/>
              </a:spcAft>
            </a:pPr>
            <a:r>
              <a:rPr sz="3200" b="1" i="0">
                <a:solidFill>
                  <a:srgbClr val="FFFFFF"/>
                </a:solidFill>
                <a:latin typeface="Cambria"/>
              </a:rPr>
              <a:t>Recommendation: random forest, with conditions</a:t>
            </a:r>
          </a:p>
        </p:txBody>
      </p:sp>
      <p:sp>
        <p:nvSpPr>
          <p:cNvPr id="3" name="Reco card"/>
          <p:cNvSpPr/>
          <p:nvPr/>
        </p:nvSpPr>
        <p:spPr>
          <a:xfrm>
            <a:off x="640080" y="1645920"/>
            <a:ext cx="5349240" cy="2011680"/>
          </a:xfrm>
          <a:prstGeom prst="roundRect">
            <a:avLst>
              <a:gd name="adj" fmla="val 8000"/>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83080"/>
            <a:ext cx="4937760" cy="548640"/>
          </a:xfrm>
          <a:prstGeom prst="rect">
            <a:avLst/>
          </a:prstGeom>
          <a:noFill/>
        </p:spPr>
        <p:txBody>
          <a:bodyPr wrap="square" lIns="45720" rIns="45720" tIns="27432" bIns="27432" anchor="t">
            <a:spAutoFit/>
          </a:bodyPr>
          <a:lstStyle/>
          <a:p>
            <a:pPr algn="l">
              <a:spcAft>
                <a:spcPts val="600"/>
              </a:spcAft>
            </a:pPr>
            <a:r>
              <a:rPr sz="2200" b="1" i="0">
                <a:solidFill>
                  <a:srgbClr val="F2A541"/>
                </a:solidFill>
                <a:latin typeface="Cambria"/>
              </a:rPr>
              <a:t>Why the forest</a:t>
            </a:r>
          </a:p>
        </p:txBody>
      </p:sp>
      <p:sp>
        <p:nvSpPr>
          <p:cNvPr id="5" name="TextBox 4"/>
          <p:cNvSpPr txBox="1"/>
          <p:nvPr/>
        </p:nvSpPr>
        <p:spPr>
          <a:xfrm>
            <a:off x="868680" y="2377440"/>
            <a:ext cx="4937760" cy="1234440"/>
          </a:xfrm>
          <a:prstGeom prst="rect">
            <a:avLst/>
          </a:prstGeom>
          <a:noFill/>
        </p:spPr>
        <p:txBody>
          <a:bodyPr wrap="square" lIns="45720" rIns="45720" tIns="27432" bIns="27432" anchor="t">
            <a:spAutoFit/>
          </a:bodyPr>
          <a:lstStyle/>
          <a:p>
            <a:pPr algn="l">
              <a:spcAft>
                <a:spcPts val="600"/>
              </a:spcAft>
            </a:pPr>
            <a:r>
              <a:rPr sz="1700" b="0" i="0">
                <a:solidFill>
                  <a:srgbClr val="FFFFFF"/>
                </a:solidFill>
                <a:latin typeface="Calibri"/>
              </a:rPr>
              <a:t>Best main score (0.827 on test). It finds 83% of low-income people and wastes 410 letters, against 2,336 if everyone gets one.</a:t>
            </a:r>
          </a:p>
        </p:txBody>
      </p:sp>
      <p:sp>
        <p:nvSpPr>
          <p:cNvPr id="6" name="Reco card"/>
          <p:cNvSpPr/>
          <p:nvPr/>
        </p:nvSpPr>
        <p:spPr>
          <a:xfrm>
            <a:off x="6172200" y="1645920"/>
            <a:ext cx="5349240" cy="2011680"/>
          </a:xfrm>
          <a:prstGeom prst="roundRect">
            <a:avLst>
              <a:gd name="adj" fmla="val 8000"/>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937760" cy="548640"/>
          </a:xfrm>
          <a:prstGeom prst="rect">
            <a:avLst/>
          </a:prstGeom>
          <a:noFill/>
        </p:spPr>
        <p:txBody>
          <a:bodyPr wrap="square" lIns="45720" rIns="45720" tIns="27432" bIns="27432" anchor="t">
            <a:spAutoFit/>
          </a:bodyPr>
          <a:lstStyle/>
          <a:p>
            <a:pPr algn="l">
              <a:spcAft>
                <a:spcPts val="600"/>
              </a:spcAft>
            </a:pPr>
            <a:r>
              <a:rPr sz="2200" b="1" i="0">
                <a:solidFill>
                  <a:srgbClr val="F2A541"/>
                </a:solidFill>
                <a:latin typeface="Cambria"/>
              </a:rPr>
              <a:t>The alternative</a:t>
            </a:r>
          </a:p>
        </p:txBody>
      </p:sp>
      <p:sp>
        <p:nvSpPr>
          <p:cNvPr id="8" name="TextBox 7"/>
          <p:cNvSpPr txBox="1"/>
          <p:nvPr/>
        </p:nvSpPr>
        <p:spPr>
          <a:xfrm>
            <a:off x="6400800" y="2377440"/>
            <a:ext cx="4937760" cy="1234440"/>
          </a:xfrm>
          <a:prstGeom prst="rect">
            <a:avLst/>
          </a:prstGeom>
          <a:noFill/>
        </p:spPr>
        <p:txBody>
          <a:bodyPr wrap="square" lIns="45720" rIns="45720" tIns="27432" bIns="27432" anchor="t">
            <a:spAutoFit/>
          </a:bodyPr>
          <a:lstStyle/>
          <a:p>
            <a:pPr algn="l">
              <a:spcAft>
                <a:spcPts val="600"/>
              </a:spcAft>
            </a:pPr>
            <a:r>
              <a:rPr sz="1700" b="0" i="0">
                <a:solidFill>
                  <a:srgbClr val="FFFFFF"/>
                </a:solidFill>
                <a:latin typeface="Calibri"/>
              </a:rPr>
              <a:t>Logistic regression is easier to explain and almost as good (0.823).</a:t>
            </a:r>
          </a:p>
        </p:txBody>
      </p:sp>
      <p:sp>
        <p:nvSpPr>
          <p:cNvPr id="9" name="Reco card"/>
          <p:cNvSpPr/>
          <p:nvPr/>
        </p:nvSpPr>
        <p:spPr>
          <a:xfrm>
            <a:off x="640080" y="3886200"/>
            <a:ext cx="5349240" cy="2011680"/>
          </a:xfrm>
          <a:prstGeom prst="roundRect">
            <a:avLst>
              <a:gd name="adj" fmla="val 8000"/>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23360"/>
            <a:ext cx="4937760" cy="548640"/>
          </a:xfrm>
          <a:prstGeom prst="rect">
            <a:avLst/>
          </a:prstGeom>
          <a:noFill/>
        </p:spPr>
        <p:txBody>
          <a:bodyPr wrap="square" lIns="45720" rIns="45720" tIns="27432" bIns="27432" anchor="t">
            <a:spAutoFit/>
          </a:bodyPr>
          <a:lstStyle/>
          <a:p>
            <a:pPr algn="l">
              <a:spcAft>
                <a:spcPts val="600"/>
              </a:spcAft>
            </a:pPr>
            <a:r>
              <a:rPr sz="2200" b="1" i="0">
                <a:solidFill>
                  <a:srgbClr val="F2A541"/>
                </a:solidFill>
                <a:latin typeface="Cambria"/>
              </a:rPr>
              <a:t>Conditions</a:t>
            </a:r>
          </a:p>
        </p:txBody>
      </p:sp>
      <p:sp>
        <p:nvSpPr>
          <p:cNvPr id="11" name="TextBox 10"/>
          <p:cNvSpPr txBox="1"/>
          <p:nvPr/>
        </p:nvSpPr>
        <p:spPr>
          <a:xfrm>
            <a:off x="868680" y="4617720"/>
            <a:ext cx="4937760" cy="1234440"/>
          </a:xfrm>
          <a:prstGeom prst="rect">
            <a:avLst/>
          </a:prstGeom>
          <a:noFill/>
        </p:spPr>
        <p:txBody>
          <a:bodyPr wrap="square" lIns="45720" rIns="45720" tIns="27432" bIns="27432" anchor="t">
            <a:spAutoFit/>
          </a:bodyPr>
          <a:lstStyle/>
          <a:p>
            <a:pPr algn="l">
              <a:spcAft>
                <a:spcPts val="600"/>
              </a:spcAft>
            </a:pPr>
            <a:r>
              <a:rPr sz="1700" b="0" i="0">
                <a:solidFill>
                  <a:srgbClr val="FFFFFF"/>
                </a:solidFill>
                <a:latin typeface="Calibri"/>
              </a:rPr>
              <a:t>It misses 17%, so the letter cannot be the only channel. Retrain on recent Dutch data before any use.</a:t>
            </a:r>
          </a:p>
        </p:txBody>
      </p:sp>
      <p:sp>
        <p:nvSpPr>
          <p:cNvPr id="12" name="Reco card"/>
          <p:cNvSpPr/>
          <p:nvPr/>
        </p:nvSpPr>
        <p:spPr>
          <a:xfrm>
            <a:off x="6172200" y="3886200"/>
            <a:ext cx="5349240" cy="2011680"/>
          </a:xfrm>
          <a:prstGeom prst="roundRect">
            <a:avLst>
              <a:gd name="adj" fmla="val 8000"/>
            </a:avLst>
          </a:prstGeom>
          <a:solidFill>
            <a:srgbClr val="2A6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23360"/>
            <a:ext cx="4937760" cy="548640"/>
          </a:xfrm>
          <a:prstGeom prst="rect">
            <a:avLst/>
          </a:prstGeom>
          <a:noFill/>
        </p:spPr>
        <p:txBody>
          <a:bodyPr wrap="square" lIns="45720" rIns="45720" tIns="27432" bIns="27432" anchor="t">
            <a:spAutoFit/>
          </a:bodyPr>
          <a:lstStyle/>
          <a:p>
            <a:pPr algn="l">
              <a:spcAft>
                <a:spcPts val="600"/>
              </a:spcAft>
            </a:pPr>
            <a:r>
              <a:rPr sz="2200" b="1" i="0">
                <a:solidFill>
                  <a:srgbClr val="F2A541"/>
                </a:solidFill>
                <a:latin typeface="Cambria"/>
              </a:rPr>
              <a:t>Next step</a:t>
            </a:r>
          </a:p>
        </p:txBody>
      </p:sp>
      <p:sp>
        <p:nvSpPr>
          <p:cNvPr id="14" name="TextBox 13"/>
          <p:cNvSpPr txBox="1"/>
          <p:nvPr/>
        </p:nvSpPr>
        <p:spPr>
          <a:xfrm>
            <a:off x="6400800" y="4617720"/>
            <a:ext cx="4937760" cy="1234440"/>
          </a:xfrm>
          <a:prstGeom prst="rect">
            <a:avLst/>
          </a:prstGeom>
          <a:noFill/>
        </p:spPr>
        <p:txBody>
          <a:bodyPr wrap="square" lIns="45720" rIns="45720" tIns="27432" bIns="27432" anchor="t">
            <a:spAutoFit/>
          </a:bodyPr>
          <a:lstStyle/>
          <a:p>
            <a:pPr algn="l">
              <a:spcAft>
                <a:spcPts val="600"/>
              </a:spcAft>
            </a:pPr>
            <a:r>
              <a:rPr sz="1700" b="0" i="0">
                <a:solidFill>
                  <a:srgbClr val="FFFFFF"/>
                </a:solidFill>
                <a:latin typeface="Calibri"/>
              </a:rPr>
              <a:t>Choose a letter threshold below 50% with cross-validation, and repeat the per-group check.</a:t>
            </a:r>
          </a:p>
        </p:txBody>
      </p:sp>
      <p:sp>
        <p:nvSpPr>
          <p:cNvPr id="15" name="TextBox 14"/>
          <p:cNvSpPr txBox="1"/>
          <p:nvPr/>
        </p:nvSpPr>
        <p:spPr>
          <a:xfrm>
            <a:off x="640080" y="6217920"/>
            <a:ext cx="10911535" cy="457200"/>
          </a:xfrm>
          <a:prstGeom prst="rect">
            <a:avLst/>
          </a:prstGeom>
          <a:noFill/>
        </p:spPr>
        <p:txBody>
          <a:bodyPr wrap="square" lIns="45720" rIns="45720" tIns="27432" bIns="27432" anchor="t">
            <a:spAutoFit/>
          </a:bodyPr>
          <a:lstStyle/>
          <a:p>
            <a:pPr algn="l">
              <a:spcAft>
                <a:spcPts val="600"/>
              </a:spcAft>
            </a:pPr>
            <a:r>
              <a:rPr sz="2000" b="1" i="0">
                <a:solidFill>
                  <a:srgbClr val="EAF3E7"/>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