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Dylan  ·  ~30 seconds
"Good morning. We are Lucas Jansze and Dinh Duy Lan, you can call me Dylan. This is Contract Trap Finder, our project for Hackathon 3, Equal Access, under SDG 10: Reduced Inequalities.
Picture this: you arrive in a new country for work, and on day one someone hands you a stack of papers in a language you can't read. You have a few minutes to sign. The question on our title slide is the only one you have: what am I really signing?
Our tool answers that. It reads the whole bundle, and it sorts what it finds into three kinds of trap. You see them stamped here: unlawful, risky, and below equal pay."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Dylan  ·  ~50 seconds
"Labour migrants who come to the Netherlands through an employment agency are handed several documents at once: an employment contract, a housing agreement, permission to take money from their wages, and often transport and insurance. That happens at a recruitment office days before they leave, or on the day they arrive. It's in Dutch, it's signed in minutes, and often they don't even keep a copy.
This is a real case, reported by EenVandaag in November 2025. A woman working through an agency in a distribution centre pays 125 euros a week for her room, deducted from her wage whatever her hours. By law, housing deductions may be at most 25 percent of the minimum wage. In a week where she only gets 19 hours, that maximum is about 71 euros. So she's paying nearly double what the law allows, and she can't see it, because the rent doesn't change with her hours, but the legal limit does.
Three kinds of trap hide in these bundles: terms that are simply unlawful; terms that are legal but put all the risk on the worker, like housing that ends the day the job ends; and pay below what a Dutch colleague gets for the same work."
SOURCES
- EenVandaag, 26 November 2025: "Arbeidsmigranten moeten vaak meer dan kwart van loon inleveren voor huisvesting, maar dat mag niet". Original quote: "Ik betaal 125 euro per week voor mijn kamer, ongeacht hoeveel uur ik werk... Soms krijg ik maar 19 of 20 uur werk en dan blijft er bijna niets over."
- Ceiling: Besluit minimumloon en minimumvakantiebijslag, art. 2a(1)(a). 25% × 19 h × €14.99 = €71.20; in a 40-hour week it is about €150, so €125 is only unlawful in the short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Dylan  ·  ~35 seconds
"Why is this SDG 10? Because the Netherlands already has the rules: an equal-pay right for agency workers and a legal limit on what can be taken from wages. The inequality is not that the rules are missing. It's that one group of workers can check whether the rules are being followed, and another group can't.
Target 10.3 is about equal opportunity and ending discriminatory practices: the equal-pay right exists on paper, but our users can't check it. Target 10.7 is about safe migration: recruitment fees, debt, and housing that disappears with the job make migration unsafe, and our tool makes those visible before the signature.
Who benefits: first the worker. Then caseworkers at unions and migrant-support organisations, who can triage contracts faster. And agencies that do follow the rules, who stop being undercut by the ones that don't.
To be honest about the limits: the tool enforces nothing and creates no housing. It removes an information gap, which the worker needs before they can act, but it isn't enough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  ~45 seconds
"How big is this group? CBS estimates about 960,000 labour migrants in the Netherlands. According to SEO Economic Research, 683,000 labour migrants worked here at some point in 2024, about 80 percent of them from other EU or EFTA countries. Just over 315,000 of them, almost half, worked through an employment agency. That's our user group.
One honest note on that source: the SEO study was commissioned by ABU and NBBU, the agency sector's own branch organisations. We use it because it's the most precise count there is and its definitions are open, but we want you to know who paid for it.
Our user, specifically: someone aged 20 to 45, from Poland, Romania or Bulgaria, working in logistics, food processing or horticulture. They read on their phone and have a few minutes at a recruitment desk. Their housing, transport and insurance all come through the employer, so they're afraid to complain, because the boss is also the landlord.
Who it's NOT for: employers and agencies, since they could use it to clean up contracts until the report comes back empty. Workers who already have Dutch-language or legal support. And asylum seekers and undocumented workers: different law, and data risks we can't handle responsibly in a one-week prototype."
SOURCES
- CBS, Opvattingen over arbeidsmigranten, published 8 June 2026, ch. 2: "naar schatting 960 duizend arbeidsmigranten" (about 7% of adults, from the Belevingen survey 2025). CBS itself notes the count depends on the definition: 406,000 on a residence of 5 years or less (StatLine, end 2023), 720,000 in the Migrantenmonitor.
- SEO Economisch Onderzoek (Bussink, Ruit &amp; 't Hart), Arbeidsmigranten in de uitzendsector, March 2026, pp. 2 and 8-9: 683,000 labour and knowledge migrants worked in NL in 2024, ~80% EU/EFTA; just over 315,000 as agency workers. Commissioned by ABU and NBBU.
- The two numbers use different definitions (CBS: self-reported survey; SEO: people working within three months of arrival), so the bars show scale, not an exact subset.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  ~45 seconds
"What we built. The input is the documents, as PDF or pasted text, and the language the worker reads. Then five steps.
Step 1 reads the documents into plain text. No AI.
Step 2 is the first Gemini call: every document becomes structured JSON: parties, amounts, dates, deductions, how it ends. Every field must carry the exact sentence it came from.
Step 3 is the second Gemini call: it reads the documents together. Is the landlord the same company as the employer? Does the end of the job also end the housing?
Step 4 is deliberately NOT AI: plain Python checks the extracted terms against 14 legal rules, like the 25 percent deduction limit. Those answers have to be right, not just plausible.
Step 5 is the third Gemini call: it writes the report in the worker's language.
Between steps, our safety code checks every quote against the original document. If the model quotes something that isn't there, it's deleted.
The output is four things: findings with their quotes, an exit timeline, safe questions to ask, and who to contact, plus a sheet they can download.
Why Gemini is necessary: contracts are unstructured, in several languages, and the wording is deliberately indirect. Half the problems are links between two documents. Without the model there is nothing for step 4 to check."
TECHNICAL DETAIL (for questions)
- All calls go through one method, generate_json() in llm/client.py, using Google's google-genai SDK with a JSON schema generated from a Pydantic class. Temperature 0.0 for extraction, 0.1 for reasoning, 0.3 for writing.
- The answer must parse into the Pydantic class or the call fails (LLMInvalidOutput).
- A three-document bundle costs five API calls.
- System prompts are Markdown files: structure.md, cross_reference.md, compose.md.
- The model can't overturn a legal check: deterministic findings go into step 5 with DET- ids and are restored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  ~45 seconds
"Why is this a good fit for this specific group? Each feature answers something the users told reporters themselves.
'We don't speak the language well.' About 80 percent come from other EU countries, and the contract is in Dutch. So the report comes in seven languages, but the quotes stay in the original Dutch, so the worker can point at the exact sentence when they show it to someone.
'We don't know the laws.' Rent above the legal 25 percent limit is reported every week. So we check 14 legal rules in code, each tied to its article, and show the calculation.
'Dependent twice: as boss and as landlord.' That's how FNV describes tied housing. So the tool reads all documents together and shows a dated timeline: if the job ends, what else ends, and when.
'If you complain, you lose your bed.' So we don't tell anyone to complain. We suggest safe questions they can ask in writing, list confidential help first, and they don't need an account.
Why not something simpler? A leaflet can't tell you whether YOUR contract does this. A checklist assumes you can read the contract. A lawyer is the right answer but isn't at the recruitment desk at 8 in the morning. And fixed rules alone catch clumsy contracts but miss the carefully worded ones, and those cause the most harm."
SOURCES (original Dutch)
- EenVandaag 26-11-2025: "We spreken de taal niet goed, we kennen de wetten niet." / "Als je klaagt, word je naar een slechtere woning gestuurd of verlies je je bed."
- FNV 30-10-2025: "Arbeidsmigranten blijven dubbel afhankelijk van hun werkgever – als baas én huisbaas."
- SEO, Arbeidsmigranten in de uitzendsector, March 2026: ~80% EU/EFTA.
- Aanjaagteam Bescherming Arbeidsmigranten (Roemer), Geen tweederangsburgers, 30-10-2020, recommendation 4.4.B: separate employment and rental contracts. Still not law in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SPEAKERS: Lucas drives the laptop, Dylan narrates  ·  ~3.5 minutes
BEFORE THE PRESENTATION
- App already running: streamlit run app.py (http://localhost:8501). Check the sidebar shows the Gemini provider and that 'python cli.py --check-setup' passes.
- Have the demo video open in a second tab as a backup, in case the API is overloaded or out of quota.
DEMO SCRIPT
1. (Dylan) "This is the web app. It's built for a phone: one page, one button." Point at the notice saying to remove personal details, and that the documents go to Google.
2. (Lucas) Choose language: English. Load the example bundle 'bundle_e_en_tied_housing' (agency contract + accommodation annex). Scroll through the annex briefly: this is the text on the slide.
3. (Lucas) Press 'Check these documents'. While it runs: "You can see each step as it happens: reading, structuring with Gemini, cross-referencing, legal checks, composing. It also shows which Gemini model actually answered."
4. (Dylan) Walk through the report:
   - The line at the top: a computer did this reading; talk to a person.
   - An UNLAWFUL finding with its exact quote, e.g. the placement fee of EUR 295 or deductions below the minimum wage (article 4.3).
   - The exit timeline: the contract ends when the placement ends (contract 3.2), the room must be empty within 2 calendar days (annex 3.2), transport lapses, insurance ends at the end of the month.
   - A safe question, e.g. "If I move to a different job later, can I stay in the accommodation?"
   - Who to contact: confidential advice first, and whether the employer will find out.
5. (Lucas) Download the take-away .docx and open it: every question in English and in Dutch, side by side.
IF THE API FAILS: "This is exactly the problem we'll talk about in a minute: the free tier is often overloaded." Switch to the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Dylan  ·  ~45 seconds
"A tool that's meant to reduce inequality can create new harm. Our biggest risk is false reassurance. Our users can't check the output; that's the whole reason the tool exists. If we miss a clause, they sign thinking a computer checked it and it's fine, and then lose their job and their bed on the same day. So the tool never says 'this contract is fine', only 'we didn't find these problems'. If it's unsure, or documents contradict each other, it gives no summary at all and refers to a named organisation. And every report starts with: a computer did this reading, talk to a person.
Second: an invented clause. If the model makes up a clause and the worker confronts their employer about it, they lose credibility. So every quote is checked against the original text in code, and anything we can't find is deleted.
Third: retaliation. Acting on the report can cost the job, the room and the transport in one week. So we never say 'don't sign' or 'quit'. We suggest safe questions and put confidential help before enforcement.
Fourth: privacy. By default the documents go to Google's Gemini API. So we ask users to remove personal details first; no rule needs them. And there's a local mode where nothing leaves the laptop, but it reads contracts less accurately.
Measured: the hosted model found 12 of the 13 traps we planted. But we wrote those contracts ourselves, so that's an upper bound. The next step is testing on real, anonymised contracts with a union."
OTHER RISKS IN ETHICS.md (for questions)
- A confident wrong statement about the law: the model is kept out of legal conclusions entirely (step 4 is plain Python); unverified rules carry a visible caveat.
- Unequal quality across languages: stated beside the language selector; quotes are never translated.
- Used against the people it's for (agencies 'cleaning' contracts): risk categories are about structures, not wordings.
- Replacing the human it should lead to: contacts are in every report, including empty and gated ones.
- Local model gemma3:12b found only 3 of 14 planted rules across the four Dutch bundles, which is why local runs are reported as degraded.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Lucas  ·  ~45 seconds
"How did we build this? We planned the project together with Claude: the problem, the users, and above all which steps the AI may do and which it must NOT do. Then we wrote the code with Claude Code: the Python pipeline, the three system prompts for Gemini, and the Streamlit app. Then we tested: unit tests that don't need an API key, six sample bundles with traps we planted ourselves, and an evaluation script that scores every run.
To be clear about the two tools: Gemini is the AI inside the product, it does steps 2, 3 and 5. Claude was our assistant for building it.
Then came fixing and troubleshooting, and the biggest problem was the Gemini API itself. On the free tier, the best model was often overloaded and returned error 503, sometimes for minutes. And each key only gets about 20 requests per model per day, while one contract check costs five calls.
So we built a fallback: the code tries the best model first, gemini-3.8-flash, and if it's overloaded it moves down the list to worse models, ending with the lite models. If a key runs out of quota, error 429, it switches to the next API key. Because the lite models read contracts noticeably worse, a report written by one is flagged as 'degraded': its confidence is lowered, which can send the user to a person instead. And the report always says which model actually answered.
One more thing we learned: we also had Claude check our own sources against the originals, and four claims didn't hold up, so we corrected them."
TECHNICAL DETAIL (for questions)
- client.py, _call_with_retries: 429 → next key, same model; 503/504/404 → next model in config.MODEL_FALLBACKS; 500 → retry with exponential backoff; 401/403 → drop the key for this run; 400 → stop and show the error.
- Once a model and key answer, the rest of the run starts with them.
- A Pro model is deliberately NOT in the list: on a free key it answers 429 straight away.
- Tests: tests/test_llm_failover.py covers the status-code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Dylan  ·  ~15 seconds
"To sum up: the rules that protect these workers already exist. What was missing was a way for them to check those rules, at the moment they still have a choice. That's what Contract Trap Finder gives them. Thank you. Are there any questions?"
LIKELY QUESTIONS, AND WHO ANSWERS
- "Why Gemini and not Claude or OpenAI?" (Lucas) Allowed by the brief; the free tier was enough for a week of work; strong JSON-schema output. All API code is in one file, so switching provider means replacing one file.
- "How do you know it works on real contracts?" (Dylan) We don't yet: 12/13 on our own bundles is an upper bound. Next step: labelled real contracts via a union.
- "What if the model makes something up?" (Dylan) The quote check in safety.py deletes it; tests/test_pipeline.py has a model that invents a clause.
- "Isn't sending contracts to Google a privacy problem?" (Dylan) Yes, and we say so in five places. Remove personal details first, or use the local Ollama mode.
- "Why is step 4 not AI?" (Lucas) Legal answers must be right, not plausible; the model interprets, plain code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FF5C9A"/>
                </a:solidFill>
                <a:latin typeface="Calibri" pitchFamily="34" charset="0"/>
                <a:ea typeface="Calibri" pitchFamily="34" charset="-122"/>
                <a:cs typeface="Calibri" pitchFamily="34" charset="-120"/>
              </a:rPr>
              <a:t>AI FOR GOOD  ·  HACKATHON 3  ·  EQUAL ACCESS</a:t>
            </a:r>
            <a:endParaRPr lang="en-US" sz="1100" dirty="0"/>
          </a:p>
        </p:txBody>
      </p:sp>
      <p:sp>
        <p:nvSpPr>
          <p:cNvPr id="3" name="Text 1"/>
          <p:cNvSpPr txBox="1"/>
          <p:nvPr/>
        </p:nvSpPr>
        <p:spPr>
          <a:xfrm>
            <a:off x="457200" y="914400"/>
            <a:ext cx="5852160"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Contract Trap Finder</a:t>
            </a:r>
            <a:endParaRPr lang="en-US" sz="4400" dirty="0"/>
          </a:p>
        </p:txBody>
      </p:sp>
      <p:sp>
        <p:nvSpPr>
          <p:cNvPr id="4" name="Text 2"/>
          <p:cNvSpPr txBox="1"/>
          <p:nvPr/>
        </p:nvSpPr>
        <p:spPr>
          <a:xfrm>
            <a:off x="457200" y="1828800"/>
            <a:ext cx="5852160" cy="502920"/>
          </a:xfrm>
          <a:prstGeom prst="rect">
            <a:avLst/>
          </a:prstGeom>
          <a:noFill/>
          <a:ln/>
        </p:spPr>
        <p:txBody>
          <a:bodyPr wrap="square" lIns="0" tIns="0" rIns="0" bIns="0" rtlCol="0" anchor="ctr"/>
          <a:lstStyle/>
          <a:p>
            <a:pPr indent="0" marL="0">
              <a:buNone/>
            </a:pPr>
            <a:r>
              <a:rPr lang="en-US" sz="2400" i="1" dirty="0">
                <a:solidFill>
                  <a:srgbClr val="1B2A41"/>
                </a:solidFill>
                <a:highlight>
                  <a:srgbClr val="FFE45C"/>
                </a:highlight>
                <a:latin typeface="Cambria" pitchFamily="34" charset="0"/>
                <a:ea typeface="Cambria" pitchFamily="34" charset="-122"/>
                <a:cs typeface="Cambria" pitchFamily="34" charset="-120"/>
              </a:rPr>
              <a:t> What am I really signing? </a:t>
            </a:r>
            <a:endParaRPr lang="en-US" sz="2400" dirty="0"/>
          </a:p>
        </p:txBody>
      </p:sp>
      <p:sp>
        <p:nvSpPr>
          <p:cNvPr id="5" name="Text 3"/>
          <p:cNvSpPr txBox="1"/>
          <p:nvPr/>
        </p:nvSpPr>
        <p:spPr>
          <a:xfrm>
            <a:off x="457200" y="2560320"/>
            <a:ext cx="5394960" cy="914400"/>
          </a:xfrm>
          <a:prstGeom prst="rect">
            <a:avLst/>
          </a:prstGeom>
          <a:noFill/>
          <a:ln/>
        </p:spPr>
        <p:txBody>
          <a:bodyPr wrap="square" lIns="0" tIns="0" rIns="0" bIns="0" rtlCol="0" anchor="t"/>
          <a:lstStyle/>
          <a:p>
            <a:pPr indent="0" marL="0">
              <a:lnSpc>
                <a:spcPct val="110000"/>
              </a:lnSpc>
              <a:buNone/>
            </a:pPr>
            <a:r>
              <a:rPr lang="en-US" sz="1500" dirty="0">
                <a:solidFill>
                  <a:srgbClr val="D9DEE7"/>
                </a:solidFill>
                <a:latin typeface="Calibri" pitchFamily="34" charset="0"/>
                <a:ea typeface="Calibri" pitchFamily="34" charset="-122"/>
                <a:cs typeface="Calibri" pitchFamily="34" charset="-120"/>
              </a:rPr>
              <a:t>A Python tool that reads the whole bundle of documents a labour migrant is asked to sign, and shows what is unlawful, what is risky, and where they get less than a Dutch colleague. Before they sign.</a:t>
            </a:r>
            <a:endParaRPr lang="en-US" sz="1500" dirty="0"/>
          </a:p>
        </p:txBody>
      </p:sp>
      <p:sp>
        <p:nvSpPr>
          <p:cNvPr id="6" name="Text 4"/>
          <p:cNvSpPr txBox="1"/>
          <p:nvPr/>
        </p:nvSpPr>
        <p:spPr>
          <a:xfrm>
            <a:off x="457200" y="3931920"/>
            <a:ext cx="4572000" cy="68580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Lucas Jansze</a:t>
            </a:r>
            <a:endParaRPr lang="en-US" sz="1600" dirty="0"/>
          </a:p>
          <a:p>
            <a:pPr indent="0" marL="0">
              <a:buNone/>
            </a:pPr>
            <a:r>
              <a:rPr lang="en-US" sz="1600" b="1" dirty="0">
                <a:solidFill>
                  <a:srgbClr val="FFFFFF"/>
                </a:solidFill>
                <a:latin typeface="Calibri" pitchFamily="34" charset="0"/>
                <a:ea typeface="Calibri" pitchFamily="34" charset="-122"/>
                <a:cs typeface="Calibri" pitchFamily="34" charset="-120"/>
              </a:rPr>
              <a:t>Dinh Duy Lan (Dylan)</a:t>
            </a:r>
            <a:endParaRPr lang="en-US" sz="1600" dirty="0"/>
          </a:p>
        </p:txBody>
      </p:sp>
      <p:sp>
        <p:nvSpPr>
          <p:cNvPr id="7" name="Shape 5"/>
          <p:cNvSpPr/>
          <p:nvPr/>
        </p:nvSpPr>
        <p:spPr>
          <a:xfrm>
            <a:off x="6903720" y="457200"/>
            <a:ext cx="1737360" cy="1737360"/>
          </a:xfrm>
          <a:prstGeom prst="rect">
            <a:avLst/>
          </a:prstGeom>
          <a:solidFill>
            <a:srgbClr val="DD1367"/>
          </a:solidFill>
          <a:ln/>
        </p:spPr>
      </p:sp>
      <p:sp>
        <p:nvSpPr>
          <p:cNvPr id="8" name="Text 6"/>
          <p:cNvSpPr txBox="1"/>
          <p:nvPr/>
        </p:nvSpPr>
        <p:spPr>
          <a:xfrm>
            <a:off x="7042709" y="526694"/>
            <a:ext cx="1389888" cy="868680"/>
          </a:xfrm>
          <a:prstGeom prst="rect">
            <a:avLst/>
          </a:prstGeom>
          <a:noFill/>
          <a:ln/>
        </p:spPr>
        <p:txBody>
          <a:bodyPr wrap="square" lIns="0" tIns="0" rIns="0" bIns="0" rtlCol="0" anchor="t"/>
          <a:lstStyle/>
          <a:p>
            <a:pPr indent="0" marL="0">
              <a:buNone/>
            </a:pPr>
            <a:r>
              <a:rPr lang="en-US" sz="5700" b="1" dirty="0">
                <a:solidFill>
                  <a:srgbClr val="FFFFFF"/>
                </a:solidFill>
                <a:latin typeface="Calibri" pitchFamily="34" charset="0"/>
                <a:ea typeface="Calibri" pitchFamily="34" charset="-122"/>
                <a:cs typeface="Calibri" pitchFamily="34" charset="-120"/>
              </a:rPr>
              <a:t>10</a:t>
            </a:r>
            <a:endParaRPr lang="en-US" sz="5700" dirty="0"/>
          </a:p>
        </p:txBody>
      </p:sp>
      <p:sp>
        <p:nvSpPr>
          <p:cNvPr id="9" name="Text 7"/>
          <p:cNvSpPr txBox="1"/>
          <p:nvPr/>
        </p:nvSpPr>
        <p:spPr>
          <a:xfrm>
            <a:off x="7042709" y="1412748"/>
            <a:ext cx="1528877" cy="660197"/>
          </a:xfrm>
          <a:prstGeom prst="rect">
            <a:avLst/>
          </a:prstGeom>
          <a:noFill/>
          <a:ln/>
        </p:spPr>
        <p:txBody>
          <a:bodyPr wrap="square" lIns="0" tIns="0" rIns="0" bIns="0" rtlCol="0" anchor="b"/>
          <a:lstStyle/>
          <a:p>
            <a:pPr indent="0" marL="0">
              <a:buNone/>
            </a:pPr>
            <a:r>
              <a:rPr lang="en-US" sz="1300" b="1" dirty="0">
                <a:solidFill>
                  <a:srgbClr val="FFFFFF"/>
                </a:solidFill>
                <a:latin typeface="Calibri" pitchFamily="34" charset="0"/>
                <a:ea typeface="Calibri" pitchFamily="34" charset="-122"/>
                <a:cs typeface="Calibri" pitchFamily="34" charset="-120"/>
              </a:rPr>
              <a:t>REDUCED</a:t>
            </a:r>
            <a:endParaRPr lang="en-US" sz="1300" dirty="0"/>
          </a:p>
          <a:p>
            <a:pPr indent="0" marL="0">
              <a:buNone/>
            </a:pPr>
            <a:r>
              <a:rPr lang="en-US" sz="1300" b="1" dirty="0">
                <a:solidFill>
                  <a:srgbClr val="FFFFFF"/>
                </a:solidFill>
                <a:latin typeface="Calibri" pitchFamily="34" charset="0"/>
                <a:ea typeface="Calibri" pitchFamily="34" charset="-122"/>
                <a:cs typeface="Calibri" pitchFamily="34" charset="-120"/>
              </a:rPr>
              <a:t>INEQUALITIES</a:t>
            </a:r>
            <a:endParaRPr lang="en-US" sz="1300" dirty="0"/>
          </a:p>
        </p:txBody>
      </p:sp>
      <p:sp>
        <p:nvSpPr>
          <p:cNvPr id="10" name="Text 8"/>
          <p:cNvSpPr txBox="1"/>
          <p:nvPr/>
        </p:nvSpPr>
        <p:spPr>
          <a:xfrm rot="-420000">
            <a:off x="6400800" y="2606040"/>
            <a:ext cx="1920240" cy="457200"/>
          </a:xfrm>
          <a:prstGeom prst="roundRect">
            <a:avLst>
              <a:gd name="adj" fmla="val 12000"/>
            </a:avLst>
          </a:prstGeom>
          <a:noFill/>
          <a:ln w="28575">
            <a:solidFill>
              <a:srgbClr val="FF7A7A"/>
            </a:solidFill>
          </a:ln>
        </p:spPr>
        <p:txBody>
          <a:bodyPr wrap="square" lIns="0" tIns="0" rIns="0" bIns="0" rtlCol="0" anchor="ctr"/>
          <a:lstStyle/>
          <a:p>
            <a:pPr algn="ctr" indent="0" marL="0">
              <a:buNone/>
            </a:pPr>
            <a:r>
              <a:rPr lang="en-US" sz="1600" b="1" spc="100" kern="0" dirty="0">
                <a:solidFill>
                  <a:srgbClr val="FF7A7A"/>
                </a:solidFill>
                <a:latin typeface="Courier New" pitchFamily="34" charset="0"/>
                <a:ea typeface="Courier New" pitchFamily="34" charset="-122"/>
                <a:cs typeface="Courier New" pitchFamily="34" charset="-120"/>
              </a:rPr>
              <a:t>UNLAWFUL</a:t>
            </a:r>
            <a:endParaRPr lang="en-US" sz="1600" dirty="0"/>
          </a:p>
        </p:txBody>
      </p:sp>
      <p:sp>
        <p:nvSpPr>
          <p:cNvPr id="11" name="Text 9"/>
          <p:cNvSpPr txBox="1"/>
          <p:nvPr/>
        </p:nvSpPr>
        <p:spPr>
          <a:xfrm rot="300000">
            <a:off x="6903720" y="3291840"/>
            <a:ext cx="1417320" cy="457200"/>
          </a:xfrm>
          <a:prstGeom prst="roundRect">
            <a:avLst>
              <a:gd name="adj" fmla="val 12000"/>
            </a:avLst>
          </a:prstGeom>
          <a:noFill/>
          <a:ln w="28575">
            <a:solidFill>
              <a:srgbClr val="FFC15C"/>
            </a:solidFill>
          </a:ln>
        </p:spPr>
        <p:txBody>
          <a:bodyPr wrap="square" lIns="0" tIns="0" rIns="0" bIns="0" rtlCol="0" anchor="ctr"/>
          <a:lstStyle/>
          <a:p>
            <a:pPr algn="ctr" indent="0" marL="0">
              <a:buNone/>
            </a:pPr>
            <a:r>
              <a:rPr lang="en-US" sz="1600" b="1" spc="100" kern="0" dirty="0">
                <a:solidFill>
                  <a:srgbClr val="FFC15C"/>
                </a:solidFill>
                <a:latin typeface="Courier New" pitchFamily="34" charset="0"/>
                <a:ea typeface="Courier New" pitchFamily="34" charset="-122"/>
                <a:cs typeface="Courier New" pitchFamily="34" charset="-120"/>
              </a:rPr>
              <a:t>RISKY</a:t>
            </a:r>
            <a:endParaRPr lang="en-US" sz="1600" dirty="0"/>
          </a:p>
        </p:txBody>
      </p:sp>
      <p:sp>
        <p:nvSpPr>
          <p:cNvPr id="12" name="Text 10"/>
          <p:cNvSpPr txBox="1"/>
          <p:nvPr/>
        </p:nvSpPr>
        <p:spPr>
          <a:xfrm rot="-180000">
            <a:off x="6263640" y="3977640"/>
            <a:ext cx="2423160" cy="457200"/>
          </a:xfrm>
          <a:prstGeom prst="roundRect">
            <a:avLst>
              <a:gd name="adj" fmla="val 12000"/>
            </a:avLst>
          </a:prstGeom>
          <a:noFill/>
          <a:ln w="28575">
            <a:solidFill>
              <a:srgbClr val="8DBBFF"/>
            </a:solidFill>
          </a:ln>
        </p:spPr>
        <p:txBody>
          <a:bodyPr wrap="square" lIns="0" tIns="0" rIns="0" bIns="0" rtlCol="0" anchor="ctr"/>
          <a:lstStyle/>
          <a:p>
            <a:pPr algn="ctr" indent="0" marL="0">
              <a:buNone/>
            </a:pPr>
            <a:r>
              <a:rPr lang="en-US" sz="1600" b="1" spc="100" kern="0" dirty="0">
                <a:solidFill>
                  <a:srgbClr val="8DBBFF"/>
                </a:solidFill>
                <a:latin typeface="Courier New" pitchFamily="34" charset="0"/>
                <a:ea typeface="Courier New" pitchFamily="34" charset="-122"/>
                <a:cs typeface="Courier New" pitchFamily="34" charset="-120"/>
              </a:rPr>
              <a:t>BELOW EQUAL PAY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DD1367"/>
                </a:solidFill>
                <a:latin typeface="Calibri" pitchFamily="34" charset="0"/>
                <a:ea typeface="Calibri" pitchFamily="34" charset="-122"/>
                <a:cs typeface="Calibri" pitchFamily="34" charset="-120"/>
              </a:rPr>
              <a:t>ARTICLE 1  ·  THE PROBLEM</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Four documents, one signature, a few minutes</a:t>
            </a:r>
            <a:endParaRPr lang="en-US" sz="3000" dirty="0"/>
          </a:p>
        </p:txBody>
      </p:sp>
      <p:sp>
        <p:nvSpPr>
          <p:cNvPr id="4" name="Shape 2"/>
          <p:cNvSpPr/>
          <p:nvPr/>
        </p:nvSpPr>
        <p:spPr>
          <a:xfrm>
            <a:off x="457200" y="1389888"/>
            <a:ext cx="457200" cy="457200"/>
          </a:xfrm>
          <a:prstGeom prst="ellipse">
            <a:avLst/>
          </a:prstGeom>
          <a:solidFill>
            <a:srgbClr val="1B2A41"/>
          </a:solidFill>
          <a:ln/>
        </p:spPr>
      </p:sp>
      <p:pic>
        <p:nvPicPr>
          <p:cNvPr id="5" name="Image 0" descr="preencoded.png">    </p:cNvPr>
          <p:cNvPicPr>
            <a:picLocks noChangeAspect="1"/>
          </p:cNvPicPr>
          <p:nvPr/>
        </p:nvPicPr>
        <p:blipFill>
          <a:blip r:embed="rId1"/>
          <a:stretch>
            <a:fillRect/>
          </a:stretch>
        </p:blipFill>
        <p:spPr>
          <a:xfrm>
            <a:off x="576072" y="1508760"/>
            <a:ext cx="219456" cy="219456"/>
          </a:xfrm>
          <a:prstGeom prst="rect">
            <a:avLst/>
          </a:prstGeom>
        </p:spPr>
      </p:pic>
      <p:sp>
        <p:nvSpPr>
          <p:cNvPr id="6" name="Text 3"/>
          <p:cNvSpPr txBox="1"/>
          <p:nvPr/>
        </p:nvSpPr>
        <p:spPr>
          <a:xfrm>
            <a:off x="1051560" y="1371600"/>
            <a:ext cx="3429000" cy="621792"/>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Who</a:t>
            </a:r>
            <a:endParaRPr lang="en-US" sz="1300" dirty="0"/>
          </a:p>
          <a:p>
            <a:pPr indent="0" marL="0">
              <a:buNone/>
            </a:pPr>
            <a:r>
              <a:rPr lang="en-US" sz="1150" dirty="0">
                <a:solidFill>
                  <a:srgbClr val="38445A"/>
                </a:solidFill>
                <a:latin typeface="Calibri" pitchFamily="34" charset="0"/>
                <a:ea typeface="Calibri" pitchFamily="34" charset="-122"/>
                <a:cs typeface="Calibri" pitchFamily="34" charset="-120"/>
              </a:rPr>
              <a:t>Labour migrants placed by Dutch employment agencies</a:t>
            </a:r>
            <a:endParaRPr lang="en-US" sz="1300" dirty="0"/>
          </a:p>
        </p:txBody>
      </p:sp>
      <p:sp>
        <p:nvSpPr>
          <p:cNvPr id="7" name="Shape 4"/>
          <p:cNvSpPr/>
          <p:nvPr/>
        </p:nvSpPr>
        <p:spPr>
          <a:xfrm>
            <a:off x="457200" y="2075688"/>
            <a:ext cx="457200" cy="457200"/>
          </a:xfrm>
          <a:prstGeom prst="ellipse">
            <a:avLst/>
          </a:prstGeom>
          <a:solidFill>
            <a:srgbClr val="1B2A41"/>
          </a:solidFill>
          <a:ln/>
        </p:spPr>
      </p:sp>
      <p:pic>
        <p:nvPicPr>
          <p:cNvPr id="8" name="Image 1" descr="preencoded.png">    </p:cNvPr>
          <p:cNvPicPr>
            <a:picLocks noChangeAspect="1"/>
          </p:cNvPicPr>
          <p:nvPr/>
        </p:nvPicPr>
        <p:blipFill>
          <a:blip r:embed="rId2"/>
          <a:stretch>
            <a:fillRect/>
          </a:stretch>
        </p:blipFill>
        <p:spPr>
          <a:xfrm>
            <a:off x="576072" y="2194560"/>
            <a:ext cx="219456" cy="219456"/>
          </a:xfrm>
          <a:prstGeom prst="rect">
            <a:avLst/>
          </a:prstGeom>
        </p:spPr>
      </p:pic>
      <p:sp>
        <p:nvSpPr>
          <p:cNvPr id="9" name="Text 5"/>
          <p:cNvSpPr txBox="1"/>
          <p:nvPr/>
        </p:nvSpPr>
        <p:spPr>
          <a:xfrm>
            <a:off x="1051560" y="2057400"/>
            <a:ext cx="3429000" cy="621792"/>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Where &amp; when</a:t>
            </a:r>
            <a:endParaRPr lang="en-US" sz="1300" dirty="0"/>
          </a:p>
          <a:p>
            <a:pPr indent="0" marL="0">
              <a:buNone/>
            </a:pPr>
            <a:r>
              <a:rPr lang="en-US" sz="1150" dirty="0">
                <a:solidFill>
                  <a:srgbClr val="38445A"/>
                </a:solidFill>
                <a:latin typeface="Calibri" pitchFamily="34" charset="0"/>
                <a:ea typeface="Calibri" pitchFamily="34" charset="-122"/>
                <a:cs typeface="Calibri" pitchFamily="34" charset="-120"/>
              </a:rPr>
              <a:t>At a recruitment office days before departure, or on the day they arrive</a:t>
            </a:r>
            <a:endParaRPr lang="en-US" sz="1300" dirty="0"/>
          </a:p>
        </p:txBody>
      </p:sp>
      <p:sp>
        <p:nvSpPr>
          <p:cNvPr id="10" name="Shape 6"/>
          <p:cNvSpPr/>
          <p:nvPr/>
        </p:nvSpPr>
        <p:spPr>
          <a:xfrm>
            <a:off x="457200" y="2761488"/>
            <a:ext cx="457200" cy="457200"/>
          </a:xfrm>
          <a:prstGeom prst="ellipse">
            <a:avLst/>
          </a:prstGeom>
          <a:solidFill>
            <a:srgbClr val="1B2A41"/>
          </a:solidFill>
          <a:ln/>
        </p:spPr>
      </p:sp>
      <p:pic>
        <p:nvPicPr>
          <p:cNvPr id="11" name="Image 2" descr="preencoded.png">    </p:cNvPr>
          <p:cNvPicPr>
            <a:picLocks noChangeAspect="1"/>
          </p:cNvPicPr>
          <p:nvPr/>
        </p:nvPicPr>
        <p:blipFill>
          <a:blip r:embed="rId3"/>
          <a:stretch>
            <a:fillRect/>
          </a:stretch>
        </p:blipFill>
        <p:spPr>
          <a:xfrm>
            <a:off x="576072" y="2880360"/>
            <a:ext cx="219456" cy="219456"/>
          </a:xfrm>
          <a:prstGeom prst="rect">
            <a:avLst/>
          </a:prstGeom>
        </p:spPr>
      </p:pic>
      <p:sp>
        <p:nvSpPr>
          <p:cNvPr id="12" name="Text 7"/>
          <p:cNvSpPr txBox="1"/>
          <p:nvPr/>
        </p:nvSpPr>
        <p:spPr>
          <a:xfrm>
            <a:off x="1051560" y="2743200"/>
            <a:ext cx="3429000" cy="621792"/>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What goes wrong</a:t>
            </a:r>
            <a:endParaRPr lang="en-US" sz="1300" dirty="0"/>
          </a:p>
          <a:p>
            <a:pPr indent="0" marL="0">
              <a:buNone/>
            </a:pPr>
            <a:r>
              <a:rPr lang="en-US" sz="1150" dirty="0">
                <a:solidFill>
                  <a:srgbClr val="38445A"/>
                </a:solidFill>
                <a:latin typeface="Calibri" pitchFamily="34" charset="0"/>
                <a:ea typeface="Calibri" pitchFamily="34" charset="-122"/>
                <a:cs typeface="Calibri" pitchFamily="34" charset="-120"/>
              </a:rPr>
              <a:t>A bundle in Dutch (contract, housing, deductions, transport), signed in minutes, often without a copy</a:t>
            </a:r>
            <a:endParaRPr lang="en-US" sz="1300" dirty="0"/>
          </a:p>
        </p:txBody>
      </p:sp>
      <p:sp>
        <p:nvSpPr>
          <p:cNvPr id="13" name="Shape 8"/>
          <p:cNvSpPr/>
          <p:nvPr/>
        </p:nvSpPr>
        <p:spPr>
          <a:xfrm>
            <a:off x="4754880" y="1371600"/>
            <a:ext cx="3931920" cy="2103120"/>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14" name="Text 9"/>
          <p:cNvSpPr txBox="1"/>
          <p:nvPr/>
        </p:nvSpPr>
        <p:spPr>
          <a:xfrm>
            <a:off x="4937760" y="1463040"/>
            <a:ext cx="3566160" cy="228600"/>
          </a:xfrm>
          <a:prstGeom prst="rect">
            <a:avLst/>
          </a:prstGeom>
          <a:noFill/>
          <a:ln/>
        </p:spPr>
        <p:txBody>
          <a:bodyPr wrap="square" lIns="0" tIns="0" rIns="0" bIns="0" rtlCol="0" anchor="ctr"/>
          <a:lstStyle/>
          <a:p>
            <a:pPr indent="0" marL="0">
              <a:buNone/>
            </a:pPr>
            <a:r>
              <a:rPr lang="en-US" sz="950" b="1" spc="100" kern="0" dirty="0">
                <a:solidFill>
                  <a:srgbClr val="5B6475"/>
                </a:solidFill>
                <a:latin typeface="Calibri" pitchFamily="34" charset="0"/>
                <a:ea typeface="Calibri" pitchFamily="34" charset="-122"/>
                <a:cs typeface="Calibri" pitchFamily="34" charset="-120"/>
              </a:rPr>
              <a:t>A REAL CASE  ·  EENVANDAAG, 26 NOV 2025</a:t>
            </a:r>
            <a:endParaRPr lang="en-US" sz="950" dirty="0"/>
          </a:p>
        </p:txBody>
      </p:sp>
      <p:sp>
        <p:nvSpPr>
          <p:cNvPr id="15" name="Text 10"/>
          <p:cNvSpPr txBox="1"/>
          <p:nvPr/>
        </p:nvSpPr>
        <p:spPr>
          <a:xfrm>
            <a:off x="4937760" y="1719072"/>
            <a:ext cx="1280160" cy="548640"/>
          </a:xfrm>
          <a:prstGeom prst="rect">
            <a:avLst/>
          </a:prstGeom>
          <a:noFill/>
          <a:ln/>
        </p:spPr>
        <p:txBody>
          <a:bodyPr wrap="square" lIns="0" tIns="0" rIns="0" bIns="0" rtlCol="0" anchor="ctr"/>
          <a:lstStyle/>
          <a:p>
            <a:pPr indent="0" marL="0">
              <a:buNone/>
            </a:pPr>
            <a:r>
              <a:rPr lang="en-US" sz="3200" b="1" dirty="0">
                <a:solidFill>
                  <a:srgbClr val="C62828"/>
                </a:solidFill>
                <a:latin typeface="Cambria" pitchFamily="34" charset="0"/>
                <a:ea typeface="Cambria" pitchFamily="34" charset="-122"/>
                <a:cs typeface="Cambria" pitchFamily="34" charset="-120"/>
              </a:rPr>
              <a:t>€125</a:t>
            </a:r>
            <a:endParaRPr lang="en-US" sz="3200" dirty="0"/>
          </a:p>
        </p:txBody>
      </p:sp>
      <p:sp>
        <p:nvSpPr>
          <p:cNvPr id="16" name="Text 11"/>
          <p:cNvSpPr txBox="1"/>
          <p:nvPr/>
        </p:nvSpPr>
        <p:spPr>
          <a:xfrm>
            <a:off x="6263640" y="1719072"/>
            <a:ext cx="2286000" cy="54864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rent per week, deducted from her wage however few hours she works</a:t>
            </a:r>
            <a:endParaRPr lang="en-US" sz="1050" dirty="0"/>
          </a:p>
        </p:txBody>
      </p:sp>
      <p:sp>
        <p:nvSpPr>
          <p:cNvPr id="17" name="Text 12"/>
          <p:cNvSpPr txBox="1"/>
          <p:nvPr/>
        </p:nvSpPr>
        <p:spPr>
          <a:xfrm>
            <a:off x="4937760" y="2286000"/>
            <a:ext cx="1280160" cy="548640"/>
          </a:xfrm>
          <a:prstGeom prst="rect">
            <a:avLst/>
          </a:prstGeom>
          <a:noFill/>
          <a:ln/>
        </p:spPr>
        <p:txBody>
          <a:bodyPr wrap="square" lIns="0" tIns="0" rIns="0" bIns="0" rtlCol="0" anchor="ctr"/>
          <a:lstStyle/>
          <a:p>
            <a:pPr indent="0" marL="0">
              <a:buNone/>
            </a:pPr>
            <a:r>
              <a:rPr lang="en-US" sz="3200" b="1" dirty="0">
                <a:solidFill>
                  <a:srgbClr val="1B2A41"/>
                </a:solidFill>
                <a:latin typeface="Cambria" pitchFamily="34" charset="0"/>
                <a:ea typeface="Cambria" pitchFamily="34" charset="-122"/>
                <a:cs typeface="Cambria" pitchFamily="34" charset="-120"/>
              </a:rPr>
              <a:t>€71</a:t>
            </a:r>
            <a:endParaRPr lang="en-US" sz="3200" dirty="0"/>
          </a:p>
        </p:txBody>
      </p:sp>
      <p:sp>
        <p:nvSpPr>
          <p:cNvPr id="18" name="Text 13"/>
          <p:cNvSpPr txBox="1"/>
          <p:nvPr/>
        </p:nvSpPr>
        <p:spPr>
          <a:xfrm>
            <a:off x="6263640" y="2286000"/>
            <a:ext cx="2286000" cy="54864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the legal maximum in her 19-hour week (25% × 19 h × €14.99)</a:t>
            </a:r>
            <a:endParaRPr lang="en-US" sz="1050" dirty="0"/>
          </a:p>
        </p:txBody>
      </p:sp>
      <p:sp>
        <p:nvSpPr>
          <p:cNvPr id="19" name="Text 14"/>
          <p:cNvSpPr txBox="1"/>
          <p:nvPr/>
        </p:nvSpPr>
        <p:spPr>
          <a:xfrm>
            <a:off x="4937760" y="2880360"/>
            <a:ext cx="3611880" cy="502920"/>
          </a:xfrm>
          <a:prstGeom prst="rect">
            <a:avLst/>
          </a:prstGeom>
          <a:noFill/>
          <a:ln/>
        </p:spPr>
        <p:txBody>
          <a:bodyPr wrap="square" lIns="0" tIns="0" rIns="0" bIns="0" rtlCol="0" anchor="ctr"/>
          <a:lstStyle/>
          <a:p>
            <a:pPr indent="0" marL="0">
              <a:buNone/>
            </a:pPr>
            <a:r>
              <a:rPr lang="en-US" sz="1100" i="1" dirty="0">
                <a:solidFill>
                  <a:srgbClr val="38445A"/>
                </a:solidFill>
                <a:latin typeface="Cambria" pitchFamily="34" charset="0"/>
                <a:ea typeface="Cambria" pitchFamily="34" charset="-122"/>
                <a:cs typeface="Cambria" pitchFamily="34" charset="-120"/>
              </a:rPr>
              <a:t>“Sometimes I only get 19 or 20 hours of work, and then there is almost nothing left.”</a:t>
            </a:r>
            <a:endParaRPr lang="en-US" sz="1100" dirty="0"/>
          </a:p>
        </p:txBody>
      </p:sp>
      <p:sp>
        <p:nvSpPr>
          <p:cNvPr id="20" name="Text 15"/>
          <p:cNvSpPr txBox="1"/>
          <p:nvPr/>
        </p:nvSpPr>
        <p:spPr>
          <a:xfrm>
            <a:off x="457200" y="3639312"/>
            <a:ext cx="8229600" cy="256032"/>
          </a:xfrm>
          <a:prstGeom prst="rect">
            <a:avLst/>
          </a:prstGeom>
          <a:noFill/>
          <a:ln/>
        </p:spPr>
        <p:txBody>
          <a:bodyPr wrap="square" lIns="0" tIns="0" rIns="0" bIns="0" rtlCol="0" anchor="ctr"/>
          <a:lstStyle/>
          <a:p>
            <a:pPr indent="0" marL="0">
              <a:buNone/>
            </a:pPr>
            <a:r>
              <a:rPr lang="en-US" sz="1200" b="1" dirty="0">
                <a:solidFill>
                  <a:srgbClr val="1B2A41"/>
                </a:solidFill>
                <a:latin typeface="Calibri" pitchFamily="34" charset="0"/>
                <a:ea typeface="Calibri" pitchFamily="34" charset="-122"/>
                <a:cs typeface="Calibri" pitchFamily="34" charset="-120"/>
              </a:rPr>
              <a:t>Three kinds of trap hide in that bundle</a:t>
            </a:r>
            <a:endParaRPr lang="en-US" sz="1200" dirty="0"/>
          </a:p>
        </p:txBody>
      </p:sp>
      <p:sp>
        <p:nvSpPr>
          <p:cNvPr id="21" name="Text 16"/>
          <p:cNvSpPr txBox="1"/>
          <p:nvPr/>
        </p:nvSpPr>
        <p:spPr>
          <a:xfrm rot="-240000">
            <a:off x="502920" y="4005072"/>
            <a:ext cx="1097280" cy="329184"/>
          </a:xfrm>
          <a:prstGeom prst="roundRect">
            <a:avLst>
              <a:gd name="adj" fmla="val 16667"/>
            </a:avLst>
          </a:prstGeom>
          <a:noFill/>
          <a:ln w="28575">
            <a:solidFill>
              <a:srgbClr val="C62828"/>
            </a:solidFill>
          </a:ln>
        </p:spPr>
        <p:txBody>
          <a:bodyPr wrap="square" lIns="0" tIns="0" rIns="0" bIns="0" rtlCol="0" anchor="ctr"/>
          <a:lstStyle/>
          <a:p>
            <a:pPr algn="ctr" indent="0" marL="0">
              <a:buNone/>
            </a:pPr>
            <a:r>
              <a:rPr lang="en-US" sz="1000" b="1" spc="100" kern="0" dirty="0">
                <a:solidFill>
                  <a:srgbClr val="C62828"/>
                </a:solidFill>
                <a:latin typeface="Courier New" pitchFamily="34" charset="0"/>
                <a:ea typeface="Courier New" pitchFamily="34" charset="-122"/>
                <a:cs typeface="Courier New" pitchFamily="34" charset="-120"/>
              </a:rPr>
              <a:t>UNLAWFUL</a:t>
            </a:r>
            <a:endParaRPr lang="en-US" sz="1000" dirty="0"/>
          </a:p>
        </p:txBody>
      </p:sp>
      <p:sp>
        <p:nvSpPr>
          <p:cNvPr id="22" name="Text 17"/>
          <p:cNvSpPr txBox="1"/>
          <p:nvPr/>
        </p:nvSpPr>
        <p:spPr>
          <a:xfrm>
            <a:off x="1691640" y="3959352"/>
            <a:ext cx="1280160" cy="457200"/>
          </a:xfrm>
          <a:prstGeom prst="rect">
            <a:avLst/>
          </a:prstGeom>
          <a:noFill/>
          <a:ln/>
        </p:spPr>
        <p:txBody>
          <a:bodyPr wrap="square" lIns="0" tIns="0" rIns="0" bIns="0" rtlCol="0" anchor="ctr"/>
          <a:lstStyle/>
          <a:p>
            <a:pPr indent="0" marL="0">
              <a:buNone/>
            </a:pPr>
            <a:r>
              <a:rPr lang="en-US" sz="950" dirty="0">
                <a:solidFill>
                  <a:srgbClr val="38445A"/>
                </a:solidFill>
                <a:latin typeface="Calibri" pitchFamily="34" charset="0"/>
                <a:ea typeface="Calibri" pitchFamily="34" charset="-122"/>
                <a:cs typeface="Calibri" pitchFamily="34" charset="-120"/>
              </a:rPr>
              <a:t>Void, but it works until someone challenges it</a:t>
            </a:r>
            <a:endParaRPr lang="en-US" sz="950" dirty="0"/>
          </a:p>
        </p:txBody>
      </p:sp>
      <p:sp>
        <p:nvSpPr>
          <p:cNvPr id="23" name="Text 18"/>
          <p:cNvSpPr txBox="1"/>
          <p:nvPr/>
        </p:nvSpPr>
        <p:spPr>
          <a:xfrm rot="-240000">
            <a:off x="3063240" y="4005072"/>
            <a:ext cx="1097280" cy="329184"/>
          </a:xfrm>
          <a:prstGeom prst="roundRect">
            <a:avLst>
              <a:gd name="adj" fmla="val 16667"/>
            </a:avLst>
          </a:prstGeom>
          <a:noFill/>
          <a:ln w="28575">
            <a:solidFill>
              <a:srgbClr val="B86E00"/>
            </a:solidFill>
          </a:ln>
        </p:spPr>
        <p:txBody>
          <a:bodyPr wrap="square" lIns="0" tIns="0" rIns="0" bIns="0" rtlCol="0" anchor="ctr"/>
          <a:lstStyle/>
          <a:p>
            <a:pPr algn="ctr" indent="0" marL="0">
              <a:buNone/>
            </a:pPr>
            <a:r>
              <a:rPr lang="en-US" sz="1000" b="1" spc="100" kern="0" dirty="0">
                <a:solidFill>
                  <a:srgbClr val="B86E00"/>
                </a:solidFill>
                <a:latin typeface="Courier New" pitchFamily="34" charset="0"/>
                <a:ea typeface="Courier New" pitchFamily="34" charset="-122"/>
                <a:cs typeface="Courier New" pitchFamily="34" charset="-120"/>
              </a:rPr>
              <a:t>RISKY</a:t>
            </a:r>
            <a:endParaRPr lang="en-US" sz="1000" dirty="0"/>
          </a:p>
        </p:txBody>
      </p:sp>
      <p:sp>
        <p:nvSpPr>
          <p:cNvPr id="24" name="Text 19"/>
          <p:cNvSpPr txBox="1"/>
          <p:nvPr/>
        </p:nvSpPr>
        <p:spPr>
          <a:xfrm>
            <a:off x="4251960" y="3959352"/>
            <a:ext cx="1280160" cy="457200"/>
          </a:xfrm>
          <a:prstGeom prst="rect">
            <a:avLst/>
          </a:prstGeom>
          <a:noFill/>
          <a:ln/>
        </p:spPr>
        <p:txBody>
          <a:bodyPr wrap="square" lIns="0" tIns="0" rIns="0" bIns="0" rtlCol="0" anchor="ctr"/>
          <a:lstStyle/>
          <a:p>
            <a:pPr indent="0" marL="0">
              <a:buNone/>
            </a:pPr>
            <a:r>
              <a:rPr lang="en-US" sz="950" dirty="0">
                <a:solidFill>
                  <a:srgbClr val="38445A"/>
                </a:solidFill>
                <a:latin typeface="Calibri" pitchFamily="34" charset="0"/>
                <a:ea typeface="Calibri" pitchFamily="34" charset="-122"/>
                <a:cs typeface="Calibri" pitchFamily="34" charset="-120"/>
              </a:rPr>
              <a:t>Lawful, but lose the job and you lose your bed too</a:t>
            </a:r>
            <a:endParaRPr lang="en-US" sz="950" dirty="0"/>
          </a:p>
        </p:txBody>
      </p:sp>
      <p:sp>
        <p:nvSpPr>
          <p:cNvPr id="25" name="Text 20"/>
          <p:cNvSpPr txBox="1"/>
          <p:nvPr/>
        </p:nvSpPr>
        <p:spPr>
          <a:xfrm rot="-240000">
            <a:off x="5715000" y="4005072"/>
            <a:ext cx="1463040" cy="329184"/>
          </a:xfrm>
          <a:prstGeom prst="roundRect">
            <a:avLst>
              <a:gd name="adj" fmla="val 16667"/>
            </a:avLst>
          </a:prstGeom>
          <a:noFill/>
          <a:ln w="28575">
            <a:solidFill>
              <a:srgbClr val="2E6DB4"/>
            </a:solidFill>
          </a:ln>
        </p:spPr>
        <p:txBody>
          <a:bodyPr wrap="square" lIns="0" tIns="0" rIns="0" bIns="0" rtlCol="0" anchor="ctr"/>
          <a:lstStyle/>
          <a:p>
            <a:pPr algn="ctr" indent="0" marL="0">
              <a:buNone/>
            </a:pPr>
            <a:r>
              <a:rPr lang="en-US" sz="1000" b="1" spc="100" kern="0" dirty="0">
                <a:solidFill>
                  <a:srgbClr val="2E6DB4"/>
                </a:solidFill>
                <a:latin typeface="Courier New" pitchFamily="34" charset="0"/>
                <a:ea typeface="Courier New" pitchFamily="34" charset="-122"/>
                <a:cs typeface="Courier New" pitchFamily="34" charset="-120"/>
              </a:rPr>
              <a:t>BELOW EQUAL PAY</a:t>
            </a:r>
            <a:endParaRPr lang="en-US" sz="1000" dirty="0"/>
          </a:p>
        </p:txBody>
      </p:sp>
      <p:sp>
        <p:nvSpPr>
          <p:cNvPr id="26" name="Text 21"/>
          <p:cNvSpPr txBox="1"/>
          <p:nvPr/>
        </p:nvSpPr>
        <p:spPr>
          <a:xfrm>
            <a:off x="7269480" y="3959352"/>
            <a:ext cx="1417320" cy="457200"/>
          </a:xfrm>
          <a:prstGeom prst="rect">
            <a:avLst/>
          </a:prstGeom>
          <a:noFill/>
          <a:ln/>
        </p:spPr>
        <p:txBody>
          <a:bodyPr wrap="square" lIns="0" tIns="0" rIns="0" bIns="0" rtlCol="0" anchor="ctr"/>
          <a:lstStyle/>
          <a:p>
            <a:pPr indent="0" marL="0">
              <a:buNone/>
            </a:pPr>
            <a:r>
              <a:rPr lang="en-US" sz="950" dirty="0">
                <a:solidFill>
                  <a:srgbClr val="38445A"/>
                </a:solidFill>
                <a:latin typeface="Calibri" pitchFamily="34" charset="0"/>
                <a:ea typeface="Calibri" pitchFamily="34" charset="-122"/>
                <a:cs typeface="Calibri" pitchFamily="34" charset="-120"/>
              </a:rPr>
              <a:t>Less than a Dutch colleague on the same shift</a:t>
            </a:r>
            <a:endParaRPr lang="en-US" sz="950" dirty="0"/>
          </a:p>
        </p:txBody>
      </p:sp>
      <p:sp>
        <p:nvSpPr>
          <p:cNvPr id="27" name="Text 22"/>
          <p:cNvSpPr txBox="1"/>
          <p:nvPr/>
        </p:nvSpPr>
        <p:spPr>
          <a:xfrm>
            <a:off x="457200" y="4773168"/>
            <a:ext cx="7589520" cy="256032"/>
          </a:xfrm>
          <a:prstGeom prst="rect">
            <a:avLst/>
          </a:prstGeom>
          <a:noFill/>
          <a:ln/>
        </p:spPr>
        <p:txBody>
          <a:bodyPr wrap="square" lIns="0" tIns="0" rIns="0" bIns="0" rtlCol="0" anchor="ctr"/>
          <a:lstStyle/>
          <a:p>
            <a:pPr indent="0" marL="0">
              <a:buNone/>
            </a:pPr>
            <a:r>
              <a:rPr lang="en-US" sz="850" i="1" dirty="0">
                <a:solidFill>
                  <a:srgbClr val="5B6475"/>
                </a:solidFill>
                <a:latin typeface="Calibri" pitchFamily="34" charset="0"/>
                <a:ea typeface="Calibri" pitchFamily="34" charset="-122"/>
                <a:cs typeface="Calibri" pitchFamily="34" charset="-120"/>
              </a:rPr>
              <a:t>Sources: EenVandaag, 26 Nov 2025 (quote translated from Dutch). Ceiling: Besluit minimumloon art. 2a(1)(a), 25% of the minimum wage.</a:t>
            </a:r>
            <a:endParaRPr lang="en-US" sz="850" dirty="0"/>
          </a:p>
        </p:txBody>
      </p:sp>
      <p:sp>
        <p:nvSpPr>
          <p:cNvPr id="28" name="Text 23"/>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DD1367"/>
                </a:solidFill>
                <a:latin typeface="Calibri" pitchFamily="34" charset="0"/>
                <a:ea typeface="Calibri" pitchFamily="34" charset="-122"/>
                <a:cs typeface="Calibri" pitchFamily="34" charset="-120"/>
              </a:rPr>
              <a:t>ARTICLE 2  ·  SDG 10, REDUCED INEQUALITIES</a:t>
            </a:r>
            <a:endParaRPr lang="en-US" sz="1100" dirty="0"/>
          </a:p>
        </p:txBody>
      </p:sp>
      <p:sp>
        <p:nvSpPr>
          <p:cNvPr id="3" name="Shape 1"/>
          <p:cNvSpPr/>
          <p:nvPr/>
        </p:nvSpPr>
        <p:spPr>
          <a:xfrm>
            <a:off x="457200" y="777240"/>
            <a:ext cx="1417320" cy="1417320"/>
          </a:xfrm>
          <a:prstGeom prst="rect">
            <a:avLst/>
          </a:prstGeom>
          <a:solidFill>
            <a:srgbClr val="DD1367"/>
          </a:solidFill>
          <a:ln/>
        </p:spPr>
      </p:sp>
      <p:sp>
        <p:nvSpPr>
          <p:cNvPr id="4" name="Text 2"/>
          <p:cNvSpPr txBox="1"/>
          <p:nvPr/>
        </p:nvSpPr>
        <p:spPr>
          <a:xfrm>
            <a:off x="570586" y="833933"/>
            <a:ext cx="1133856" cy="708660"/>
          </a:xfrm>
          <a:prstGeom prst="rect">
            <a:avLst/>
          </a:prstGeom>
          <a:noFill/>
          <a:ln/>
        </p:spPr>
        <p:txBody>
          <a:bodyPr wrap="square" lIns="0" tIns="0" rIns="0" bIns="0" rtlCol="0" anchor="t"/>
          <a:lstStyle/>
          <a:p>
            <a:pPr indent="0" marL="0">
              <a:buNone/>
            </a:pPr>
            <a:r>
              <a:rPr lang="en-US" sz="4700" b="1" dirty="0">
                <a:solidFill>
                  <a:srgbClr val="FFFFFF"/>
                </a:solidFill>
                <a:latin typeface="Calibri" pitchFamily="34" charset="0"/>
                <a:ea typeface="Calibri" pitchFamily="34" charset="-122"/>
                <a:cs typeface="Calibri" pitchFamily="34" charset="-120"/>
              </a:rPr>
              <a:t>10</a:t>
            </a:r>
            <a:endParaRPr lang="en-US" sz="4700" dirty="0"/>
          </a:p>
        </p:txBody>
      </p:sp>
      <p:sp>
        <p:nvSpPr>
          <p:cNvPr id="5" name="Text 3"/>
          <p:cNvSpPr txBox="1"/>
          <p:nvPr/>
        </p:nvSpPr>
        <p:spPr>
          <a:xfrm>
            <a:off x="570586" y="1556766"/>
            <a:ext cx="1247242" cy="538582"/>
          </a:xfrm>
          <a:prstGeom prst="rect">
            <a:avLst/>
          </a:prstGeom>
          <a:noFill/>
          <a:ln/>
        </p:spPr>
        <p:txBody>
          <a:bodyPr wrap="square" lIns="0" tIns="0" rIns="0" bIns="0" rtlCol="0" anchor="b"/>
          <a:lstStyle/>
          <a:p>
            <a:pPr indent="0" marL="0">
              <a:buNone/>
            </a:pPr>
            <a:r>
              <a:rPr lang="en-US" sz="1100" b="1" dirty="0">
                <a:solidFill>
                  <a:srgbClr val="FFFFFF"/>
                </a:solidFill>
                <a:latin typeface="Calibri" pitchFamily="34" charset="0"/>
                <a:ea typeface="Calibri" pitchFamily="34" charset="-122"/>
                <a:cs typeface="Calibri" pitchFamily="34" charset="-120"/>
              </a:rPr>
              <a:t>REDUCED</a:t>
            </a:r>
            <a:endParaRPr lang="en-US" sz="1100" dirty="0"/>
          </a:p>
          <a:p>
            <a:pPr indent="0" marL="0">
              <a:buNone/>
            </a:pPr>
            <a:r>
              <a:rPr lang="en-US" sz="1100" b="1" dirty="0">
                <a:solidFill>
                  <a:srgbClr val="FFFFFF"/>
                </a:solidFill>
                <a:latin typeface="Calibri" pitchFamily="34" charset="0"/>
                <a:ea typeface="Calibri" pitchFamily="34" charset="-122"/>
                <a:cs typeface="Calibri" pitchFamily="34" charset="-120"/>
              </a:rPr>
              <a:t>INEQUALITIES</a:t>
            </a:r>
            <a:endParaRPr lang="en-US" sz="1100" dirty="0"/>
          </a:p>
        </p:txBody>
      </p:sp>
      <p:sp>
        <p:nvSpPr>
          <p:cNvPr id="6" name="Text 4"/>
          <p:cNvSpPr txBox="1"/>
          <p:nvPr/>
        </p:nvSpPr>
        <p:spPr>
          <a:xfrm>
            <a:off x="2148840" y="777240"/>
            <a:ext cx="6537960" cy="141732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The rules already exist. </a:t>
            </a:r>
            <a:pPr indent="0" marL="0">
              <a:buNone/>
            </a:pPr>
            <a:r>
              <a:rPr lang="en-US" sz="3000" b="1" dirty="0">
                <a:solidFill>
                  <a:srgbClr val="1B2A41"/>
                </a:solidFill>
                <a:latin typeface="Cambria" pitchFamily="34" charset="0"/>
                <a:ea typeface="Cambria" pitchFamily="34" charset="-122"/>
                <a:cs typeface="Cambria" pitchFamily="34" charset="-120"/>
              </a:rPr>
              <a:t>The ability to </a:t>
            </a:r>
            <a:pPr indent="0" marL="0">
              <a:buNone/>
            </a:pPr>
            <a:r>
              <a:rPr lang="en-US" sz="3000" b="1" dirty="0">
                <a:solidFill>
                  <a:srgbClr val="1B2A41"/>
                </a:solidFill>
                <a:highlight>
                  <a:srgbClr val="FFE45C"/>
                </a:highlight>
                <a:latin typeface="Cambria" pitchFamily="34" charset="0"/>
                <a:ea typeface="Cambria" pitchFamily="34" charset="-122"/>
                <a:cs typeface="Cambria" pitchFamily="34" charset="-120"/>
              </a:rPr>
              <a:t>check them</a:t>
            </a:r>
            <a:pPr indent="0" marL="0">
              <a:buNone/>
            </a:pPr>
            <a:r>
              <a:rPr lang="en-US" sz="3000" b="1" dirty="0">
                <a:solidFill>
                  <a:srgbClr val="1B2A41"/>
                </a:solidFill>
                <a:latin typeface="Cambria" pitchFamily="34" charset="0"/>
                <a:ea typeface="Cambria" pitchFamily="34" charset="-122"/>
                <a:cs typeface="Cambria" pitchFamily="34" charset="-120"/>
              </a:rPr>
              <a:t> does not.</a:t>
            </a:r>
            <a:endParaRPr lang="en-US" sz="3000" dirty="0"/>
          </a:p>
        </p:txBody>
      </p:sp>
      <p:sp>
        <p:nvSpPr>
          <p:cNvPr id="7" name="Shape 5"/>
          <p:cNvSpPr/>
          <p:nvPr/>
        </p:nvSpPr>
        <p:spPr>
          <a:xfrm>
            <a:off x="457200" y="2468880"/>
            <a:ext cx="4023360" cy="1417320"/>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640080" y="2578608"/>
            <a:ext cx="822960" cy="411480"/>
          </a:xfrm>
          <a:prstGeom prst="rect">
            <a:avLst/>
          </a:prstGeom>
          <a:noFill/>
          <a:ln/>
        </p:spPr>
        <p:txBody>
          <a:bodyPr wrap="square" lIns="0" tIns="0" rIns="0" bIns="0" rtlCol="0" anchor="ctr"/>
          <a:lstStyle/>
          <a:p>
            <a:pPr indent="0" marL="0">
              <a:buNone/>
            </a:pPr>
            <a:r>
              <a:rPr lang="en-US" sz="2400" b="1" dirty="0">
                <a:solidFill>
                  <a:srgbClr val="DD1367"/>
                </a:solidFill>
                <a:latin typeface="Cambria" pitchFamily="34" charset="0"/>
                <a:ea typeface="Cambria" pitchFamily="34" charset="-122"/>
                <a:cs typeface="Cambria" pitchFamily="34" charset="-120"/>
              </a:rPr>
              <a:t>10.3</a:t>
            </a:r>
            <a:endParaRPr lang="en-US" sz="2400" dirty="0"/>
          </a:p>
        </p:txBody>
      </p:sp>
      <p:sp>
        <p:nvSpPr>
          <p:cNvPr id="9" name="Text 7"/>
          <p:cNvSpPr txBox="1"/>
          <p:nvPr/>
        </p:nvSpPr>
        <p:spPr>
          <a:xfrm>
            <a:off x="1463040" y="2578608"/>
            <a:ext cx="2880360" cy="41148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Equal opportunity, no discrimination</a:t>
            </a:r>
            <a:endParaRPr lang="en-US" sz="1300" dirty="0"/>
          </a:p>
        </p:txBody>
      </p:sp>
      <p:sp>
        <p:nvSpPr>
          <p:cNvPr id="10" name="Text 8"/>
          <p:cNvSpPr txBox="1"/>
          <p:nvPr/>
        </p:nvSpPr>
        <p:spPr>
          <a:xfrm>
            <a:off x="640080" y="3035808"/>
            <a:ext cx="3657600" cy="777240"/>
          </a:xfrm>
          <a:prstGeom prst="rect">
            <a:avLst/>
          </a:prstGeom>
          <a:noFill/>
          <a:ln/>
        </p:spPr>
        <p:txBody>
          <a:bodyPr wrap="square" lIns="0" tIns="0" rIns="0" bIns="0" rtlCol="0" anchor="t"/>
          <a:lstStyle/>
          <a:p>
            <a:pPr indent="0" marL="0">
              <a:buNone/>
            </a:pPr>
            <a:r>
              <a:rPr lang="en-US" sz="1100" dirty="0">
                <a:solidFill>
                  <a:srgbClr val="38445A"/>
                </a:solidFill>
                <a:latin typeface="Calibri" pitchFamily="34" charset="0"/>
                <a:ea typeface="Calibri" pitchFamily="34" charset="-122"/>
                <a:cs typeface="Calibri" pitchFamily="34" charset="-120"/>
              </a:rPr>
              <a:t>Agency workers have a legal right to the same pay as the company's own staff (Waadi art. 8). Most of our users don't know that right exists, and can't check it.</a:t>
            </a:r>
            <a:endParaRPr lang="en-US" sz="1100" dirty="0"/>
          </a:p>
        </p:txBody>
      </p:sp>
      <p:sp>
        <p:nvSpPr>
          <p:cNvPr id="11" name="Shape 9"/>
          <p:cNvSpPr/>
          <p:nvPr/>
        </p:nvSpPr>
        <p:spPr>
          <a:xfrm>
            <a:off x="4663440" y="2468880"/>
            <a:ext cx="4023360" cy="1417320"/>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4846320" y="2578608"/>
            <a:ext cx="822960" cy="411480"/>
          </a:xfrm>
          <a:prstGeom prst="rect">
            <a:avLst/>
          </a:prstGeom>
          <a:noFill/>
          <a:ln/>
        </p:spPr>
        <p:txBody>
          <a:bodyPr wrap="square" lIns="0" tIns="0" rIns="0" bIns="0" rtlCol="0" anchor="ctr"/>
          <a:lstStyle/>
          <a:p>
            <a:pPr indent="0" marL="0">
              <a:buNone/>
            </a:pPr>
            <a:r>
              <a:rPr lang="en-US" sz="2400" b="1" dirty="0">
                <a:solidFill>
                  <a:srgbClr val="DD1367"/>
                </a:solidFill>
                <a:latin typeface="Cambria" pitchFamily="34" charset="0"/>
                <a:ea typeface="Cambria" pitchFamily="34" charset="-122"/>
                <a:cs typeface="Cambria" pitchFamily="34" charset="-120"/>
              </a:rPr>
              <a:t>10.7</a:t>
            </a:r>
            <a:endParaRPr lang="en-US" sz="2400" dirty="0"/>
          </a:p>
        </p:txBody>
      </p:sp>
      <p:sp>
        <p:nvSpPr>
          <p:cNvPr id="13" name="Text 11"/>
          <p:cNvSpPr txBox="1"/>
          <p:nvPr/>
        </p:nvSpPr>
        <p:spPr>
          <a:xfrm>
            <a:off x="5669280" y="2578608"/>
            <a:ext cx="2880360" cy="411480"/>
          </a:xfrm>
          <a:prstGeom prst="rect">
            <a:avLst/>
          </a:prstGeom>
          <a:noFill/>
          <a:ln/>
        </p:spPr>
        <p:txBody>
          <a:bodyPr wrap="square" lIns="0" tIns="0" rIns="0" bIns="0" rtlCol="0" anchor="ctr"/>
          <a:lstStyle/>
          <a:p>
            <a:pPr indent="0" marL="0">
              <a:buNone/>
            </a:pPr>
            <a:r>
              <a:rPr lang="en-US" sz="1300" b="1" dirty="0">
                <a:solidFill>
                  <a:srgbClr val="1B2A41"/>
                </a:solidFill>
                <a:latin typeface="Calibri" pitchFamily="34" charset="0"/>
                <a:ea typeface="Calibri" pitchFamily="34" charset="-122"/>
                <a:cs typeface="Calibri" pitchFamily="34" charset="-120"/>
              </a:rPr>
              <a:t>Safe and orderly migration</a:t>
            </a:r>
            <a:endParaRPr lang="en-US" sz="1300" dirty="0"/>
          </a:p>
        </p:txBody>
      </p:sp>
      <p:sp>
        <p:nvSpPr>
          <p:cNvPr id="14" name="Text 12"/>
          <p:cNvSpPr txBox="1"/>
          <p:nvPr/>
        </p:nvSpPr>
        <p:spPr>
          <a:xfrm>
            <a:off x="4846320" y="3035808"/>
            <a:ext cx="3657600" cy="777240"/>
          </a:xfrm>
          <a:prstGeom prst="rect">
            <a:avLst/>
          </a:prstGeom>
          <a:noFill/>
          <a:ln/>
        </p:spPr>
        <p:txBody>
          <a:bodyPr wrap="square" lIns="0" tIns="0" rIns="0" bIns="0" rtlCol="0" anchor="t"/>
          <a:lstStyle/>
          <a:p>
            <a:pPr indent="0" marL="0">
              <a:buNone/>
            </a:pPr>
            <a:r>
              <a:rPr lang="en-US" sz="1100" dirty="0">
                <a:solidFill>
                  <a:srgbClr val="38445A"/>
                </a:solidFill>
                <a:latin typeface="Calibri" pitchFamily="34" charset="0"/>
                <a:ea typeface="Calibri" pitchFamily="34" charset="-122"/>
                <a:cs typeface="Calibri" pitchFamily="34" charset="-120"/>
              </a:rPr>
              <a:t>Recruitment fees, debt, and housing that ends with the job make labour migration unsafe. The tool shows them before the signature, while there is still a choice.</a:t>
            </a:r>
            <a:endParaRPr lang="en-US" sz="1100" dirty="0"/>
          </a:p>
        </p:txBody>
      </p:sp>
      <p:sp>
        <p:nvSpPr>
          <p:cNvPr id="15" name="Text 13"/>
          <p:cNvSpPr txBox="1"/>
          <p:nvPr/>
        </p:nvSpPr>
        <p:spPr>
          <a:xfrm>
            <a:off x="457200" y="4087368"/>
            <a:ext cx="1280160" cy="457200"/>
          </a:xfrm>
          <a:prstGeom prst="rect">
            <a:avLst/>
          </a:prstGeom>
          <a:noFill/>
          <a:ln/>
        </p:spPr>
        <p:txBody>
          <a:bodyPr wrap="square" lIns="0" tIns="0" rIns="0" bIns="0" rtlCol="0" anchor="ctr"/>
          <a:lstStyle/>
          <a:p>
            <a:pPr indent="0" marL="0">
              <a:buNone/>
            </a:pPr>
            <a:r>
              <a:rPr lang="en-US" sz="1000" b="1" spc="100" kern="0" dirty="0">
                <a:solidFill>
                  <a:srgbClr val="DD1367"/>
                </a:solidFill>
                <a:latin typeface="Calibri" pitchFamily="34" charset="0"/>
                <a:ea typeface="Calibri" pitchFamily="34" charset="-122"/>
                <a:cs typeface="Calibri" pitchFamily="34" charset="-120"/>
              </a:rPr>
              <a:t>WHO BENEFITS</a:t>
            </a:r>
            <a:endParaRPr lang="en-US" sz="1000" dirty="0"/>
          </a:p>
        </p:txBody>
      </p:sp>
      <p:sp>
        <p:nvSpPr>
          <p:cNvPr id="16" name="Shape 14"/>
          <p:cNvSpPr/>
          <p:nvPr/>
        </p:nvSpPr>
        <p:spPr>
          <a:xfrm>
            <a:off x="1737360" y="4069080"/>
            <a:ext cx="2194560" cy="502920"/>
          </a:xfrm>
          <a:prstGeom prst="roundRect">
            <a:avLst>
              <a:gd name="adj" fmla="val 14545"/>
            </a:avLst>
          </a:prstGeom>
          <a:solidFill>
            <a:srgbClr val="F1ECE1"/>
          </a:solidFill>
          <a:ln/>
        </p:spPr>
      </p:sp>
      <p:sp>
        <p:nvSpPr>
          <p:cNvPr id="17" name="Text 15"/>
          <p:cNvSpPr txBox="1"/>
          <p:nvPr/>
        </p:nvSpPr>
        <p:spPr>
          <a:xfrm>
            <a:off x="1828800" y="4069080"/>
            <a:ext cx="2011680" cy="502920"/>
          </a:xfrm>
          <a:prstGeom prst="rect">
            <a:avLst/>
          </a:prstGeom>
          <a:noFill/>
          <a:ln/>
        </p:spPr>
        <p:txBody>
          <a:bodyPr wrap="square" lIns="0" tIns="0" rIns="0" bIns="0" rtlCol="0" anchor="ctr"/>
          <a:lstStyle/>
          <a:p>
            <a:pPr indent="0" marL="0">
              <a:buNone/>
            </a:pPr>
            <a:r>
              <a:rPr lang="en-US" sz="950" b="1" dirty="0">
                <a:solidFill>
                  <a:srgbClr val="1B2A41"/>
                </a:solidFill>
                <a:latin typeface="Calibri" pitchFamily="34" charset="0"/>
                <a:ea typeface="Calibri" pitchFamily="34" charset="-122"/>
                <a:cs typeface="Calibri" pitchFamily="34" charset="-120"/>
              </a:rPr>
              <a:t>Workers: </a:t>
            </a:r>
            <a:pPr indent="0" marL="0">
              <a:buNone/>
            </a:pPr>
            <a:r>
              <a:rPr lang="en-US" sz="950" dirty="0">
                <a:solidFill>
                  <a:srgbClr val="38445A"/>
                </a:solidFill>
                <a:latin typeface="Calibri" pitchFamily="34" charset="0"/>
                <a:ea typeface="Calibri" pitchFamily="34" charset="-122"/>
                <a:cs typeface="Calibri" pitchFamily="34" charset="-120"/>
              </a:rPr>
              <a:t>know what they sign, while they can still choose</a:t>
            </a:r>
            <a:endParaRPr lang="en-US" sz="950" dirty="0"/>
          </a:p>
        </p:txBody>
      </p:sp>
      <p:sp>
        <p:nvSpPr>
          <p:cNvPr id="18" name="Shape 16"/>
          <p:cNvSpPr/>
          <p:nvPr/>
        </p:nvSpPr>
        <p:spPr>
          <a:xfrm>
            <a:off x="4069080" y="4069080"/>
            <a:ext cx="2194560" cy="502920"/>
          </a:xfrm>
          <a:prstGeom prst="roundRect">
            <a:avLst>
              <a:gd name="adj" fmla="val 14545"/>
            </a:avLst>
          </a:prstGeom>
          <a:solidFill>
            <a:srgbClr val="F1ECE1"/>
          </a:solidFill>
          <a:ln/>
        </p:spPr>
      </p:sp>
      <p:sp>
        <p:nvSpPr>
          <p:cNvPr id="19" name="Text 17"/>
          <p:cNvSpPr txBox="1"/>
          <p:nvPr/>
        </p:nvSpPr>
        <p:spPr>
          <a:xfrm>
            <a:off x="4160520" y="4069080"/>
            <a:ext cx="2011680" cy="502920"/>
          </a:xfrm>
          <a:prstGeom prst="rect">
            <a:avLst/>
          </a:prstGeom>
          <a:noFill/>
          <a:ln/>
        </p:spPr>
        <p:txBody>
          <a:bodyPr wrap="square" lIns="0" tIns="0" rIns="0" bIns="0" rtlCol="0" anchor="ctr"/>
          <a:lstStyle/>
          <a:p>
            <a:pPr indent="0" marL="0">
              <a:buNone/>
            </a:pPr>
            <a:r>
              <a:rPr lang="en-US" sz="950" b="1" dirty="0">
                <a:solidFill>
                  <a:srgbClr val="1B2A41"/>
                </a:solidFill>
                <a:latin typeface="Calibri" pitchFamily="34" charset="0"/>
                <a:ea typeface="Calibri" pitchFamily="34" charset="-122"/>
                <a:cs typeface="Calibri" pitchFamily="34" charset="-120"/>
              </a:rPr>
              <a:t>Caseworkers: </a:t>
            </a:r>
            <a:pPr indent="0" marL="0">
              <a:buNone/>
            </a:pPr>
            <a:r>
              <a:rPr lang="en-US" sz="950" dirty="0">
                <a:solidFill>
                  <a:srgbClr val="38445A"/>
                </a:solidFill>
                <a:latin typeface="Calibri" pitchFamily="34" charset="0"/>
                <a:ea typeface="Calibri" pitchFamily="34" charset="-122"/>
                <a:cs typeface="Calibri" pitchFamily="34" charset="-120"/>
              </a:rPr>
              <a:t>at unions: a fast first read of a stack of contracts</a:t>
            </a:r>
            <a:endParaRPr lang="en-US" sz="950" dirty="0"/>
          </a:p>
        </p:txBody>
      </p:sp>
      <p:sp>
        <p:nvSpPr>
          <p:cNvPr id="20" name="Shape 18"/>
          <p:cNvSpPr/>
          <p:nvPr/>
        </p:nvSpPr>
        <p:spPr>
          <a:xfrm>
            <a:off x="6400800" y="4069080"/>
            <a:ext cx="2194560" cy="502920"/>
          </a:xfrm>
          <a:prstGeom prst="roundRect">
            <a:avLst>
              <a:gd name="adj" fmla="val 14545"/>
            </a:avLst>
          </a:prstGeom>
          <a:solidFill>
            <a:srgbClr val="F1ECE1"/>
          </a:solidFill>
          <a:ln/>
        </p:spPr>
      </p:sp>
      <p:sp>
        <p:nvSpPr>
          <p:cNvPr id="21" name="Text 19"/>
          <p:cNvSpPr txBox="1"/>
          <p:nvPr/>
        </p:nvSpPr>
        <p:spPr>
          <a:xfrm>
            <a:off x="6492240" y="4069080"/>
            <a:ext cx="2011680" cy="502920"/>
          </a:xfrm>
          <a:prstGeom prst="rect">
            <a:avLst/>
          </a:prstGeom>
          <a:noFill/>
          <a:ln/>
        </p:spPr>
        <p:txBody>
          <a:bodyPr wrap="square" lIns="0" tIns="0" rIns="0" bIns="0" rtlCol="0" anchor="ctr"/>
          <a:lstStyle/>
          <a:p>
            <a:pPr indent="0" marL="0">
              <a:buNone/>
            </a:pPr>
            <a:r>
              <a:rPr lang="en-US" sz="950" b="1" dirty="0">
                <a:solidFill>
                  <a:srgbClr val="1B2A41"/>
                </a:solidFill>
                <a:latin typeface="Calibri" pitchFamily="34" charset="0"/>
                <a:ea typeface="Calibri" pitchFamily="34" charset="-122"/>
                <a:cs typeface="Calibri" pitchFamily="34" charset="-120"/>
              </a:rPr>
              <a:t>Fair agencies: </a:t>
            </a:r>
            <a:pPr indent="0" marL="0">
              <a:buNone/>
            </a:pPr>
            <a:r>
              <a:rPr lang="en-US" sz="950" dirty="0">
                <a:solidFill>
                  <a:srgbClr val="38445A"/>
                </a:solidFill>
                <a:latin typeface="Calibri" pitchFamily="34" charset="0"/>
                <a:ea typeface="Calibri" pitchFamily="34" charset="-122"/>
                <a:cs typeface="Calibri" pitchFamily="34" charset="-120"/>
              </a:rPr>
              <a:t>stop being undercut by those using these terms</a:t>
            </a:r>
            <a:endParaRPr lang="en-US" sz="950" dirty="0"/>
          </a:p>
        </p:txBody>
      </p:sp>
      <p:sp>
        <p:nvSpPr>
          <p:cNvPr id="22" name="Text 20"/>
          <p:cNvSpPr txBox="1"/>
          <p:nvPr/>
        </p:nvSpPr>
        <p:spPr>
          <a:xfrm>
            <a:off x="457200" y="4773168"/>
            <a:ext cx="7589520" cy="256032"/>
          </a:xfrm>
          <a:prstGeom prst="rect">
            <a:avLst/>
          </a:prstGeom>
          <a:noFill/>
          <a:ln/>
        </p:spPr>
        <p:txBody>
          <a:bodyPr wrap="square" lIns="0" tIns="0" rIns="0" bIns="0" rtlCol="0" anchor="ctr"/>
          <a:lstStyle/>
          <a:p>
            <a:pPr indent="0" marL="0">
              <a:buNone/>
            </a:pPr>
            <a:r>
              <a:rPr lang="en-US" sz="850" i="1" dirty="0">
                <a:solidFill>
                  <a:srgbClr val="5B6475"/>
                </a:solidFill>
                <a:latin typeface="Calibri" pitchFamily="34" charset="0"/>
                <a:ea typeface="Calibri" pitchFamily="34" charset="-122"/>
                <a:cs typeface="Calibri" pitchFamily="34" charset="-120"/>
              </a:rPr>
              <a:t>UN SDG 10, targets 10.3 and 10.7. Wet allocatie arbeidskrachten door intermediairs (Waadi), art. 8: equal treatment of agency workers.</a:t>
            </a:r>
            <a:endParaRPr lang="en-US" sz="850" dirty="0"/>
          </a:p>
        </p:txBody>
      </p:sp>
      <p:sp>
        <p:nvSpPr>
          <p:cNvPr id="23" name="Text 21"/>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DD1367"/>
                </a:solidFill>
                <a:latin typeface="Calibri" pitchFamily="34" charset="0"/>
                <a:ea typeface="Calibri" pitchFamily="34" charset="-122"/>
                <a:cs typeface="Calibri" pitchFamily="34" charset="-120"/>
              </a:rPr>
              <a:t>ARTICLE 3  ·  THE USER GROUP</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Who it's for, and who it isn't</a:t>
            </a:r>
            <a:endParaRPr lang="en-US" sz="3000" dirty="0"/>
          </a:p>
        </p:txBody>
      </p:sp>
      <p:sp>
        <p:nvSpPr>
          <p:cNvPr id="4" name="Shape 2"/>
          <p:cNvSpPr/>
          <p:nvPr/>
        </p:nvSpPr>
        <p:spPr>
          <a:xfrm>
            <a:off x="457200" y="1371600"/>
            <a:ext cx="4572000" cy="384048"/>
          </a:xfrm>
          <a:prstGeom prst="rect">
            <a:avLst/>
          </a:prstGeom>
          <a:solidFill>
            <a:srgbClr val="1B2A41"/>
          </a:solidFill>
          <a:ln/>
        </p:spPr>
      </p:sp>
      <p:sp>
        <p:nvSpPr>
          <p:cNvPr id="5" name="Text 3"/>
          <p:cNvSpPr txBox="1"/>
          <p:nvPr/>
        </p:nvSpPr>
        <p:spPr>
          <a:xfrm>
            <a:off x="548640" y="1371600"/>
            <a:ext cx="118872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960,000</a:t>
            </a:r>
            <a:endParaRPr lang="en-US" sz="1800" dirty="0"/>
          </a:p>
        </p:txBody>
      </p:sp>
      <p:sp>
        <p:nvSpPr>
          <p:cNvPr id="6" name="Text 4"/>
          <p:cNvSpPr txBox="1"/>
          <p:nvPr/>
        </p:nvSpPr>
        <p:spPr>
          <a:xfrm>
            <a:off x="457200" y="1773936"/>
            <a:ext cx="4572000" cy="274320"/>
          </a:xfrm>
          <a:prstGeom prst="rect">
            <a:avLst/>
          </a:prstGeom>
          <a:noFill/>
          <a:ln/>
        </p:spPr>
        <p:txBody>
          <a:bodyPr wrap="square" lIns="0" tIns="0" rIns="0" bIns="0" rtlCol="0" anchor="ctr"/>
          <a:lstStyle/>
          <a:p>
            <a:pPr indent="0" marL="0">
              <a:buNone/>
            </a:pPr>
            <a:r>
              <a:rPr lang="en-US" sz="1050" dirty="0">
                <a:solidFill>
                  <a:srgbClr val="38445A"/>
                </a:solidFill>
                <a:latin typeface="Calibri" pitchFamily="34" charset="0"/>
                <a:ea typeface="Calibri" pitchFamily="34" charset="-122"/>
                <a:cs typeface="Calibri" pitchFamily="34" charset="-120"/>
              </a:rPr>
              <a:t>labour migrants in the Netherlands (CBS, 2026)</a:t>
            </a:r>
            <a:endParaRPr lang="en-US" sz="1050" dirty="0"/>
          </a:p>
        </p:txBody>
      </p:sp>
      <p:sp>
        <p:nvSpPr>
          <p:cNvPr id="7" name="Shape 5"/>
          <p:cNvSpPr/>
          <p:nvPr/>
        </p:nvSpPr>
        <p:spPr>
          <a:xfrm>
            <a:off x="457200" y="2148840"/>
            <a:ext cx="3252788" cy="384048"/>
          </a:xfrm>
          <a:prstGeom prst="rect">
            <a:avLst/>
          </a:prstGeom>
          <a:solidFill>
            <a:srgbClr val="2C3E5C"/>
          </a:solidFill>
          <a:ln/>
        </p:spPr>
      </p:sp>
      <p:sp>
        <p:nvSpPr>
          <p:cNvPr id="8" name="Text 6"/>
          <p:cNvSpPr txBox="1"/>
          <p:nvPr/>
        </p:nvSpPr>
        <p:spPr>
          <a:xfrm>
            <a:off x="548640" y="2148840"/>
            <a:ext cx="118872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683,000</a:t>
            </a:r>
            <a:endParaRPr lang="en-US" sz="1800" dirty="0"/>
          </a:p>
        </p:txBody>
      </p:sp>
      <p:sp>
        <p:nvSpPr>
          <p:cNvPr id="9" name="Text 7"/>
          <p:cNvSpPr txBox="1"/>
          <p:nvPr/>
        </p:nvSpPr>
        <p:spPr>
          <a:xfrm>
            <a:off x="457200" y="2551176"/>
            <a:ext cx="4572000" cy="274320"/>
          </a:xfrm>
          <a:prstGeom prst="rect">
            <a:avLst/>
          </a:prstGeom>
          <a:noFill/>
          <a:ln/>
        </p:spPr>
        <p:txBody>
          <a:bodyPr wrap="square" lIns="0" tIns="0" rIns="0" bIns="0" rtlCol="0" anchor="ctr"/>
          <a:lstStyle/>
          <a:p>
            <a:pPr indent="0" marL="0">
              <a:buNone/>
            </a:pPr>
            <a:r>
              <a:rPr lang="en-US" sz="1050" dirty="0">
                <a:solidFill>
                  <a:srgbClr val="38445A"/>
                </a:solidFill>
                <a:latin typeface="Calibri" pitchFamily="34" charset="0"/>
                <a:ea typeface="Calibri" pitchFamily="34" charset="-122"/>
                <a:cs typeface="Calibri" pitchFamily="34" charset="-120"/>
              </a:rPr>
              <a:t>labour migrants who worked here in 2024; ~80% from the EU/EFTA (SEO, 2026)</a:t>
            </a:r>
            <a:endParaRPr lang="en-US" sz="1050" dirty="0"/>
          </a:p>
        </p:txBody>
      </p:sp>
      <p:sp>
        <p:nvSpPr>
          <p:cNvPr id="10" name="Shape 8"/>
          <p:cNvSpPr/>
          <p:nvPr/>
        </p:nvSpPr>
        <p:spPr>
          <a:xfrm>
            <a:off x="457200" y="2926080"/>
            <a:ext cx="1500188" cy="384048"/>
          </a:xfrm>
          <a:prstGeom prst="rect">
            <a:avLst/>
          </a:prstGeom>
          <a:solidFill>
            <a:srgbClr val="DD1367"/>
          </a:solidFill>
          <a:ln/>
        </p:spPr>
      </p:sp>
      <p:sp>
        <p:nvSpPr>
          <p:cNvPr id="11" name="Text 9"/>
          <p:cNvSpPr txBox="1"/>
          <p:nvPr/>
        </p:nvSpPr>
        <p:spPr>
          <a:xfrm>
            <a:off x="548640" y="2926080"/>
            <a:ext cx="1188720" cy="384048"/>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315,000</a:t>
            </a:r>
            <a:endParaRPr lang="en-US" sz="1800" dirty="0"/>
          </a:p>
        </p:txBody>
      </p:sp>
      <p:sp>
        <p:nvSpPr>
          <p:cNvPr id="12" name="Text 10"/>
          <p:cNvSpPr txBox="1"/>
          <p:nvPr/>
        </p:nvSpPr>
        <p:spPr>
          <a:xfrm>
            <a:off x="457200" y="3328416"/>
            <a:ext cx="4572000" cy="274320"/>
          </a:xfrm>
          <a:prstGeom prst="rect">
            <a:avLst/>
          </a:prstGeom>
          <a:noFill/>
          <a:ln/>
        </p:spPr>
        <p:txBody>
          <a:bodyPr wrap="square" lIns="0" tIns="0" rIns="0" bIns="0" rtlCol="0" anchor="ctr"/>
          <a:lstStyle/>
          <a:p>
            <a:pPr indent="0" marL="0">
              <a:buNone/>
            </a:pPr>
            <a:r>
              <a:rPr lang="en-US" sz="1050" b="1" dirty="0">
                <a:solidFill>
                  <a:srgbClr val="DD1367"/>
                </a:solidFill>
                <a:latin typeface="Calibri" pitchFamily="34" charset="0"/>
                <a:ea typeface="Calibri" pitchFamily="34" charset="-122"/>
                <a:cs typeface="Calibri" pitchFamily="34" charset="-120"/>
              </a:rPr>
              <a:t>of them worked through an agency: our user group (SEO, 2026)</a:t>
            </a:r>
            <a:endParaRPr lang="en-US" sz="1050" dirty="0"/>
          </a:p>
        </p:txBody>
      </p:sp>
      <p:sp>
        <p:nvSpPr>
          <p:cNvPr id="13" name="Shape 11"/>
          <p:cNvSpPr/>
          <p:nvPr/>
        </p:nvSpPr>
        <p:spPr>
          <a:xfrm>
            <a:off x="5303520" y="1325880"/>
            <a:ext cx="3383280" cy="2377440"/>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5486400" y="1417320"/>
            <a:ext cx="3017520" cy="274320"/>
          </a:xfrm>
          <a:prstGeom prst="rect">
            <a:avLst/>
          </a:prstGeom>
          <a:noFill/>
          <a:ln/>
        </p:spPr>
        <p:txBody>
          <a:bodyPr wrap="square" lIns="0" tIns="0" rIns="0" bIns="0" rtlCol="0" anchor="ctr"/>
          <a:lstStyle/>
          <a:p>
            <a:pPr indent="0" marL="0">
              <a:buNone/>
            </a:pPr>
            <a:r>
              <a:rPr lang="en-US" sz="1000" b="1" spc="100" kern="0" dirty="0">
                <a:solidFill>
                  <a:srgbClr val="DD1367"/>
                </a:solidFill>
                <a:latin typeface="Calibri" pitchFamily="34" charset="0"/>
                <a:ea typeface="Calibri" pitchFamily="34" charset="-122"/>
                <a:cs typeface="Calibri" pitchFamily="34" charset="-120"/>
              </a:rPr>
              <a:t>OUR USER</a:t>
            </a:r>
            <a:endParaRPr lang="en-US" sz="1000" dirty="0"/>
          </a:p>
        </p:txBody>
      </p:sp>
      <p:pic>
        <p:nvPicPr>
          <p:cNvPr id="15" name="Image 0" descr="preencoded.png">    </p:cNvPr>
          <p:cNvPicPr>
            <a:picLocks noChangeAspect="1"/>
          </p:cNvPicPr>
          <p:nvPr/>
        </p:nvPicPr>
        <p:blipFill>
          <a:blip r:embed="rId1"/>
          <a:stretch>
            <a:fillRect/>
          </a:stretch>
        </p:blipFill>
        <p:spPr>
          <a:xfrm>
            <a:off x="5486400" y="1819656"/>
            <a:ext cx="219456" cy="219456"/>
          </a:xfrm>
          <a:prstGeom prst="rect">
            <a:avLst/>
          </a:prstGeom>
        </p:spPr>
      </p:pic>
      <p:sp>
        <p:nvSpPr>
          <p:cNvPr id="16" name="Text 13"/>
          <p:cNvSpPr txBox="1"/>
          <p:nvPr/>
        </p:nvSpPr>
        <p:spPr>
          <a:xfrm>
            <a:off x="5833872" y="1755648"/>
            <a:ext cx="2743200" cy="347472"/>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20 to 45, from Poland, Romania or Bulgaria; the contract is in Dutch</a:t>
            </a:r>
            <a:endParaRPr lang="en-US" sz="1000" dirty="0"/>
          </a:p>
        </p:txBody>
      </p:sp>
      <p:pic>
        <p:nvPicPr>
          <p:cNvPr id="17" name="Image 1" descr="preencoded.png">    </p:cNvPr>
          <p:cNvPicPr>
            <a:picLocks noChangeAspect="1"/>
          </p:cNvPicPr>
          <p:nvPr/>
        </p:nvPicPr>
        <p:blipFill>
          <a:blip r:embed="rId2"/>
          <a:stretch>
            <a:fillRect/>
          </a:stretch>
        </p:blipFill>
        <p:spPr>
          <a:xfrm>
            <a:off x="5486400" y="2194560"/>
            <a:ext cx="219456" cy="219456"/>
          </a:xfrm>
          <a:prstGeom prst="rect">
            <a:avLst/>
          </a:prstGeom>
        </p:spPr>
      </p:pic>
      <p:sp>
        <p:nvSpPr>
          <p:cNvPr id="18" name="Text 14"/>
          <p:cNvSpPr txBox="1"/>
          <p:nvPr/>
        </p:nvSpPr>
        <p:spPr>
          <a:xfrm>
            <a:off x="5833872" y="2130552"/>
            <a:ext cx="2743200" cy="347472"/>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Works in logistics, food processing or horticulture</a:t>
            </a:r>
            <a:endParaRPr lang="en-US" sz="1000" dirty="0"/>
          </a:p>
        </p:txBody>
      </p:sp>
      <p:pic>
        <p:nvPicPr>
          <p:cNvPr id="19" name="Image 2" descr="preencoded.png">    </p:cNvPr>
          <p:cNvPicPr>
            <a:picLocks noChangeAspect="1"/>
          </p:cNvPicPr>
          <p:nvPr/>
        </p:nvPicPr>
        <p:blipFill>
          <a:blip r:embed="rId3"/>
          <a:stretch>
            <a:fillRect/>
          </a:stretch>
        </p:blipFill>
        <p:spPr>
          <a:xfrm>
            <a:off x="5486400" y="2569464"/>
            <a:ext cx="219456" cy="219456"/>
          </a:xfrm>
          <a:prstGeom prst="rect">
            <a:avLst/>
          </a:prstGeom>
        </p:spPr>
      </p:pic>
      <p:sp>
        <p:nvSpPr>
          <p:cNvPr id="20" name="Text 15"/>
          <p:cNvSpPr txBox="1"/>
          <p:nvPr/>
        </p:nvSpPr>
        <p:spPr>
          <a:xfrm>
            <a:off x="5833872" y="2505456"/>
            <a:ext cx="2743200" cy="347472"/>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Reads on a phone, has minutes at a desk</a:t>
            </a:r>
            <a:endParaRPr lang="en-US" sz="1000" dirty="0"/>
          </a:p>
        </p:txBody>
      </p:sp>
      <p:pic>
        <p:nvPicPr>
          <p:cNvPr id="21" name="Image 3" descr="preencoded.png">    </p:cNvPr>
          <p:cNvPicPr>
            <a:picLocks noChangeAspect="1"/>
          </p:cNvPicPr>
          <p:nvPr/>
        </p:nvPicPr>
        <p:blipFill>
          <a:blip r:embed="rId4"/>
          <a:stretch>
            <a:fillRect/>
          </a:stretch>
        </p:blipFill>
        <p:spPr>
          <a:xfrm>
            <a:off x="5486400" y="2944368"/>
            <a:ext cx="219456" cy="219456"/>
          </a:xfrm>
          <a:prstGeom prst="rect">
            <a:avLst/>
          </a:prstGeom>
        </p:spPr>
      </p:pic>
      <p:sp>
        <p:nvSpPr>
          <p:cNvPr id="22" name="Text 16"/>
          <p:cNvSpPr txBox="1"/>
          <p:nvPr/>
        </p:nvSpPr>
        <p:spPr>
          <a:xfrm>
            <a:off x="5833872" y="2880360"/>
            <a:ext cx="2743200" cy="347472"/>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Housing, transport and insurance come from the employer</a:t>
            </a:r>
            <a:endParaRPr lang="en-US" sz="1000" dirty="0"/>
          </a:p>
        </p:txBody>
      </p:sp>
      <p:pic>
        <p:nvPicPr>
          <p:cNvPr id="23" name="Image 4" descr="preencoded.png">    </p:cNvPr>
          <p:cNvPicPr>
            <a:picLocks noChangeAspect="1"/>
          </p:cNvPicPr>
          <p:nvPr/>
        </p:nvPicPr>
        <p:blipFill>
          <a:blip r:embed="rId5"/>
          <a:stretch>
            <a:fillRect/>
          </a:stretch>
        </p:blipFill>
        <p:spPr>
          <a:xfrm>
            <a:off x="5486400" y="3319272"/>
            <a:ext cx="219456" cy="219456"/>
          </a:xfrm>
          <a:prstGeom prst="rect">
            <a:avLst/>
          </a:prstGeom>
        </p:spPr>
      </p:pic>
      <p:sp>
        <p:nvSpPr>
          <p:cNvPr id="24" name="Text 17"/>
          <p:cNvSpPr txBox="1"/>
          <p:nvPr/>
        </p:nvSpPr>
        <p:spPr>
          <a:xfrm>
            <a:off x="5833872" y="3255264"/>
            <a:ext cx="2743200" cy="347472"/>
          </a:xfrm>
          <a:prstGeom prst="rect">
            <a:avLst/>
          </a:prstGeom>
          <a:noFill/>
          <a:ln/>
        </p:spPr>
        <p:txBody>
          <a:bodyPr wrap="square" lIns="0" tIns="0" rIns="0" bIns="0" rtlCol="0" anchor="ctr"/>
          <a:lstStyle/>
          <a:p>
            <a:pPr indent="0" marL="0">
              <a:buNone/>
            </a:pPr>
            <a:r>
              <a:rPr lang="en-US" sz="1000" dirty="0">
                <a:solidFill>
                  <a:srgbClr val="1B2A41"/>
                </a:solidFill>
                <a:latin typeface="Calibri" pitchFamily="34" charset="0"/>
                <a:ea typeface="Calibri" pitchFamily="34" charset="-122"/>
                <a:cs typeface="Calibri" pitchFamily="34" charset="-120"/>
              </a:rPr>
              <a:t>Afraid to complain: the boss is also the landlord</a:t>
            </a:r>
            <a:endParaRPr lang="en-US" sz="1000" dirty="0"/>
          </a:p>
        </p:txBody>
      </p:sp>
      <p:sp>
        <p:nvSpPr>
          <p:cNvPr id="25" name="Shape 18"/>
          <p:cNvSpPr/>
          <p:nvPr/>
        </p:nvSpPr>
        <p:spPr>
          <a:xfrm>
            <a:off x="457200" y="3840480"/>
            <a:ext cx="8229600" cy="777240"/>
          </a:xfrm>
          <a:prstGeom prst="rect">
            <a:avLst/>
          </a:prstGeom>
          <a:solidFill>
            <a:srgbClr val="F1ECE1"/>
          </a:solidFill>
          <a:ln/>
        </p:spPr>
      </p:sp>
      <p:pic>
        <p:nvPicPr>
          <p:cNvPr id="26" name="Image 5" descr="preencoded.png">    </p:cNvPr>
          <p:cNvPicPr>
            <a:picLocks noChangeAspect="1"/>
          </p:cNvPicPr>
          <p:nvPr/>
        </p:nvPicPr>
        <p:blipFill>
          <a:blip r:embed="rId6"/>
          <a:stretch>
            <a:fillRect/>
          </a:stretch>
        </p:blipFill>
        <p:spPr>
          <a:xfrm>
            <a:off x="621792" y="4050792"/>
            <a:ext cx="347472" cy="347472"/>
          </a:xfrm>
          <a:prstGeom prst="rect">
            <a:avLst/>
          </a:prstGeom>
        </p:spPr>
      </p:pic>
      <p:sp>
        <p:nvSpPr>
          <p:cNvPr id="27" name="Text 19"/>
          <p:cNvSpPr txBox="1"/>
          <p:nvPr/>
        </p:nvSpPr>
        <p:spPr>
          <a:xfrm>
            <a:off x="1097280" y="3886200"/>
            <a:ext cx="7452360" cy="685800"/>
          </a:xfrm>
          <a:prstGeom prst="rect">
            <a:avLst/>
          </a:prstGeom>
          <a:noFill/>
          <a:ln/>
        </p:spPr>
        <p:txBody>
          <a:bodyPr wrap="square" lIns="0" tIns="0" rIns="0" bIns="0" rtlCol="0" anchor="ctr"/>
          <a:lstStyle/>
          <a:p>
            <a:pPr indent="0" marL="0">
              <a:buNone/>
            </a:pPr>
            <a:r>
              <a:rPr lang="en-US" sz="1050" b="1" dirty="0">
                <a:solidFill>
                  <a:srgbClr val="C62828"/>
                </a:solidFill>
                <a:latin typeface="Calibri" pitchFamily="34" charset="0"/>
                <a:ea typeface="Calibri" pitchFamily="34" charset="-122"/>
                <a:cs typeface="Calibri" pitchFamily="34" charset="-120"/>
              </a:rPr>
              <a:t>Not our users:  </a:t>
            </a:r>
            <a:pPr indent="0" marL="0">
              <a:buNone/>
            </a:pPr>
            <a:r>
              <a:rPr lang="en-US" sz="1050" dirty="0">
                <a:solidFill>
                  <a:srgbClr val="1B2A41"/>
                </a:solidFill>
                <a:latin typeface="Calibri" pitchFamily="34" charset="0"/>
                <a:ea typeface="Calibri" pitchFamily="34" charset="-122"/>
                <a:cs typeface="Calibri" pitchFamily="34" charset="-120"/>
              </a:rPr>
              <a:t>employers and agencies (risk: 'cleaning' contracts until the report is empty) · workers with Dutch-language or legal support · asylum seekers and undocumented workers (a different legal system and data risks we can't handle safely yet)</a:t>
            </a:r>
            <a:endParaRPr lang="en-US" sz="1050" dirty="0"/>
          </a:p>
        </p:txBody>
      </p:sp>
      <p:sp>
        <p:nvSpPr>
          <p:cNvPr id="28" name="Text 20"/>
          <p:cNvSpPr txBox="1"/>
          <p:nvPr/>
        </p:nvSpPr>
        <p:spPr>
          <a:xfrm>
            <a:off x="457200" y="4773168"/>
            <a:ext cx="7589520" cy="256032"/>
          </a:xfrm>
          <a:prstGeom prst="rect">
            <a:avLst/>
          </a:prstGeom>
          <a:noFill/>
          <a:ln/>
        </p:spPr>
        <p:txBody>
          <a:bodyPr wrap="square" lIns="0" tIns="0" rIns="0" bIns="0" rtlCol="0" anchor="ctr"/>
          <a:lstStyle/>
          <a:p>
            <a:pPr indent="0" marL="0">
              <a:buNone/>
            </a:pPr>
            <a:r>
              <a:rPr lang="en-US" sz="850" i="1" dirty="0">
                <a:solidFill>
                  <a:srgbClr val="5B6475"/>
                </a:solidFill>
                <a:latin typeface="Calibri" pitchFamily="34" charset="0"/>
                <a:ea typeface="Calibri" pitchFamily="34" charset="-122"/>
                <a:cs typeface="Calibri" pitchFamily="34" charset="-120"/>
              </a:rPr>
              <a:t>CBS, Opvattingen over arbeidsmigranten (8 Jun 2026). SEO, Arbeidsmigranten in de uitzendsector (Mar 2026), commissioned by ABU/NBBU.</a:t>
            </a:r>
            <a:endParaRPr lang="en-US" sz="850" dirty="0"/>
          </a:p>
        </p:txBody>
      </p:sp>
      <p:sp>
        <p:nvSpPr>
          <p:cNvPr id="29" name="Text 21"/>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DD1367"/>
                </a:solidFill>
                <a:latin typeface="Calibri" pitchFamily="34" charset="0"/>
                <a:ea typeface="Calibri" pitchFamily="34" charset="-122"/>
                <a:cs typeface="Calibri" pitchFamily="34" charset="-120"/>
              </a:rPr>
              <a:t>ARTICLE 4  ·  THE SOLUTION</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Five steps from contract to answer</a:t>
            </a:r>
            <a:endParaRPr lang="en-US" sz="3000" dirty="0"/>
          </a:p>
        </p:txBody>
      </p:sp>
      <p:sp>
        <p:nvSpPr>
          <p:cNvPr id="4" name="Text 2"/>
          <p:cNvSpPr txBox="1"/>
          <p:nvPr/>
        </p:nvSpPr>
        <p:spPr>
          <a:xfrm>
            <a:off x="457200" y="1261872"/>
            <a:ext cx="8229600" cy="274320"/>
          </a:xfrm>
          <a:prstGeom prst="rect">
            <a:avLst/>
          </a:prstGeom>
          <a:noFill/>
          <a:ln/>
        </p:spPr>
        <p:txBody>
          <a:bodyPr wrap="square" lIns="0" tIns="0" rIns="0" bIns="0" rtlCol="0" anchor="ctr"/>
          <a:lstStyle/>
          <a:p>
            <a:pPr indent="0" marL="0">
              <a:buNone/>
            </a:pPr>
            <a:r>
              <a:rPr lang="en-US" sz="1100" b="1" spc="100" kern="0" dirty="0">
                <a:solidFill>
                  <a:srgbClr val="DD1367"/>
                </a:solidFill>
                <a:latin typeface="Calibri" pitchFamily="34" charset="0"/>
                <a:ea typeface="Calibri" pitchFamily="34" charset="-122"/>
                <a:cs typeface="Calibri" pitchFamily="34" charset="-120"/>
              </a:rPr>
              <a:t>INPUT  </a:t>
            </a:r>
            <a:pPr indent="0" marL="0">
              <a:buNone/>
            </a:pPr>
            <a:r>
              <a:rPr lang="en-US" sz="1100" dirty="0">
                <a:solidFill>
                  <a:srgbClr val="1B2A41"/>
                </a:solidFill>
                <a:latin typeface="Calibri" pitchFamily="34" charset="0"/>
                <a:ea typeface="Calibri" pitchFamily="34" charset="-122"/>
                <a:cs typeface="Calibri" pitchFamily="34" charset="-120"/>
              </a:rPr>
              <a:t>the documents (PDF or pasted text) + the language the worker reads</a:t>
            </a:r>
            <a:endParaRPr lang="en-US" sz="1100" dirty="0"/>
          </a:p>
        </p:txBody>
      </p:sp>
      <p:sp>
        <p:nvSpPr>
          <p:cNvPr id="5" name="Shape 3"/>
          <p:cNvSpPr/>
          <p:nvPr/>
        </p:nvSpPr>
        <p:spPr>
          <a:xfrm>
            <a:off x="457200" y="1627632"/>
            <a:ext cx="1481328" cy="1572768"/>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566928" y="1737360"/>
            <a:ext cx="310896" cy="310896"/>
          </a:xfrm>
          <a:prstGeom prst="ellipse">
            <a:avLst/>
          </a:prstGeom>
          <a:solidFill>
            <a:srgbClr val="8A93A3"/>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932688" y="1737360"/>
            <a:ext cx="969264" cy="310896"/>
          </a:xfrm>
          <a:prstGeom prst="rect">
            <a:avLst/>
          </a:prstGeom>
          <a:noFill/>
          <a:ln/>
        </p:spPr>
        <p:txBody>
          <a:bodyPr wrap="square" lIns="0" tIns="0" rIns="0" bIns="0" rtlCol="0" anchor="ctr">
            <a:normAutofit/>
          </a:bodyPr>
          <a:lstStyle/>
          <a:p>
            <a:pPr indent="0" marL="0">
              <a:buNone/>
            </a:pPr>
            <a:r>
              <a:rPr lang="en-US" sz="1050" b="1" dirty="0">
                <a:solidFill>
                  <a:srgbClr val="1B2A41"/>
                </a:solidFill>
                <a:latin typeface="Calibri" pitchFamily="34" charset="0"/>
                <a:ea typeface="Calibri" pitchFamily="34" charset="-122"/>
                <a:cs typeface="Calibri" pitchFamily="34" charset="-120"/>
              </a:rPr>
              <a:t>Ingest</a:t>
            </a:r>
            <a:endParaRPr lang="en-US" sz="1050" dirty="0"/>
          </a:p>
        </p:txBody>
      </p:sp>
      <p:sp>
        <p:nvSpPr>
          <p:cNvPr id="8" name="Text 6"/>
          <p:cNvSpPr txBox="1"/>
          <p:nvPr/>
        </p:nvSpPr>
        <p:spPr>
          <a:xfrm>
            <a:off x="566928" y="2103120"/>
            <a:ext cx="1261872" cy="731520"/>
          </a:xfrm>
          <a:prstGeom prst="rect">
            <a:avLst/>
          </a:prstGeom>
          <a:noFill/>
          <a:ln/>
        </p:spPr>
        <p:txBody>
          <a:bodyPr wrap="square" lIns="0" tIns="0" rIns="0" bIns="0" rtlCol="0" anchor="t"/>
          <a:lstStyle/>
          <a:p>
            <a:pPr indent="0" marL="0">
              <a:buNone/>
            </a:pPr>
            <a:r>
              <a:rPr lang="en-US" sz="950" dirty="0">
                <a:solidFill>
                  <a:srgbClr val="38445A"/>
                </a:solidFill>
                <a:latin typeface="Calibri" pitchFamily="34" charset="0"/>
                <a:ea typeface="Calibri" pitchFamily="34" charset="-122"/>
                <a:cs typeface="Calibri" pitchFamily="34" charset="-120"/>
              </a:rPr>
              <a:t>Reads PDF and text into plain text</a:t>
            </a:r>
            <a:endParaRPr lang="en-US" sz="950" dirty="0"/>
          </a:p>
        </p:txBody>
      </p:sp>
      <p:sp>
        <p:nvSpPr>
          <p:cNvPr id="9" name="Text 7"/>
          <p:cNvSpPr txBox="1"/>
          <p:nvPr/>
        </p:nvSpPr>
        <p:spPr>
          <a:xfrm>
            <a:off x="566928" y="2871216"/>
            <a:ext cx="1261872" cy="237744"/>
          </a:xfrm>
          <a:prstGeom prst="rect">
            <a:avLst/>
          </a:prstGeom>
          <a:solidFill>
            <a:srgbClr val="8A93A3"/>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PYTHON</a:t>
            </a:r>
            <a:endParaRPr lang="en-US" sz="850" dirty="0"/>
          </a:p>
        </p:txBody>
      </p:sp>
      <p:sp>
        <p:nvSpPr>
          <p:cNvPr id="10" name="Shape 8"/>
          <p:cNvSpPr/>
          <p:nvPr/>
        </p:nvSpPr>
        <p:spPr>
          <a:xfrm>
            <a:off x="1965960" y="2322576"/>
            <a:ext cx="150876" cy="182880"/>
          </a:xfrm>
          <a:prstGeom prst="rightArrow">
            <a:avLst/>
          </a:prstGeom>
          <a:solidFill>
            <a:srgbClr val="B9B2A4"/>
          </a:solidFill>
          <a:ln/>
        </p:spPr>
      </p:sp>
      <p:sp>
        <p:nvSpPr>
          <p:cNvPr id="11" name="Shape 9"/>
          <p:cNvSpPr/>
          <p:nvPr/>
        </p:nvSpPr>
        <p:spPr>
          <a:xfrm>
            <a:off x="2144268" y="1627632"/>
            <a:ext cx="1481328" cy="1572768"/>
          </a:xfrm>
          <a:prstGeom prst="rect">
            <a:avLst/>
          </a:prstGeom>
          <a:solidFill>
            <a:srgbClr val="FFFFFF"/>
          </a:solidFill>
          <a:ln w="15875">
            <a:solidFill>
              <a:srgbClr val="DD1367"/>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2253996" y="1737360"/>
            <a:ext cx="310896" cy="310896"/>
          </a:xfrm>
          <a:prstGeom prst="ellipse">
            <a:avLst/>
          </a:prstGeom>
          <a:solidFill>
            <a:srgbClr val="DD1367"/>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2619756" y="1737360"/>
            <a:ext cx="969264" cy="310896"/>
          </a:xfrm>
          <a:prstGeom prst="rect">
            <a:avLst/>
          </a:prstGeom>
          <a:noFill/>
          <a:ln/>
        </p:spPr>
        <p:txBody>
          <a:bodyPr wrap="square" lIns="0" tIns="0" rIns="0" bIns="0" rtlCol="0" anchor="ctr">
            <a:normAutofit/>
          </a:bodyPr>
          <a:lstStyle/>
          <a:p>
            <a:pPr indent="0" marL="0">
              <a:buNone/>
            </a:pPr>
            <a:r>
              <a:rPr lang="en-US" sz="1050" b="1" dirty="0">
                <a:solidFill>
                  <a:srgbClr val="1B2A41"/>
                </a:solidFill>
                <a:latin typeface="Calibri" pitchFamily="34" charset="0"/>
                <a:ea typeface="Calibri" pitchFamily="34" charset="-122"/>
                <a:cs typeface="Calibri" pitchFamily="34" charset="-120"/>
              </a:rPr>
              <a:t>Structure</a:t>
            </a:r>
            <a:endParaRPr lang="en-US" sz="1050" dirty="0"/>
          </a:p>
        </p:txBody>
      </p:sp>
      <p:sp>
        <p:nvSpPr>
          <p:cNvPr id="14" name="Text 12"/>
          <p:cNvSpPr txBox="1"/>
          <p:nvPr/>
        </p:nvSpPr>
        <p:spPr>
          <a:xfrm>
            <a:off x="2253996" y="2103120"/>
            <a:ext cx="1261872" cy="731520"/>
          </a:xfrm>
          <a:prstGeom prst="rect">
            <a:avLst/>
          </a:prstGeom>
          <a:noFill/>
          <a:ln/>
        </p:spPr>
        <p:txBody>
          <a:bodyPr wrap="square" lIns="0" tIns="0" rIns="0" bIns="0" rtlCol="0" anchor="t"/>
          <a:lstStyle/>
          <a:p>
            <a:pPr indent="0" marL="0">
              <a:buNone/>
            </a:pPr>
            <a:r>
              <a:rPr lang="en-US" sz="950" dirty="0">
                <a:solidFill>
                  <a:srgbClr val="38445A"/>
                </a:solidFill>
                <a:latin typeface="Calibri" pitchFamily="34" charset="0"/>
                <a:ea typeface="Calibri" pitchFamily="34" charset="-122"/>
                <a:cs typeface="Calibri" pitchFamily="34" charset="-120"/>
              </a:rPr>
              <a:t>Each document becomes typed JSON; every field carries its exact quote</a:t>
            </a:r>
            <a:endParaRPr lang="en-US" sz="950" dirty="0"/>
          </a:p>
        </p:txBody>
      </p:sp>
      <p:sp>
        <p:nvSpPr>
          <p:cNvPr id="15" name="Text 13"/>
          <p:cNvSpPr txBox="1"/>
          <p:nvPr/>
        </p:nvSpPr>
        <p:spPr>
          <a:xfrm>
            <a:off x="2253996" y="2871216"/>
            <a:ext cx="1261872" cy="237744"/>
          </a:xfrm>
          <a:prstGeom prst="rect">
            <a:avLst/>
          </a:prstGeom>
          <a:solidFill>
            <a:srgbClr val="DD1367"/>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GEMINI API</a:t>
            </a:r>
            <a:endParaRPr lang="en-US" sz="850" dirty="0"/>
          </a:p>
        </p:txBody>
      </p:sp>
      <p:sp>
        <p:nvSpPr>
          <p:cNvPr id="16" name="Shape 14"/>
          <p:cNvSpPr/>
          <p:nvPr/>
        </p:nvSpPr>
        <p:spPr>
          <a:xfrm>
            <a:off x="3653028" y="2322576"/>
            <a:ext cx="150876" cy="182880"/>
          </a:xfrm>
          <a:prstGeom prst="rightArrow">
            <a:avLst/>
          </a:prstGeom>
          <a:solidFill>
            <a:srgbClr val="B9B2A4"/>
          </a:solidFill>
          <a:ln/>
        </p:spPr>
      </p:sp>
      <p:sp>
        <p:nvSpPr>
          <p:cNvPr id="17" name="Shape 15"/>
          <p:cNvSpPr/>
          <p:nvPr/>
        </p:nvSpPr>
        <p:spPr>
          <a:xfrm>
            <a:off x="3831336" y="1627632"/>
            <a:ext cx="1481328" cy="1572768"/>
          </a:xfrm>
          <a:prstGeom prst="rect">
            <a:avLst/>
          </a:prstGeom>
          <a:solidFill>
            <a:srgbClr val="FFFFFF"/>
          </a:solidFill>
          <a:ln w="15875">
            <a:solidFill>
              <a:srgbClr val="DD1367"/>
            </a:solidFill>
            <a:prstDash val="solid"/>
          </a:ln>
          <a:effectLst>
            <a:outerShdw sx="100000" sy="100000" kx="0" ky="0" algn="bl" rotWithShape="0" blurRad="76200" dist="25400" dir="5400000">
              <a:srgbClr val="000000">
                <a:alpha val="12000"/>
              </a:srgbClr>
            </a:outerShdw>
          </a:effectLst>
        </p:spPr>
      </p:sp>
      <p:sp>
        <p:nvSpPr>
          <p:cNvPr id="18" name="Text 16"/>
          <p:cNvSpPr txBox="1"/>
          <p:nvPr/>
        </p:nvSpPr>
        <p:spPr>
          <a:xfrm>
            <a:off x="3941064" y="1737360"/>
            <a:ext cx="310896" cy="310896"/>
          </a:xfrm>
          <a:prstGeom prst="ellipse">
            <a:avLst/>
          </a:prstGeom>
          <a:solidFill>
            <a:srgbClr val="DD1367"/>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4306824" y="1737360"/>
            <a:ext cx="969264" cy="310896"/>
          </a:xfrm>
          <a:prstGeom prst="rect">
            <a:avLst/>
          </a:prstGeom>
          <a:noFill/>
          <a:ln/>
        </p:spPr>
        <p:txBody>
          <a:bodyPr wrap="square" lIns="0" tIns="0" rIns="0" bIns="0" rtlCol="0" anchor="ctr">
            <a:normAutofit/>
          </a:bodyPr>
          <a:lstStyle/>
          <a:p>
            <a:pPr indent="0" marL="0">
              <a:buNone/>
            </a:pPr>
            <a:r>
              <a:rPr lang="en-US" sz="1050" b="1" dirty="0">
                <a:solidFill>
                  <a:srgbClr val="1B2A41"/>
                </a:solidFill>
                <a:latin typeface="Calibri" pitchFamily="34" charset="0"/>
                <a:ea typeface="Calibri" pitchFamily="34" charset="-122"/>
                <a:cs typeface="Calibri" pitchFamily="34" charset="-120"/>
              </a:rPr>
              <a:t>Cross-reference</a:t>
            </a:r>
            <a:endParaRPr lang="en-US" sz="1050" dirty="0"/>
          </a:p>
        </p:txBody>
      </p:sp>
      <p:sp>
        <p:nvSpPr>
          <p:cNvPr id="20" name="Text 18"/>
          <p:cNvSpPr txBox="1"/>
          <p:nvPr/>
        </p:nvSpPr>
        <p:spPr>
          <a:xfrm>
            <a:off x="3941064" y="2103120"/>
            <a:ext cx="1261872" cy="731520"/>
          </a:xfrm>
          <a:prstGeom prst="rect">
            <a:avLst/>
          </a:prstGeom>
          <a:noFill/>
          <a:ln/>
        </p:spPr>
        <p:txBody>
          <a:bodyPr wrap="square" lIns="0" tIns="0" rIns="0" bIns="0" rtlCol="0" anchor="t"/>
          <a:lstStyle/>
          <a:p>
            <a:pPr indent="0" marL="0">
              <a:buNone/>
            </a:pPr>
            <a:r>
              <a:rPr lang="en-US" sz="950" dirty="0">
                <a:solidFill>
                  <a:srgbClr val="38445A"/>
                </a:solidFill>
                <a:latin typeface="Calibri" pitchFamily="34" charset="0"/>
                <a:ea typeface="Calibri" pitchFamily="34" charset="-122"/>
                <a:cs typeface="Calibri" pitchFamily="34" charset="-120"/>
              </a:rPr>
              <a:t>Reads the documents together: same company? what ends when the job ends?</a:t>
            </a:r>
            <a:endParaRPr lang="en-US" sz="950" dirty="0"/>
          </a:p>
        </p:txBody>
      </p:sp>
      <p:sp>
        <p:nvSpPr>
          <p:cNvPr id="21" name="Text 19"/>
          <p:cNvSpPr txBox="1"/>
          <p:nvPr/>
        </p:nvSpPr>
        <p:spPr>
          <a:xfrm>
            <a:off x="3941064" y="2871216"/>
            <a:ext cx="1261872" cy="237744"/>
          </a:xfrm>
          <a:prstGeom prst="rect">
            <a:avLst/>
          </a:prstGeom>
          <a:solidFill>
            <a:srgbClr val="DD1367"/>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GEMINI API</a:t>
            </a:r>
            <a:endParaRPr lang="en-US" sz="850" dirty="0"/>
          </a:p>
        </p:txBody>
      </p:sp>
      <p:sp>
        <p:nvSpPr>
          <p:cNvPr id="22" name="Shape 20"/>
          <p:cNvSpPr/>
          <p:nvPr/>
        </p:nvSpPr>
        <p:spPr>
          <a:xfrm>
            <a:off x="5340096" y="2322576"/>
            <a:ext cx="150876" cy="182880"/>
          </a:xfrm>
          <a:prstGeom prst="rightArrow">
            <a:avLst/>
          </a:prstGeom>
          <a:solidFill>
            <a:srgbClr val="B9B2A4"/>
          </a:solidFill>
          <a:ln/>
        </p:spPr>
      </p:sp>
      <p:sp>
        <p:nvSpPr>
          <p:cNvPr id="23" name="Shape 21"/>
          <p:cNvSpPr/>
          <p:nvPr/>
        </p:nvSpPr>
        <p:spPr>
          <a:xfrm>
            <a:off x="5518404" y="1627632"/>
            <a:ext cx="1481328" cy="1572768"/>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24" name="Text 22"/>
          <p:cNvSpPr txBox="1"/>
          <p:nvPr/>
        </p:nvSpPr>
        <p:spPr>
          <a:xfrm>
            <a:off x="5628132" y="1737360"/>
            <a:ext cx="310896" cy="310896"/>
          </a:xfrm>
          <a:prstGeom prst="ellipse">
            <a:avLst/>
          </a:prstGeom>
          <a:solidFill>
            <a:srgbClr val="1B2A41"/>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5993892" y="1737360"/>
            <a:ext cx="969264" cy="310896"/>
          </a:xfrm>
          <a:prstGeom prst="rect">
            <a:avLst/>
          </a:prstGeom>
          <a:noFill/>
          <a:ln/>
        </p:spPr>
        <p:txBody>
          <a:bodyPr wrap="square" lIns="0" tIns="0" rIns="0" bIns="0" rtlCol="0" anchor="ctr">
            <a:normAutofit/>
          </a:bodyPr>
          <a:lstStyle/>
          <a:p>
            <a:pPr indent="0" marL="0">
              <a:buNone/>
            </a:pPr>
            <a:r>
              <a:rPr lang="en-US" sz="1050" b="1" dirty="0">
                <a:solidFill>
                  <a:srgbClr val="1B2A41"/>
                </a:solidFill>
                <a:latin typeface="Calibri" pitchFamily="34" charset="0"/>
                <a:ea typeface="Calibri" pitchFamily="34" charset="-122"/>
                <a:cs typeface="Calibri" pitchFamily="34" charset="-120"/>
              </a:rPr>
              <a:t>Legal checks</a:t>
            </a:r>
            <a:endParaRPr lang="en-US" sz="1050" dirty="0"/>
          </a:p>
        </p:txBody>
      </p:sp>
      <p:sp>
        <p:nvSpPr>
          <p:cNvPr id="26" name="Text 24"/>
          <p:cNvSpPr txBox="1"/>
          <p:nvPr/>
        </p:nvSpPr>
        <p:spPr>
          <a:xfrm>
            <a:off x="5628132" y="2103120"/>
            <a:ext cx="1261872" cy="731520"/>
          </a:xfrm>
          <a:prstGeom prst="rect">
            <a:avLst/>
          </a:prstGeom>
          <a:noFill/>
          <a:ln/>
        </p:spPr>
        <p:txBody>
          <a:bodyPr wrap="square" lIns="0" tIns="0" rIns="0" bIns="0" rtlCol="0" anchor="t"/>
          <a:lstStyle/>
          <a:p>
            <a:pPr indent="0" marL="0">
              <a:buNone/>
            </a:pPr>
            <a:r>
              <a:rPr lang="en-US" sz="950" dirty="0">
                <a:solidFill>
                  <a:srgbClr val="38445A"/>
                </a:solidFill>
                <a:latin typeface="Calibri" pitchFamily="34" charset="0"/>
                <a:ea typeface="Calibri" pitchFamily="34" charset="-122"/>
                <a:cs typeface="Calibri" pitchFamily="34" charset="-120"/>
              </a:rPr>
              <a:t>14 legal rules as data: fees, the 25% ceiling, penalties. Must be right, not plausible</a:t>
            </a:r>
            <a:endParaRPr lang="en-US" sz="950" dirty="0"/>
          </a:p>
        </p:txBody>
      </p:sp>
      <p:sp>
        <p:nvSpPr>
          <p:cNvPr id="27" name="Text 25"/>
          <p:cNvSpPr txBox="1"/>
          <p:nvPr/>
        </p:nvSpPr>
        <p:spPr>
          <a:xfrm>
            <a:off x="5628132" y="2871216"/>
            <a:ext cx="1261872" cy="237744"/>
          </a:xfrm>
          <a:prstGeom prst="rect">
            <a:avLst/>
          </a:prstGeom>
          <a:solidFill>
            <a:srgbClr val="1B2A41"/>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PYTHON · NO AI</a:t>
            </a:r>
            <a:endParaRPr lang="en-US" sz="850" dirty="0"/>
          </a:p>
        </p:txBody>
      </p:sp>
      <p:sp>
        <p:nvSpPr>
          <p:cNvPr id="28" name="Shape 26"/>
          <p:cNvSpPr/>
          <p:nvPr/>
        </p:nvSpPr>
        <p:spPr>
          <a:xfrm>
            <a:off x="7027164" y="2322576"/>
            <a:ext cx="150876" cy="182880"/>
          </a:xfrm>
          <a:prstGeom prst="rightArrow">
            <a:avLst/>
          </a:prstGeom>
          <a:solidFill>
            <a:srgbClr val="B9B2A4"/>
          </a:solidFill>
          <a:ln/>
        </p:spPr>
      </p:sp>
      <p:sp>
        <p:nvSpPr>
          <p:cNvPr id="29" name="Shape 27"/>
          <p:cNvSpPr/>
          <p:nvPr/>
        </p:nvSpPr>
        <p:spPr>
          <a:xfrm>
            <a:off x="7205472" y="1627632"/>
            <a:ext cx="1481328" cy="1572768"/>
          </a:xfrm>
          <a:prstGeom prst="rect">
            <a:avLst/>
          </a:prstGeom>
          <a:solidFill>
            <a:srgbClr val="FFFFFF"/>
          </a:solidFill>
          <a:ln w="15875">
            <a:solidFill>
              <a:srgbClr val="DD1367"/>
            </a:solidFill>
            <a:prstDash val="solid"/>
          </a:ln>
          <a:effectLst>
            <a:outerShdw sx="100000" sy="100000" kx="0" ky="0" algn="bl" rotWithShape="0" blurRad="76200" dist="25400" dir="5400000">
              <a:srgbClr val="000000">
                <a:alpha val="12000"/>
              </a:srgbClr>
            </a:outerShdw>
          </a:effectLst>
        </p:spPr>
      </p:sp>
      <p:sp>
        <p:nvSpPr>
          <p:cNvPr id="30" name="Text 28"/>
          <p:cNvSpPr txBox="1"/>
          <p:nvPr/>
        </p:nvSpPr>
        <p:spPr>
          <a:xfrm>
            <a:off x="7315200" y="1737360"/>
            <a:ext cx="310896" cy="310896"/>
          </a:xfrm>
          <a:prstGeom prst="ellipse">
            <a:avLst/>
          </a:prstGeom>
          <a:solidFill>
            <a:srgbClr val="DD1367"/>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txBox="1"/>
          <p:nvPr/>
        </p:nvSpPr>
        <p:spPr>
          <a:xfrm>
            <a:off x="7680960" y="1737360"/>
            <a:ext cx="969264" cy="310896"/>
          </a:xfrm>
          <a:prstGeom prst="rect">
            <a:avLst/>
          </a:prstGeom>
          <a:noFill/>
          <a:ln/>
        </p:spPr>
        <p:txBody>
          <a:bodyPr wrap="square" lIns="0" tIns="0" rIns="0" bIns="0" rtlCol="0" anchor="ctr">
            <a:normAutofit/>
          </a:bodyPr>
          <a:lstStyle/>
          <a:p>
            <a:pPr indent="0" marL="0">
              <a:buNone/>
            </a:pPr>
            <a:r>
              <a:rPr lang="en-US" sz="1050" b="1" dirty="0">
                <a:solidFill>
                  <a:srgbClr val="1B2A41"/>
                </a:solidFill>
                <a:latin typeface="Calibri" pitchFamily="34" charset="0"/>
                <a:ea typeface="Calibri" pitchFamily="34" charset="-122"/>
                <a:cs typeface="Calibri" pitchFamily="34" charset="-120"/>
              </a:rPr>
              <a:t>Compose</a:t>
            </a:r>
            <a:endParaRPr lang="en-US" sz="1050" dirty="0"/>
          </a:p>
        </p:txBody>
      </p:sp>
      <p:sp>
        <p:nvSpPr>
          <p:cNvPr id="32" name="Text 30"/>
          <p:cNvSpPr txBox="1"/>
          <p:nvPr/>
        </p:nvSpPr>
        <p:spPr>
          <a:xfrm>
            <a:off x="7315200" y="2103120"/>
            <a:ext cx="1261872" cy="731520"/>
          </a:xfrm>
          <a:prstGeom prst="rect">
            <a:avLst/>
          </a:prstGeom>
          <a:noFill/>
          <a:ln/>
        </p:spPr>
        <p:txBody>
          <a:bodyPr wrap="square" lIns="0" tIns="0" rIns="0" bIns="0" rtlCol="0" anchor="t"/>
          <a:lstStyle/>
          <a:p>
            <a:pPr indent="0" marL="0">
              <a:buNone/>
            </a:pPr>
            <a:r>
              <a:rPr lang="en-US" sz="950" dirty="0">
                <a:solidFill>
                  <a:srgbClr val="38445A"/>
                </a:solidFill>
                <a:latin typeface="Calibri" pitchFamily="34" charset="0"/>
                <a:ea typeface="Calibri" pitchFamily="34" charset="-122"/>
                <a:cs typeface="Calibri" pitchFamily="34" charset="-120"/>
              </a:rPr>
              <a:t>Writes the report in the worker's language (7 languages)</a:t>
            </a:r>
            <a:endParaRPr lang="en-US" sz="950" dirty="0"/>
          </a:p>
        </p:txBody>
      </p:sp>
      <p:sp>
        <p:nvSpPr>
          <p:cNvPr id="33" name="Text 31"/>
          <p:cNvSpPr txBox="1"/>
          <p:nvPr/>
        </p:nvSpPr>
        <p:spPr>
          <a:xfrm>
            <a:off x="7315200" y="2871216"/>
            <a:ext cx="1261872" cy="237744"/>
          </a:xfrm>
          <a:prstGeom prst="rect">
            <a:avLst/>
          </a:prstGeom>
          <a:solidFill>
            <a:srgbClr val="DD1367"/>
          </a:solid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GEMINI API</a:t>
            </a:r>
            <a:endParaRPr lang="en-US" sz="850" dirty="0"/>
          </a:p>
        </p:txBody>
      </p:sp>
      <p:pic>
        <p:nvPicPr>
          <p:cNvPr id="34" name="Image 0" descr="preencoded.png">    </p:cNvPr>
          <p:cNvPicPr>
            <a:picLocks noChangeAspect="1"/>
          </p:cNvPicPr>
          <p:nvPr/>
        </p:nvPicPr>
        <p:blipFill>
          <a:blip r:embed="rId1"/>
          <a:stretch>
            <a:fillRect/>
          </a:stretch>
        </p:blipFill>
        <p:spPr>
          <a:xfrm>
            <a:off x="457200" y="3319272"/>
            <a:ext cx="219456" cy="219456"/>
          </a:xfrm>
          <a:prstGeom prst="rect">
            <a:avLst/>
          </a:prstGeom>
        </p:spPr>
      </p:pic>
      <p:sp>
        <p:nvSpPr>
          <p:cNvPr id="35" name="Text 32"/>
          <p:cNvSpPr txBox="1"/>
          <p:nvPr/>
        </p:nvSpPr>
        <p:spPr>
          <a:xfrm>
            <a:off x="749808" y="3291840"/>
            <a:ext cx="7955280" cy="274320"/>
          </a:xfrm>
          <a:prstGeom prst="rect">
            <a:avLst/>
          </a:prstGeom>
          <a:noFill/>
          <a:ln/>
        </p:spPr>
        <p:txBody>
          <a:bodyPr wrap="square" lIns="0" tIns="0" rIns="0" bIns="0" rtlCol="0" anchor="ctr"/>
          <a:lstStyle/>
          <a:p>
            <a:pPr indent="0" marL="0">
              <a:buNone/>
            </a:pPr>
            <a:r>
              <a:rPr lang="en-US" sz="1050" i="1" dirty="0">
                <a:solidFill>
                  <a:srgbClr val="1B2A41"/>
                </a:solidFill>
                <a:latin typeface="Calibri" pitchFamily="34" charset="0"/>
                <a:ea typeface="Calibri" pitchFamily="34" charset="-122"/>
                <a:cs typeface="Calibri" pitchFamily="34" charset="-120"/>
              </a:rPr>
              <a:t>Between the steps, safety.py checks every quote against the original document and deletes any finding it can't find.</a:t>
            </a:r>
            <a:endParaRPr lang="en-US" sz="1050" dirty="0"/>
          </a:p>
        </p:txBody>
      </p:sp>
      <p:sp>
        <p:nvSpPr>
          <p:cNvPr id="36" name="Text 33"/>
          <p:cNvSpPr txBox="1"/>
          <p:nvPr/>
        </p:nvSpPr>
        <p:spPr>
          <a:xfrm>
            <a:off x="457200" y="3685032"/>
            <a:ext cx="822960" cy="822960"/>
          </a:xfrm>
          <a:prstGeom prst="rect">
            <a:avLst/>
          </a:prstGeom>
          <a:noFill/>
          <a:ln/>
        </p:spPr>
        <p:txBody>
          <a:bodyPr wrap="square" lIns="0" tIns="0" rIns="0" bIns="0" rtlCol="0" anchor="ctr"/>
          <a:lstStyle/>
          <a:p>
            <a:pPr indent="0" marL="0">
              <a:buNone/>
            </a:pPr>
            <a:r>
              <a:rPr lang="en-US" sz="1100" b="1" spc="100" kern="0" dirty="0">
                <a:solidFill>
                  <a:srgbClr val="DD1367"/>
                </a:solidFill>
                <a:latin typeface="Calibri" pitchFamily="34" charset="0"/>
                <a:ea typeface="Calibri" pitchFamily="34" charset="-122"/>
                <a:cs typeface="Calibri" pitchFamily="34" charset="-120"/>
              </a:rPr>
              <a:t>OUTPUT</a:t>
            </a:r>
            <a:endParaRPr lang="en-US" sz="1100" dirty="0"/>
          </a:p>
        </p:txBody>
      </p:sp>
      <p:sp>
        <p:nvSpPr>
          <p:cNvPr id="37" name="Shape 34"/>
          <p:cNvSpPr/>
          <p:nvPr/>
        </p:nvSpPr>
        <p:spPr>
          <a:xfrm>
            <a:off x="1280160" y="3685032"/>
            <a:ext cx="1783080" cy="822960"/>
          </a:xfrm>
          <a:prstGeom prst="roundRect">
            <a:avLst>
              <a:gd name="adj" fmla="val 8889"/>
            </a:avLst>
          </a:prstGeom>
          <a:solidFill>
            <a:srgbClr val="F1ECE1"/>
          </a:solidFill>
          <a:ln/>
        </p:spPr>
      </p:sp>
      <p:sp>
        <p:nvSpPr>
          <p:cNvPr id="38" name="Text 35"/>
          <p:cNvSpPr txBox="1"/>
          <p:nvPr/>
        </p:nvSpPr>
        <p:spPr>
          <a:xfrm>
            <a:off x="1371600" y="3685032"/>
            <a:ext cx="1600200" cy="822960"/>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Findings</a:t>
            </a:r>
            <a:endParaRPr lang="en-US" sz="1100" dirty="0"/>
          </a:p>
          <a:p>
            <a:pPr indent="0" marL="0">
              <a:buNone/>
            </a:pPr>
            <a:r>
              <a:rPr lang="en-US" sz="950" dirty="0">
                <a:solidFill>
                  <a:srgbClr val="38445A"/>
                </a:solidFill>
                <a:latin typeface="Calibri" pitchFamily="34" charset="0"/>
                <a:ea typeface="Calibri" pitchFamily="34" charset="-122"/>
                <a:cs typeface="Calibri" pitchFamily="34" charset="-120"/>
              </a:rPr>
              <a:t>sorted by severity, each with its quote</a:t>
            </a:r>
            <a:endParaRPr lang="en-US" sz="1100" dirty="0"/>
          </a:p>
        </p:txBody>
      </p:sp>
      <p:sp>
        <p:nvSpPr>
          <p:cNvPr id="39" name="Shape 36"/>
          <p:cNvSpPr/>
          <p:nvPr/>
        </p:nvSpPr>
        <p:spPr>
          <a:xfrm>
            <a:off x="3154680" y="3685032"/>
            <a:ext cx="1783080" cy="822960"/>
          </a:xfrm>
          <a:prstGeom prst="roundRect">
            <a:avLst>
              <a:gd name="adj" fmla="val 8889"/>
            </a:avLst>
          </a:prstGeom>
          <a:solidFill>
            <a:srgbClr val="F1ECE1"/>
          </a:solidFill>
          <a:ln/>
        </p:spPr>
      </p:sp>
      <p:sp>
        <p:nvSpPr>
          <p:cNvPr id="40" name="Text 37"/>
          <p:cNvSpPr txBox="1"/>
          <p:nvPr/>
        </p:nvSpPr>
        <p:spPr>
          <a:xfrm>
            <a:off x="3246120" y="3685032"/>
            <a:ext cx="1600200" cy="822960"/>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Exit timeline</a:t>
            </a:r>
            <a:endParaRPr lang="en-US" sz="1100" dirty="0"/>
          </a:p>
          <a:p>
            <a:pPr indent="0" marL="0">
              <a:buNone/>
            </a:pPr>
            <a:r>
              <a:rPr lang="en-US" sz="950" dirty="0">
                <a:solidFill>
                  <a:srgbClr val="38445A"/>
                </a:solidFill>
                <a:latin typeface="Calibri" pitchFamily="34" charset="0"/>
                <a:ea typeface="Calibri" pitchFamily="34" charset="-122"/>
                <a:cs typeface="Calibri" pitchFamily="34" charset="-120"/>
              </a:rPr>
              <a:t>if the job ends, what else ends, and when</a:t>
            </a:r>
            <a:endParaRPr lang="en-US" sz="1100" dirty="0"/>
          </a:p>
        </p:txBody>
      </p:sp>
      <p:sp>
        <p:nvSpPr>
          <p:cNvPr id="41" name="Shape 38"/>
          <p:cNvSpPr/>
          <p:nvPr/>
        </p:nvSpPr>
        <p:spPr>
          <a:xfrm>
            <a:off x="5029200" y="3685032"/>
            <a:ext cx="1783080" cy="822960"/>
          </a:xfrm>
          <a:prstGeom prst="roundRect">
            <a:avLst>
              <a:gd name="adj" fmla="val 8889"/>
            </a:avLst>
          </a:prstGeom>
          <a:solidFill>
            <a:srgbClr val="F1ECE1"/>
          </a:solidFill>
          <a:ln/>
        </p:spPr>
      </p:sp>
      <p:sp>
        <p:nvSpPr>
          <p:cNvPr id="42" name="Text 39"/>
          <p:cNvSpPr txBox="1"/>
          <p:nvPr/>
        </p:nvSpPr>
        <p:spPr>
          <a:xfrm>
            <a:off x="5120640" y="3685032"/>
            <a:ext cx="1600200" cy="822960"/>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Safe questions</a:t>
            </a:r>
            <a:endParaRPr lang="en-US" sz="1100" dirty="0"/>
          </a:p>
          <a:p>
            <a:pPr indent="0" marL="0">
              <a:buNone/>
            </a:pPr>
            <a:r>
              <a:rPr lang="en-US" sz="950" dirty="0">
                <a:solidFill>
                  <a:srgbClr val="38445A"/>
                </a:solidFill>
                <a:latin typeface="Calibri" pitchFamily="34" charset="0"/>
                <a:ea typeface="Calibri" pitchFamily="34" charset="-122"/>
                <a:cs typeface="Calibri" pitchFamily="34" charset="-120"/>
              </a:rPr>
              <a:t>to ask in writing, in both languages</a:t>
            </a:r>
            <a:endParaRPr lang="en-US" sz="1100" dirty="0"/>
          </a:p>
        </p:txBody>
      </p:sp>
      <p:sp>
        <p:nvSpPr>
          <p:cNvPr id="43" name="Shape 40"/>
          <p:cNvSpPr/>
          <p:nvPr/>
        </p:nvSpPr>
        <p:spPr>
          <a:xfrm>
            <a:off x="6903720" y="3685032"/>
            <a:ext cx="1783080" cy="822960"/>
          </a:xfrm>
          <a:prstGeom prst="roundRect">
            <a:avLst>
              <a:gd name="adj" fmla="val 8889"/>
            </a:avLst>
          </a:prstGeom>
          <a:solidFill>
            <a:srgbClr val="F1ECE1"/>
          </a:solidFill>
          <a:ln/>
        </p:spPr>
      </p:sp>
      <p:sp>
        <p:nvSpPr>
          <p:cNvPr id="44" name="Text 41"/>
          <p:cNvSpPr txBox="1"/>
          <p:nvPr/>
        </p:nvSpPr>
        <p:spPr>
          <a:xfrm>
            <a:off x="6995160" y="3685032"/>
            <a:ext cx="1600200" cy="822960"/>
          </a:xfrm>
          <a:prstGeom prst="rect">
            <a:avLst/>
          </a:prstGeom>
          <a:noFill/>
          <a:ln/>
        </p:spPr>
        <p:txBody>
          <a:bodyPr wrap="square" lIns="0" tIns="0" rIns="0" bIns="0" rtlCol="0" anchor="ctr"/>
          <a:lstStyle/>
          <a:p>
            <a:pPr indent="0" marL="0">
              <a:buNone/>
            </a:pPr>
            <a:r>
              <a:rPr lang="en-US" sz="1100" b="1" dirty="0">
                <a:solidFill>
                  <a:srgbClr val="1B2A41"/>
                </a:solidFill>
                <a:latin typeface="Calibri" pitchFamily="34" charset="0"/>
                <a:ea typeface="Calibri" pitchFamily="34" charset="-122"/>
                <a:cs typeface="Calibri" pitchFamily="34" charset="-120"/>
              </a:rPr>
              <a:t>Who to contact</a:t>
            </a:r>
            <a:endParaRPr lang="en-US" sz="1100" dirty="0"/>
          </a:p>
          <a:p>
            <a:pPr indent="0" marL="0">
              <a:buNone/>
            </a:pPr>
            <a:r>
              <a:rPr lang="en-US" sz="950" dirty="0">
                <a:solidFill>
                  <a:srgbClr val="38445A"/>
                </a:solidFill>
                <a:latin typeface="Calibri" pitchFamily="34" charset="0"/>
                <a:ea typeface="Calibri" pitchFamily="34" charset="-122"/>
                <a:cs typeface="Calibri" pitchFamily="34" charset="-120"/>
              </a:rPr>
              <a:t>plus a bilingual .docx sheet</a:t>
            </a:r>
            <a:endParaRPr lang="en-US" sz="1100" dirty="0"/>
          </a:p>
        </p:txBody>
      </p:sp>
      <p:sp>
        <p:nvSpPr>
          <p:cNvPr id="45" name="Text 42"/>
          <p:cNvSpPr txBox="1"/>
          <p:nvPr/>
        </p:nvSpPr>
        <p:spPr>
          <a:xfrm>
            <a:off x="457200" y="4773168"/>
            <a:ext cx="7589520" cy="256032"/>
          </a:xfrm>
          <a:prstGeom prst="rect">
            <a:avLst/>
          </a:prstGeom>
          <a:noFill/>
          <a:ln/>
        </p:spPr>
        <p:txBody>
          <a:bodyPr wrap="square" lIns="0" tIns="0" rIns="0" bIns="0" rtlCol="0" anchor="ctr"/>
          <a:lstStyle/>
          <a:p>
            <a:pPr indent="0" marL="0">
              <a:buNone/>
            </a:pPr>
            <a:r>
              <a:rPr lang="en-US" sz="850" i="1" dirty="0">
                <a:solidFill>
                  <a:srgbClr val="5B6475"/>
                </a:solidFill>
                <a:latin typeface="Calibri" pitchFamily="34" charset="0"/>
                <a:ea typeface="Calibri" pitchFamily="34" charset="-122"/>
                <a:cs typeface="Calibri" pitchFamily="34" charset="-120"/>
              </a:rPr>
              <a:t>Without Gemini there is nothing to check: it turns messy, multilingual contracts into data and links clauses across documents. No keyword search can do that.</a:t>
            </a:r>
            <a:endParaRPr lang="en-US" sz="850" dirty="0"/>
          </a:p>
        </p:txBody>
      </p:sp>
      <p:sp>
        <p:nvSpPr>
          <p:cNvPr id="46" name="Text 43"/>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DD1367"/>
                </a:solidFill>
                <a:latin typeface="Calibri" pitchFamily="34" charset="0"/>
                <a:ea typeface="Calibri" pitchFamily="34" charset="-122"/>
                <a:cs typeface="Calibri" pitchFamily="34" charset="-120"/>
              </a:rPr>
              <a:t>ARTICLE 5  ·  PROBLEM-SOLUTION FIT</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Built for the moment before the signature</a:t>
            </a:r>
            <a:endParaRPr lang="en-US" sz="3000" dirty="0"/>
          </a:p>
        </p:txBody>
      </p:sp>
      <p:sp>
        <p:nvSpPr>
          <p:cNvPr id="4" name="Text 2"/>
          <p:cNvSpPr txBox="1"/>
          <p:nvPr/>
        </p:nvSpPr>
        <p:spPr>
          <a:xfrm>
            <a:off x="457200" y="1243584"/>
            <a:ext cx="4114800" cy="228600"/>
          </a:xfrm>
          <a:prstGeom prst="rect">
            <a:avLst/>
          </a:prstGeom>
          <a:noFill/>
          <a:ln/>
        </p:spPr>
        <p:txBody>
          <a:bodyPr wrap="square" lIns="0" tIns="0" rIns="0" bIns="0" rtlCol="0" anchor="ctr"/>
          <a:lstStyle/>
          <a:p>
            <a:pPr indent="0" marL="0">
              <a:buNone/>
            </a:pPr>
            <a:r>
              <a:rPr lang="en-US" sz="950" b="1" spc="100" kern="0" dirty="0">
                <a:solidFill>
                  <a:srgbClr val="DD1367"/>
                </a:solidFill>
                <a:latin typeface="Calibri" pitchFamily="34" charset="0"/>
                <a:ea typeface="Calibri" pitchFamily="34" charset="-122"/>
                <a:cs typeface="Calibri" pitchFamily="34" charset="-120"/>
              </a:rPr>
              <a:t>THEIR REALITY</a:t>
            </a:r>
            <a:endParaRPr lang="en-US" sz="950" dirty="0"/>
          </a:p>
        </p:txBody>
      </p:sp>
      <p:sp>
        <p:nvSpPr>
          <p:cNvPr id="5" name="Text 3"/>
          <p:cNvSpPr txBox="1"/>
          <p:nvPr/>
        </p:nvSpPr>
        <p:spPr>
          <a:xfrm>
            <a:off x="4892040" y="1243584"/>
            <a:ext cx="3749040" cy="228600"/>
          </a:xfrm>
          <a:prstGeom prst="rect">
            <a:avLst/>
          </a:prstGeom>
          <a:noFill/>
          <a:ln/>
        </p:spPr>
        <p:txBody>
          <a:bodyPr wrap="square" lIns="0" tIns="0" rIns="0" bIns="0" rtlCol="0" anchor="ctr"/>
          <a:lstStyle/>
          <a:p>
            <a:pPr indent="0" marL="0">
              <a:buNone/>
            </a:pPr>
            <a:r>
              <a:rPr lang="en-US" sz="950" b="1" spc="100" kern="0" dirty="0">
                <a:solidFill>
                  <a:srgbClr val="DD1367"/>
                </a:solidFill>
                <a:latin typeface="Calibri" pitchFamily="34" charset="0"/>
                <a:ea typeface="Calibri" pitchFamily="34" charset="-122"/>
                <a:cs typeface="Calibri" pitchFamily="34" charset="-120"/>
              </a:rPr>
              <a:t>WHAT THE TOOL DOES</a:t>
            </a:r>
            <a:endParaRPr lang="en-US" sz="950" dirty="0"/>
          </a:p>
        </p:txBody>
      </p:sp>
      <p:sp>
        <p:nvSpPr>
          <p:cNvPr id="6" name="Shape 4"/>
          <p:cNvSpPr/>
          <p:nvPr/>
        </p:nvSpPr>
        <p:spPr>
          <a:xfrm>
            <a:off x="457200" y="1517904"/>
            <a:ext cx="4160520" cy="548640"/>
          </a:xfrm>
          <a:prstGeom prst="rect">
            <a:avLst/>
          </a:prstGeom>
          <a:solidFill>
            <a:srgbClr val="FFFFFF"/>
          </a:solidFill>
          <a:ln w="9525">
            <a:solidFill>
              <a:srgbClr val="E4DED2"/>
            </a:solidFill>
            <a:prstDash val="solid"/>
          </a:ln>
        </p:spPr>
      </p:sp>
      <p:sp>
        <p:nvSpPr>
          <p:cNvPr id="7" name="Text 5"/>
          <p:cNvSpPr txBox="1"/>
          <p:nvPr/>
        </p:nvSpPr>
        <p:spPr>
          <a:xfrm>
            <a:off x="566928" y="1517904"/>
            <a:ext cx="3977640" cy="548640"/>
          </a:xfrm>
          <a:prstGeom prst="rect">
            <a:avLst/>
          </a:prstGeom>
          <a:noFill/>
          <a:ln/>
        </p:spPr>
        <p:txBody>
          <a:bodyPr wrap="square" lIns="0" tIns="0" rIns="0" bIns="0" rtlCol="0" anchor="ctr"/>
          <a:lstStyle/>
          <a:p>
            <a:pPr indent="0" marL="0">
              <a:buNone/>
            </a:pPr>
            <a:r>
              <a:rPr lang="en-US" sz="1100" b="1" i="1" dirty="0">
                <a:solidFill>
                  <a:srgbClr val="1B2A41"/>
                </a:solidFill>
                <a:latin typeface="Cambria" pitchFamily="34" charset="0"/>
                <a:ea typeface="Cambria" pitchFamily="34" charset="-122"/>
                <a:cs typeface="Cambria" pitchFamily="34" charset="-120"/>
              </a:rPr>
              <a:t>“We don't speak the language well”</a:t>
            </a:r>
            <a:endParaRPr lang="en-US" sz="1100" dirty="0"/>
          </a:p>
          <a:p>
            <a:pPr indent="0" marL="0">
              <a:buNone/>
            </a:pPr>
            <a:r>
              <a:rPr lang="en-US" sz="900" dirty="0">
                <a:solidFill>
                  <a:srgbClr val="5B6475"/>
                </a:solidFill>
                <a:latin typeface="Calibri" pitchFamily="34" charset="0"/>
                <a:ea typeface="Calibri" pitchFamily="34" charset="-122"/>
                <a:cs typeface="Calibri" pitchFamily="34" charset="-120"/>
              </a:rPr>
              <a:t>~80% come from other EU/EFTA countries; the contract is in Dutch (SEO 2026)</a:t>
            </a:r>
            <a:endParaRPr lang="en-US" sz="1100" dirty="0"/>
          </a:p>
        </p:txBody>
      </p:sp>
      <p:sp>
        <p:nvSpPr>
          <p:cNvPr id="8" name="Shape 6"/>
          <p:cNvSpPr/>
          <p:nvPr/>
        </p:nvSpPr>
        <p:spPr>
          <a:xfrm>
            <a:off x="4663440" y="1700784"/>
            <a:ext cx="182880" cy="182880"/>
          </a:xfrm>
          <a:prstGeom prst="rightArrow">
            <a:avLst/>
          </a:prstGeom>
          <a:solidFill>
            <a:srgbClr val="DD1367"/>
          </a:solidFill>
          <a:ln/>
        </p:spPr>
      </p:sp>
      <p:sp>
        <p:nvSpPr>
          <p:cNvPr id="9" name="Shape 7"/>
          <p:cNvSpPr/>
          <p:nvPr/>
        </p:nvSpPr>
        <p:spPr>
          <a:xfrm>
            <a:off x="4892040" y="1517904"/>
            <a:ext cx="3794760" cy="548640"/>
          </a:xfrm>
          <a:prstGeom prst="rect">
            <a:avLst/>
          </a:prstGeom>
          <a:solidFill>
            <a:srgbClr val="F1ECE1"/>
          </a:solidFill>
          <a:ln/>
        </p:spPr>
      </p:sp>
      <p:sp>
        <p:nvSpPr>
          <p:cNvPr id="10" name="Text 8"/>
          <p:cNvSpPr txBox="1"/>
          <p:nvPr/>
        </p:nvSpPr>
        <p:spPr>
          <a:xfrm>
            <a:off x="5001768" y="1517904"/>
            <a:ext cx="3611880" cy="54864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Report in 7 languages; quotes stay in the contract's own words, and a bilingual sheet to show a Dutch speaker</a:t>
            </a:r>
            <a:endParaRPr lang="en-US" sz="1050" dirty="0"/>
          </a:p>
        </p:txBody>
      </p:sp>
      <p:sp>
        <p:nvSpPr>
          <p:cNvPr id="11" name="Shape 9"/>
          <p:cNvSpPr/>
          <p:nvPr/>
        </p:nvSpPr>
        <p:spPr>
          <a:xfrm>
            <a:off x="457200" y="2139696"/>
            <a:ext cx="4160520" cy="548640"/>
          </a:xfrm>
          <a:prstGeom prst="rect">
            <a:avLst/>
          </a:prstGeom>
          <a:solidFill>
            <a:srgbClr val="FFFFFF"/>
          </a:solidFill>
          <a:ln w="9525">
            <a:solidFill>
              <a:srgbClr val="E4DED2"/>
            </a:solidFill>
            <a:prstDash val="solid"/>
          </a:ln>
        </p:spPr>
      </p:sp>
      <p:sp>
        <p:nvSpPr>
          <p:cNvPr id="12" name="Text 10"/>
          <p:cNvSpPr txBox="1"/>
          <p:nvPr/>
        </p:nvSpPr>
        <p:spPr>
          <a:xfrm>
            <a:off x="566928" y="2139696"/>
            <a:ext cx="3977640" cy="548640"/>
          </a:xfrm>
          <a:prstGeom prst="rect">
            <a:avLst/>
          </a:prstGeom>
          <a:noFill/>
          <a:ln/>
        </p:spPr>
        <p:txBody>
          <a:bodyPr wrap="square" lIns="0" tIns="0" rIns="0" bIns="0" rtlCol="0" anchor="ctr"/>
          <a:lstStyle/>
          <a:p>
            <a:pPr indent="0" marL="0">
              <a:buNone/>
            </a:pPr>
            <a:r>
              <a:rPr lang="en-US" sz="1100" b="1" i="1" dirty="0">
                <a:solidFill>
                  <a:srgbClr val="1B2A41"/>
                </a:solidFill>
                <a:latin typeface="Cambria" pitchFamily="34" charset="0"/>
                <a:ea typeface="Cambria" pitchFamily="34" charset="-122"/>
                <a:cs typeface="Cambria" pitchFamily="34" charset="-120"/>
              </a:rPr>
              <a:t>“We don't know the laws”</a:t>
            </a:r>
            <a:endParaRPr lang="en-US" sz="1100" dirty="0"/>
          </a:p>
          <a:p>
            <a:pPr indent="0" marL="0">
              <a:buNone/>
            </a:pPr>
            <a:r>
              <a:rPr lang="en-US" sz="900" dirty="0">
                <a:solidFill>
                  <a:srgbClr val="5B6475"/>
                </a:solidFill>
                <a:latin typeface="Calibri" pitchFamily="34" charset="0"/>
                <a:ea typeface="Calibri" pitchFamily="34" charset="-122"/>
                <a:cs typeface="Calibri" pitchFamily="34" charset="-120"/>
              </a:rPr>
              <a:t>Rent above the 25% limit is reported every week (EenVandaag 2025)</a:t>
            </a:r>
            <a:endParaRPr lang="en-US" sz="1100" dirty="0"/>
          </a:p>
        </p:txBody>
      </p:sp>
      <p:sp>
        <p:nvSpPr>
          <p:cNvPr id="13" name="Shape 11"/>
          <p:cNvSpPr/>
          <p:nvPr/>
        </p:nvSpPr>
        <p:spPr>
          <a:xfrm>
            <a:off x="4663440" y="2322576"/>
            <a:ext cx="182880" cy="182880"/>
          </a:xfrm>
          <a:prstGeom prst="rightArrow">
            <a:avLst/>
          </a:prstGeom>
          <a:solidFill>
            <a:srgbClr val="DD1367"/>
          </a:solidFill>
          <a:ln/>
        </p:spPr>
      </p:sp>
      <p:sp>
        <p:nvSpPr>
          <p:cNvPr id="14" name="Shape 12"/>
          <p:cNvSpPr/>
          <p:nvPr/>
        </p:nvSpPr>
        <p:spPr>
          <a:xfrm>
            <a:off x="4892040" y="2139696"/>
            <a:ext cx="3794760" cy="548640"/>
          </a:xfrm>
          <a:prstGeom prst="rect">
            <a:avLst/>
          </a:prstGeom>
          <a:solidFill>
            <a:srgbClr val="F1ECE1"/>
          </a:solidFill>
          <a:ln/>
        </p:spPr>
      </p:sp>
      <p:sp>
        <p:nvSpPr>
          <p:cNvPr id="15" name="Text 13"/>
          <p:cNvSpPr txBox="1"/>
          <p:nvPr/>
        </p:nvSpPr>
        <p:spPr>
          <a:xfrm>
            <a:off x="5001768" y="2139696"/>
            <a:ext cx="3611880" cy="54864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14 legal rules checked in code, each tied to its article, with the arithmetic shown</a:t>
            </a:r>
            <a:endParaRPr lang="en-US" sz="1050" dirty="0"/>
          </a:p>
        </p:txBody>
      </p:sp>
      <p:sp>
        <p:nvSpPr>
          <p:cNvPr id="16" name="Shape 14"/>
          <p:cNvSpPr/>
          <p:nvPr/>
        </p:nvSpPr>
        <p:spPr>
          <a:xfrm>
            <a:off x="457200" y="2761488"/>
            <a:ext cx="4160520" cy="548640"/>
          </a:xfrm>
          <a:prstGeom prst="rect">
            <a:avLst/>
          </a:prstGeom>
          <a:solidFill>
            <a:srgbClr val="FFFFFF"/>
          </a:solidFill>
          <a:ln w="9525">
            <a:solidFill>
              <a:srgbClr val="E4DED2"/>
            </a:solidFill>
            <a:prstDash val="solid"/>
          </a:ln>
        </p:spPr>
      </p:sp>
      <p:sp>
        <p:nvSpPr>
          <p:cNvPr id="17" name="Text 15"/>
          <p:cNvSpPr txBox="1"/>
          <p:nvPr/>
        </p:nvSpPr>
        <p:spPr>
          <a:xfrm>
            <a:off x="566928" y="2761488"/>
            <a:ext cx="3977640" cy="548640"/>
          </a:xfrm>
          <a:prstGeom prst="rect">
            <a:avLst/>
          </a:prstGeom>
          <a:noFill/>
          <a:ln/>
        </p:spPr>
        <p:txBody>
          <a:bodyPr wrap="square" lIns="0" tIns="0" rIns="0" bIns="0" rtlCol="0" anchor="ctr"/>
          <a:lstStyle/>
          <a:p>
            <a:pPr indent="0" marL="0">
              <a:buNone/>
            </a:pPr>
            <a:r>
              <a:rPr lang="en-US" sz="1100" b="1" i="1" dirty="0">
                <a:solidFill>
                  <a:srgbClr val="1B2A41"/>
                </a:solidFill>
                <a:latin typeface="Cambria" pitchFamily="34" charset="0"/>
                <a:ea typeface="Cambria" pitchFamily="34" charset="-122"/>
                <a:cs typeface="Cambria" pitchFamily="34" charset="-120"/>
              </a:rPr>
              <a:t>“Dependent twice: as boss and as landlord”</a:t>
            </a:r>
            <a:endParaRPr lang="en-US" sz="1100" dirty="0"/>
          </a:p>
          <a:p>
            <a:pPr indent="0" marL="0">
              <a:buNone/>
            </a:pPr>
            <a:r>
              <a:rPr lang="en-US" sz="900" dirty="0">
                <a:solidFill>
                  <a:srgbClr val="5B6475"/>
                </a:solidFill>
                <a:latin typeface="Calibri" pitchFamily="34" charset="0"/>
                <a:ea typeface="Calibri" pitchFamily="34" charset="-122"/>
                <a:cs typeface="Calibri" pitchFamily="34" charset="-120"/>
              </a:rPr>
              <a:t>FNV, 30 Oct 2025, on tied housing</a:t>
            </a:r>
            <a:endParaRPr lang="en-US" sz="1100" dirty="0"/>
          </a:p>
        </p:txBody>
      </p:sp>
      <p:sp>
        <p:nvSpPr>
          <p:cNvPr id="18" name="Shape 16"/>
          <p:cNvSpPr/>
          <p:nvPr/>
        </p:nvSpPr>
        <p:spPr>
          <a:xfrm>
            <a:off x="4663440" y="2944368"/>
            <a:ext cx="182880" cy="182880"/>
          </a:xfrm>
          <a:prstGeom prst="rightArrow">
            <a:avLst/>
          </a:prstGeom>
          <a:solidFill>
            <a:srgbClr val="DD1367"/>
          </a:solidFill>
          <a:ln/>
        </p:spPr>
      </p:sp>
      <p:sp>
        <p:nvSpPr>
          <p:cNvPr id="19" name="Shape 17"/>
          <p:cNvSpPr/>
          <p:nvPr/>
        </p:nvSpPr>
        <p:spPr>
          <a:xfrm>
            <a:off x="4892040" y="2761488"/>
            <a:ext cx="3794760" cy="548640"/>
          </a:xfrm>
          <a:prstGeom prst="rect">
            <a:avLst/>
          </a:prstGeom>
          <a:solidFill>
            <a:srgbClr val="F1ECE1"/>
          </a:solidFill>
          <a:ln/>
        </p:spPr>
      </p:sp>
      <p:sp>
        <p:nvSpPr>
          <p:cNvPr id="20" name="Text 18"/>
          <p:cNvSpPr txBox="1"/>
          <p:nvPr/>
        </p:nvSpPr>
        <p:spPr>
          <a:xfrm>
            <a:off x="5001768" y="2761488"/>
            <a:ext cx="3611880" cy="54864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Reads the documents together: a dated timeline of what ends when the job ends</a:t>
            </a:r>
            <a:endParaRPr lang="en-US" sz="1050" dirty="0"/>
          </a:p>
        </p:txBody>
      </p:sp>
      <p:sp>
        <p:nvSpPr>
          <p:cNvPr id="21" name="Shape 19"/>
          <p:cNvSpPr/>
          <p:nvPr/>
        </p:nvSpPr>
        <p:spPr>
          <a:xfrm>
            <a:off x="457200" y="3383280"/>
            <a:ext cx="4160520" cy="548640"/>
          </a:xfrm>
          <a:prstGeom prst="rect">
            <a:avLst/>
          </a:prstGeom>
          <a:solidFill>
            <a:srgbClr val="FFFFFF"/>
          </a:solidFill>
          <a:ln w="9525">
            <a:solidFill>
              <a:srgbClr val="E4DED2"/>
            </a:solidFill>
            <a:prstDash val="solid"/>
          </a:ln>
        </p:spPr>
      </p:sp>
      <p:sp>
        <p:nvSpPr>
          <p:cNvPr id="22" name="Text 20"/>
          <p:cNvSpPr txBox="1"/>
          <p:nvPr/>
        </p:nvSpPr>
        <p:spPr>
          <a:xfrm>
            <a:off x="566928" y="3383280"/>
            <a:ext cx="3977640" cy="548640"/>
          </a:xfrm>
          <a:prstGeom prst="rect">
            <a:avLst/>
          </a:prstGeom>
          <a:noFill/>
          <a:ln/>
        </p:spPr>
        <p:txBody>
          <a:bodyPr wrap="square" lIns="0" tIns="0" rIns="0" bIns="0" rtlCol="0" anchor="ctr"/>
          <a:lstStyle/>
          <a:p>
            <a:pPr indent="0" marL="0">
              <a:buNone/>
            </a:pPr>
            <a:r>
              <a:rPr lang="en-US" sz="1100" b="1" i="1" dirty="0">
                <a:solidFill>
                  <a:srgbClr val="1B2A41"/>
                </a:solidFill>
                <a:latin typeface="Cambria" pitchFamily="34" charset="0"/>
                <a:ea typeface="Cambria" pitchFamily="34" charset="-122"/>
                <a:cs typeface="Cambria" pitchFamily="34" charset="-120"/>
              </a:rPr>
              <a:t>“If you complain, you lose your bed”</a:t>
            </a:r>
            <a:endParaRPr lang="en-US" sz="1100" dirty="0"/>
          </a:p>
          <a:p>
            <a:pPr indent="0" marL="0">
              <a:buNone/>
            </a:pPr>
            <a:r>
              <a:rPr lang="en-US" sz="900" dirty="0">
                <a:solidFill>
                  <a:srgbClr val="5B6475"/>
                </a:solidFill>
                <a:latin typeface="Calibri" pitchFamily="34" charset="0"/>
                <a:ea typeface="Calibri" pitchFamily="34" charset="-122"/>
                <a:cs typeface="Calibri" pitchFamily="34" charset="-120"/>
              </a:rPr>
              <a:t>Agency worker, EenVandaag 2025</a:t>
            </a:r>
            <a:endParaRPr lang="en-US" sz="1100" dirty="0"/>
          </a:p>
        </p:txBody>
      </p:sp>
      <p:sp>
        <p:nvSpPr>
          <p:cNvPr id="23" name="Shape 21"/>
          <p:cNvSpPr/>
          <p:nvPr/>
        </p:nvSpPr>
        <p:spPr>
          <a:xfrm>
            <a:off x="4663440" y="3566160"/>
            <a:ext cx="182880" cy="182880"/>
          </a:xfrm>
          <a:prstGeom prst="rightArrow">
            <a:avLst/>
          </a:prstGeom>
          <a:solidFill>
            <a:srgbClr val="DD1367"/>
          </a:solidFill>
          <a:ln/>
        </p:spPr>
      </p:sp>
      <p:sp>
        <p:nvSpPr>
          <p:cNvPr id="24" name="Shape 22"/>
          <p:cNvSpPr/>
          <p:nvPr/>
        </p:nvSpPr>
        <p:spPr>
          <a:xfrm>
            <a:off x="4892040" y="3383280"/>
            <a:ext cx="3794760" cy="548640"/>
          </a:xfrm>
          <a:prstGeom prst="rect">
            <a:avLst/>
          </a:prstGeom>
          <a:solidFill>
            <a:srgbClr val="F1ECE1"/>
          </a:solidFill>
          <a:ln/>
        </p:spPr>
      </p:sp>
      <p:sp>
        <p:nvSpPr>
          <p:cNvPr id="25" name="Text 23"/>
          <p:cNvSpPr txBox="1"/>
          <p:nvPr/>
        </p:nvSpPr>
        <p:spPr>
          <a:xfrm>
            <a:off x="5001768" y="3383280"/>
            <a:ext cx="3611880" cy="548640"/>
          </a:xfrm>
          <a:prstGeom prst="rect">
            <a:avLst/>
          </a:prstGeom>
          <a:noFill/>
          <a:ln/>
        </p:spPr>
        <p:txBody>
          <a:bodyPr wrap="square" lIns="0" tIns="0" rIns="0" bIns="0" rtlCol="0" anchor="ctr"/>
          <a:lstStyle/>
          <a:p>
            <a:pPr indent="0" marL="0">
              <a:buNone/>
            </a:pPr>
            <a:r>
              <a:rPr lang="en-US" sz="1050" dirty="0">
                <a:solidFill>
                  <a:srgbClr val="1B2A41"/>
                </a:solidFill>
                <a:latin typeface="Calibri" pitchFamily="34" charset="0"/>
                <a:ea typeface="Calibri" pitchFamily="34" charset="-122"/>
                <a:cs typeface="Calibri" pitchFamily="34" charset="-120"/>
              </a:rPr>
              <a:t>Safe questions to ask in writing, confidential help listed first, no account needed</a:t>
            </a:r>
            <a:endParaRPr lang="en-US" sz="1050" dirty="0"/>
          </a:p>
        </p:txBody>
      </p:sp>
      <p:sp>
        <p:nvSpPr>
          <p:cNvPr id="26" name="Text 24"/>
          <p:cNvSpPr txBox="1"/>
          <p:nvPr/>
        </p:nvSpPr>
        <p:spPr>
          <a:xfrm>
            <a:off x="457200" y="4087368"/>
            <a:ext cx="1143000" cy="502920"/>
          </a:xfrm>
          <a:prstGeom prst="rect">
            <a:avLst/>
          </a:prstGeom>
          <a:noFill/>
          <a:ln/>
        </p:spPr>
        <p:txBody>
          <a:bodyPr wrap="square" lIns="0" tIns="0" rIns="0" bIns="0" rtlCol="0" anchor="ctr"/>
          <a:lstStyle/>
          <a:p>
            <a:pPr indent="0" marL="0">
              <a:buNone/>
            </a:pPr>
            <a:r>
              <a:rPr lang="en-US" sz="950" b="1" spc="100" kern="0" dirty="0">
                <a:solidFill>
                  <a:srgbClr val="DD1367"/>
                </a:solidFill>
                <a:latin typeface="Calibri" pitchFamily="34" charset="0"/>
                <a:ea typeface="Calibri" pitchFamily="34" charset="-122"/>
                <a:cs typeface="Calibri" pitchFamily="34" charset="-120"/>
              </a:rPr>
              <a:t>WHY NOT SIMPLER?</a:t>
            </a:r>
            <a:endParaRPr lang="en-US" sz="950" dirty="0"/>
          </a:p>
        </p:txBody>
      </p:sp>
      <p:sp>
        <p:nvSpPr>
          <p:cNvPr id="27" name="Shape 25"/>
          <p:cNvSpPr/>
          <p:nvPr/>
        </p:nvSpPr>
        <p:spPr>
          <a:xfrm>
            <a:off x="1645920" y="4087368"/>
            <a:ext cx="1691640" cy="502920"/>
          </a:xfrm>
          <a:prstGeom prst="roundRect">
            <a:avLst>
              <a:gd name="adj" fmla="val 14545"/>
            </a:avLst>
          </a:prstGeom>
          <a:solidFill>
            <a:srgbClr val="FFFFFF"/>
          </a:solidFill>
          <a:ln w="9525">
            <a:solidFill>
              <a:srgbClr val="E4DED2"/>
            </a:solidFill>
            <a:prstDash val="solid"/>
          </a:ln>
        </p:spPr>
      </p:sp>
      <p:sp>
        <p:nvSpPr>
          <p:cNvPr id="28" name="Text 26"/>
          <p:cNvSpPr txBox="1"/>
          <p:nvPr/>
        </p:nvSpPr>
        <p:spPr>
          <a:xfrm>
            <a:off x="1719072" y="4087368"/>
            <a:ext cx="1545336" cy="502920"/>
          </a:xfrm>
          <a:prstGeom prst="rect">
            <a:avLst/>
          </a:prstGeom>
          <a:noFill/>
          <a:ln/>
        </p:spPr>
        <p:txBody>
          <a:bodyPr wrap="square" lIns="0" tIns="0" rIns="0" bIns="0" rtlCol="0" anchor="ctr"/>
          <a:lstStyle/>
          <a:p>
            <a:pPr indent="0" marL="0">
              <a:buNone/>
            </a:pPr>
            <a:r>
              <a:rPr lang="en-US" sz="900" b="1" dirty="0">
                <a:solidFill>
                  <a:srgbClr val="1B2A41"/>
                </a:solidFill>
                <a:latin typeface="Calibri" pitchFamily="34" charset="0"/>
                <a:ea typeface="Calibri" pitchFamily="34" charset="-122"/>
                <a:cs typeface="Calibri" pitchFamily="34" charset="-120"/>
              </a:rPr>
              <a:t>A leaflet: </a:t>
            </a:r>
            <a:pPr indent="0" marL="0">
              <a:buNone/>
            </a:pPr>
            <a:r>
              <a:rPr lang="en-US" sz="900" dirty="0">
                <a:solidFill>
                  <a:srgbClr val="38445A"/>
                </a:solidFill>
                <a:latin typeface="Calibri" pitchFamily="34" charset="0"/>
                <a:ea typeface="Calibri" pitchFamily="34" charset="-122"/>
                <a:cs typeface="Calibri" pitchFamily="34" charset="-120"/>
              </a:rPr>
              <a:t>can't say if your contract does this</a:t>
            </a:r>
            <a:endParaRPr lang="en-US" sz="900" dirty="0"/>
          </a:p>
        </p:txBody>
      </p:sp>
      <p:sp>
        <p:nvSpPr>
          <p:cNvPr id="29" name="Shape 27"/>
          <p:cNvSpPr/>
          <p:nvPr/>
        </p:nvSpPr>
        <p:spPr>
          <a:xfrm>
            <a:off x="3429000" y="4087368"/>
            <a:ext cx="1691640" cy="502920"/>
          </a:xfrm>
          <a:prstGeom prst="roundRect">
            <a:avLst>
              <a:gd name="adj" fmla="val 14545"/>
            </a:avLst>
          </a:prstGeom>
          <a:solidFill>
            <a:srgbClr val="FFFFFF"/>
          </a:solidFill>
          <a:ln w="9525">
            <a:solidFill>
              <a:srgbClr val="E4DED2"/>
            </a:solidFill>
            <a:prstDash val="solid"/>
          </a:ln>
        </p:spPr>
      </p:sp>
      <p:sp>
        <p:nvSpPr>
          <p:cNvPr id="30" name="Text 28"/>
          <p:cNvSpPr txBox="1"/>
          <p:nvPr/>
        </p:nvSpPr>
        <p:spPr>
          <a:xfrm>
            <a:off x="3502152" y="4087368"/>
            <a:ext cx="1545336" cy="502920"/>
          </a:xfrm>
          <a:prstGeom prst="rect">
            <a:avLst/>
          </a:prstGeom>
          <a:noFill/>
          <a:ln/>
        </p:spPr>
        <p:txBody>
          <a:bodyPr wrap="square" lIns="0" tIns="0" rIns="0" bIns="0" rtlCol="0" anchor="ctr"/>
          <a:lstStyle/>
          <a:p>
            <a:pPr indent="0" marL="0">
              <a:buNone/>
            </a:pPr>
            <a:r>
              <a:rPr lang="en-US" sz="900" b="1" dirty="0">
                <a:solidFill>
                  <a:srgbClr val="1B2A41"/>
                </a:solidFill>
                <a:latin typeface="Calibri" pitchFamily="34" charset="0"/>
                <a:ea typeface="Calibri" pitchFamily="34" charset="-122"/>
                <a:cs typeface="Calibri" pitchFamily="34" charset="-120"/>
              </a:rPr>
              <a:t>A checklist: </a:t>
            </a:r>
            <a:pPr indent="0" marL="0">
              <a:buNone/>
            </a:pPr>
            <a:r>
              <a:rPr lang="en-US" sz="900" dirty="0">
                <a:solidFill>
                  <a:srgbClr val="38445A"/>
                </a:solidFill>
                <a:latin typeface="Calibri" pitchFamily="34" charset="0"/>
                <a:ea typeface="Calibri" pitchFamily="34" charset="-122"/>
                <a:cs typeface="Calibri" pitchFamily="34" charset="-120"/>
              </a:rPr>
              <a:t>needs you to read the contract first</a:t>
            </a:r>
            <a:endParaRPr lang="en-US" sz="900" dirty="0"/>
          </a:p>
        </p:txBody>
      </p:sp>
      <p:sp>
        <p:nvSpPr>
          <p:cNvPr id="31" name="Shape 29"/>
          <p:cNvSpPr/>
          <p:nvPr/>
        </p:nvSpPr>
        <p:spPr>
          <a:xfrm>
            <a:off x="5212080" y="4087368"/>
            <a:ext cx="1691640" cy="502920"/>
          </a:xfrm>
          <a:prstGeom prst="roundRect">
            <a:avLst>
              <a:gd name="adj" fmla="val 14545"/>
            </a:avLst>
          </a:prstGeom>
          <a:solidFill>
            <a:srgbClr val="FFFFFF"/>
          </a:solidFill>
          <a:ln w="9525">
            <a:solidFill>
              <a:srgbClr val="E4DED2"/>
            </a:solidFill>
            <a:prstDash val="solid"/>
          </a:ln>
        </p:spPr>
      </p:sp>
      <p:sp>
        <p:nvSpPr>
          <p:cNvPr id="32" name="Text 30"/>
          <p:cNvSpPr txBox="1"/>
          <p:nvPr/>
        </p:nvSpPr>
        <p:spPr>
          <a:xfrm>
            <a:off x="5285232" y="4087368"/>
            <a:ext cx="1545336" cy="502920"/>
          </a:xfrm>
          <a:prstGeom prst="rect">
            <a:avLst/>
          </a:prstGeom>
          <a:noFill/>
          <a:ln/>
        </p:spPr>
        <p:txBody>
          <a:bodyPr wrap="square" lIns="0" tIns="0" rIns="0" bIns="0" rtlCol="0" anchor="ctr"/>
          <a:lstStyle/>
          <a:p>
            <a:pPr indent="0" marL="0">
              <a:buNone/>
            </a:pPr>
            <a:r>
              <a:rPr lang="en-US" sz="900" b="1" dirty="0">
                <a:solidFill>
                  <a:srgbClr val="1B2A41"/>
                </a:solidFill>
                <a:latin typeface="Calibri" pitchFamily="34" charset="0"/>
                <a:ea typeface="Calibri" pitchFamily="34" charset="-122"/>
                <a:cs typeface="Calibri" pitchFamily="34" charset="-120"/>
              </a:rPr>
              <a:t>A lawyer: </a:t>
            </a:r>
            <a:pPr indent="0" marL="0">
              <a:buNone/>
            </a:pPr>
            <a:r>
              <a:rPr lang="en-US" sz="900" dirty="0">
                <a:solidFill>
                  <a:srgbClr val="38445A"/>
                </a:solidFill>
                <a:latin typeface="Calibri" pitchFamily="34" charset="0"/>
                <a:ea typeface="Calibri" pitchFamily="34" charset="-122"/>
                <a:cs typeface="Calibri" pitchFamily="34" charset="-120"/>
              </a:rPr>
              <a:t>isn't at the desk at 8am, costs &gt; a week's pay</a:t>
            </a:r>
            <a:endParaRPr lang="en-US" sz="900" dirty="0"/>
          </a:p>
        </p:txBody>
      </p:sp>
      <p:sp>
        <p:nvSpPr>
          <p:cNvPr id="33" name="Shape 31"/>
          <p:cNvSpPr/>
          <p:nvPr/>
        </p:nvSpPr>
        <p:spPr>
          <a:xfrm>
            <a:off x="6995160" y="4087368"/>
            <a:ext cx="1691640" cy="502920"/>
          </a:xfrm>
          <a:prstGeom prst="roundRect">
            <a:avLst>
              <a:gd name="adj" fmla="val 14545"/>
            </a:avLst>
          </a:prstGeom>
          <a:solidFill>
            <a:srgbClr val="FFFFFF"/>
          </a:solidFill>
          <a:ln w="9525">
            <a:solidFill>
              <a:srgbClr val="E4DED2"/>
            </a:solidFill>
            <a:prstDash val="solid"/>
          </a:ln>
        </p:spPr>
      </p:sp>
      <p:sp>
        <p:nvSpPr>
          <p:cNvPr id="34" name="Text 32"/>
          <p:cNvSpPr txBox="1"/>
          <p:nvPr/>
        </p:nvSpPr>
        <p:spPr>
          <a:xfrm>
            <a:off x="7068312" y="4087368"/>
            <a:ext cx="1545336" cy="502920"/>
          </a:xfrm>
          <a:prstGeom prst="rect">
            <a:avLst/>
          </a:prstGeom>
          <a:noFill/>
          <a:ln/>
        </p:spPr>
        <p:txBody>
          <a:bodyPr wrap="square" lIns="0" tIns="0" rIns="0" bIns="0" rtlCol="0" anchor="ctr"/>
          <a:lstStyle/>
          <a:p>
            <a:pPr indent="0" marL="0">
              <a:buNone/>
            </a:pPr>
            <a:r>
              <a:rPr lang="en-US" sz="900" b="1" dirty="0">
                <a:solidFill>
                  <a:srgbClr val="1B2A41"/>
                </a:solidFill>
                <a:latin typeface="Calibri" pitchFamily="34" charset="0"/>
                <a:ea typeface="Calibri" pitchFamily="34" charset="-122"/>
                <a:cs typeface="Calibri" pitchFamily="34" charset="-120"/>
              </a:rPr>
              <a:t>Rules alone: </a:t>
            </a:r>
            <a:pPr indent="0" marL="0">
              <a:buNone/>
            </a:pPr>
            <a:r>
              <a:rPr lang="en-US" sz="900" dirty="0">
                <a:solidFill>
                  <a:srgbClr val="38445A"/>
                </a:solidFill>
                <a:latin typeface="Calibri" pitchFamily="34" charset="0"/>
                <a:ea typeface="Calibri" pitchFamily="34" charset="-122"/>
                <a:cs typeface="Calibri" pitchFamily="34" charset="-120"/>
              </a:rPr>
              <a:t>miss the carefully worded contracts</a:t>
            </a:r>
            <a:endParaRPr lang="en-US" sz="900" dirty="0"/>
          </a:p>
        </p:txBody>
      </p:sp>
      <p:sp>
        <p:nvSpPr>
          <p:cNvPr id="35" name="Text 33"/>
          <p:cNvSpPr txBox="1"/>
          <p:nvPr/>
        </p:nvSpPr>
        <p:spPr>
          <a:xfrm>
            <a:off x="457200" y="4773168"/>
            <a:ext cx="7589520" cy="256032"/>
          </a:xfrm>
          <a:prstGeom prst="rect">
            <a:avLst/>
          </a:prstGeom>
          <a:noFill/>
          <a:ln/>
        </p:spPr>
        <p:txBody>
          <a:bodyPr wrap="square" lIns="0" tIns="0" rIns="0" bIns="0" rtlCol="0" anchor="ctr"/>
          <a:lstStyle/>
          <a:p>
            <a:pPr indent="0" marL="0">
              <a:buNone/>
            </a:pPr>
            <a:r>
              <a:rPr lang="en-US" sz="850" i="1" dirty="0">
                <a:solidFill>
                  <a:srgbClr val="5B6475"/>
                </a:solidFill>
                <a:latin typeface="Calibri" pitchFamily="34" charset="0"/>
                <a:ea typeface="Calibri" pitchFamily="34" charset="-122"/>
                <a:cs typeface="Calibri" pitchFamily="34" charset="-120"/>
              </a:rPr>
              <a:t>Quotes translated from Dutch. EenVandaag, 26 Nov 2025; FNV, 30 Oct 2025; SEO Economisch Onderzoek, Mar 2026.</a:t>
            </a:r>
            <a:endParaRPr lang="en-US" sz="850" dirty="0"/>
          </a:p>
        </p:txBody>
      </p:sp>
      <p:sp>
        <p:nvSpPr>
          <p:cNvPr id="36" name="Text 34"/>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FF5C9A"/>
                </a:solidFill>
                <a:latin typeface="Calibri" pitchFamily="34" charset="0"/>
                <a:ea typeface="Calibri" pitchFamily="34" charset="-122"/>
                <a:cs typeface="Calibri" pitchFamily="34" charset="-120"/>
              </a:rPr>
              <a:t>ARTICLE 6  ·  LIVE DEMO</a:t>
            </a:r>
            <a:endParaRPr lang="en-US" sz="1100" dirty="0"/>
          </a:p>
        </p:txBody>
      </p:sp>
      <p:sp>
        <p:nvSpPr>
          <p:cNvPr id="3" name="Text 1"/>
          <p:cNvSpPr txBox="1"/>
          <p:nvPr/>
        </p:nvSpPr>
        <p:spPr>
          <a:xfrm>
            <a:off x="457200" y="548640"/>
            <a:ext cx="457200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Let's check a contract</a:t>
            </a:r>
            <a:endParaRPr lang="en-US" sz="3200" dirty="0"/>
          </a:p>
        </p:txBody>
      </p:sp>
      <p:sp>
        <p:nvSpPr>
          <p:cNvPr id="4" name="Text 2"/>
          <p:cNvSpPr txBox="1"/>
          <p:nvPr/>
        </p:nvSpPr>
        <p:spPr>
          <a:xfrm>
            <a:off x="457200" y="1325880"/>
            <a:ext cx="4023360" cy="685800"/>
          </a:xfrm>
          <a:prstGeom prst="rect">
            <a:avLst/>
          </a:prstGeom>
          <a:noFill/>
          <a:ln/>
        </p:spPr>
        <p:txBody>
          <a:bodyPr wrap="square" lIns="0" tIns="0" rIns="0" bIns="0" rtlCol="0" anchor="t"/>
          <a:lstStyle/>
          <a:p>
            <a:pPr indent="0" marL="0">
              <a:buNone/>
            </a:pPr>
            <a:r>
              <a:rPr lang="en-US" sz="1250" dirty="0">
                <a:solidFill>
                  <a:srgbClr val="D9DEE7"/>
                </a:solidFill>
                <a:latin typeface="Calibri" pitchFamily="34" charset="0"/>
                <a:ea typeface="Calibri" pitchFamily="34" charset="-122"/>
                <a:cs typeface="Calibri" pitchFamily="34" charset="-120"/>
              </a:rPr>
              <a:t>English sample bundle: an agency contract and an accommodation annex from an invented company, with 13 traps planted in them.</a:t>
            </a:r>
            <a:endParaRPr lang="en-US" sz="1250" dirty="0"/>
          </a:p>
        </p:txBody>
      </p:sp>
      <p:sp>
        <p:nvSpPr>
          <p:cNvPr id="5" name="Text 3"/>
          <p:cNvSpPr txBox="1"/>
          <p:nvPr/>
        </p:nvSpPr>
        <p:spPr>
          <a:xfrm>
            <a:off x="457200" y="2103120"/>
            <a:ext cx="4023360" cy="256032"/>
          </a:xfrm>
          <a:prstGeom prst="rect">
            <a:avLst/>
          </a:prstGeom>
          <a:noFill/>
          <a:ln/>
        </p:spPr>
        <p:txBody>
          <a:bodyPr wrap="square" lIns="0" tIns="0" rIns="0" bIns="0" rtlCol="0" anchor="ctr"/>
          <a:lstStyle/>
          <a:p>
            <a:pPr indent="0" marL="0">
              <a:buNone/>
            </a:pPr>
            <a:r>
              <a:rPr lang="en-US" sz="1000" b="1" spc="100" kern="0" dirty="0">
                <a:solidFill>
                  <a:srgbClr val="FFE45C"/>
                </a:solidFill>
                <a:latin typeface="Calibri" pitchFamily="34" charset="0"/>
                <a:ea typeface="Calibri" pitchFamily="34" charset="-122"/>
                <a:cs typeface="Calibri" pitchFamily="34" charset="-120"/>
              </a:rPr>
              <a:t>WATCH FOR</a:t>
            </a:r>
            <a:endParaRPr lang="en-US" sz="1000" dirty="0"/>
          </a:p>
        </p:txBody>
      </p:sp>
      <p:sp>
        <p:nvSpPr>
          <p:cNvPr id="6" name="Text 4"/>
          <p:cNvSpPr txBox="1"/>
          <p:nvPr/>
        </p:nvSpPr>
        <p:spPr>
          <a:xfrm>
            <a:off x="457200" y="2459736"/>
            <a:ext cx="310896" cy="310896"/>
          </a:xfrm>
          <a:prstGeom prst="ellipse">
            <a:avLst/>
          </a:prstGeom>
          <a:solidFill>
            <a:srgbClr val="DD1367"/>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896112" y="2423160"/>
            <a:ext cx="365760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finding, with its exact quote</a:t>
            </a:r>
            <a:endParaRPr lang="en-US" sz="1350" dirty="0"/>
          </a:p>
        </p:txBody>
      </p:sp>
      <p:sp>
        <p:nvSpPr>
          <p:cNvPr id="8" name="Text 6"/>
          <p:cNvSpPr txBox="1"/>
          <p:nvPr/>
        </p:nvSpPr>
        <p:spPr>
          <a:xfrm>
            <a:off x="457200" y="2935224"/>
            <a:ext cx="310896" cy="310896"/>
          </a:xfrm>
          <a:prstGeom prst="ellipse">
            <a:avLst/>
          </a:prstGeom>
          <a:solidFill>
            <a:srgbClr val="DD1367"/>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896112" y="2898648"/>
            <a:ext cx="365760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exit timeline: job ends, 2 days to leave</a:t>
            </a:r>
            <a:endParaRPr lang="en-US" sz="1350" dirty="0"/>
          </a:p>
        </p:txBody>
      </p:sp>
      <p:sp>
        <p:nvSpPr>
          <p:cNvPr id="10" name="Text 8"/>
          <p:cNvSpPr txBox="1"/>
          <p:nvPr/>
        </p:nvSpPr>
        <p:spPr>
          <a:xfrm>
            <a:off x="457200" y="3410712"/>
            <a:ext cx="310896" cy="310896"/>
          </a:xfrm>
          <a:prstGeom prst="ellipse">
            <a:avLst/>
          </a:prstGeom>
          <a:solidFill>
            <a:srgbClr val="DD1367"/>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896112" y="3374136"/>
            <a:ext cx="365760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A safe question to ask in writing</a:t>
            </a:r>
            <a:endParaRPr lang="en-US" sz="1350" dirty="0"/>
          </a:p>
        </p:txBody>
      </p:sp>
      <p:sp>
        <p:nvSpPr>
          <p:cNvPr id="12" name="Text 10"/>
          <p:cNvSpPr txBox="1"/>
          <p:nvPr/>
        </p:nvSpPr>
        <p:spPr>
          <a:xfrm>
            <a:off x="457200" y="3886200"/>
            <a:ext cx="310896" cy="310896"/>
          </a:xfrm>
          <a:prstGeom prst="ellipse">
            <a:avLst/>
          </a:prstGeom>
          <a:solidFill>
            <a:srgbClr val="DD1367"/>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3" name="Text 11"/>
          <p:cNvSpPr txBox="1"/>
          <p:nvPr/>
        </p:nvSpPr>
        <p:spPr>
          <a:xfrm>
            <a:off x="896112" y="3849624"/>
            <a:ext cx="3657600" cy="384048"/>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bilingual take-away sheet (.docx)</a:t>
            </a:r>
            <a:endParaRPr lang="en-US" sz="1350" dirty="0"/>
          </a:p>
        </p:txBody>
      </p:sp>
      <p:sp>
        <p:nvSpPr>
          <p:cNvPr id="14" name="Shape 12"/>
          <p:cNvSpPr/>
          <p:nvPr/>
        </p:nvSpPr>
        <p:spPr>
          <a:xfrm>
            <a:off x="4846320" y="685800"/>
            <a:ext cx="3840480" cy="3886200"/>
          </a:xfrm>
          <a:prstGeom prst="rect">
            <a:avLst/>
          </a:prstGeom>
          <a:solidFill>
            <a:srgbClr val="FAF7F0"/>
          </a:solidFill>
          <a:ln/>
          <a:effectLst>
            <a:outerShdw sx="100000" sy="100000" kx="0" ky="0" algn="bl" rotWithShape="0" blurRad="152400" dist="50800" dir="5400000">
              <a:srgbClr val="000000">
                <a:alpha val="35000"/>
              </a:srgbClr>
            </a:outerShdw>
          </a:effectLst>
        </p:spPr>
      </p:sp>
      <p:sp>
        <p:nvSpPr>
          <p:cNvPr id="15" name="Text 13"/>
          <p:cNvSpPr txBox="1"/>
          <p:nvPr/>
        </p:nvSpPr>
        <p:spPr>
          <a:xfrm>
            <a:off x="5074920" y="868680"/>
            <a:ext cx="3429000" cy="3520440"/>
          </a:xfrm>
          <a:prstGeom prst="rect">
            <a:avLst/>
          </a:prstGeom>
          <a:noFill/>
          <a:ln/>
        </p:spPr>
        <p:txBody>
          <a:bodyPr wrap="square" lIns="0" tIns="0" rIns="0" bIns="0" rtlCol="0" anchor="t"/>
          <a:lstStyle/>
          <a:p>
            <a:pPr indent="0" marL="0">
              <a:spcAft>
                <a:spcPts val="200"/>
              </a:spcAft>
              <a:buNone/>
            </a:pPr>
            <a:r>
              <a:rPr lang="en-US" sz="1100" b="1" dirty="0">
                <a:solidFill>
                  <a:srgbClr val="1B2A41"/>
                </a:solidFill>
                <a:latin typeface="Cambria" pitchFamily="34" charset="0"/>
                <a:ea typeface="Cambria" pitchFamily="34" charset="-122"/>
                <a:cs typeface="Cambria" pitchFamily="34" charset="-120"/>
              </a:rPr>
              <a:t>ACCOMMODATION ANNEX</a:t>
            </a:r>
            <a:endParaRPr lang="en-US" sz="1100" dirty="0"/>
          </a:p>
          <a:p>
            <a:pPr indent="0" marL="0">
              <a:spcAft>
                <a:spcPts val="200"/>
              </a:spcAft>
              <a:buNone/>
            </a:pPr>
            <a:r>
              <a:rPr lang="en-US" sz="600" dirty="0">
                <a:solidFill>
                  <a:srgbClr val="000000"/>
                </a:solidFill>
                <a:latin typeface="Cambria" pitchFamily="34" charset="0"/>
                <a:ea typeface="Cambria" pitchFamily="34" charset="-122"/>
                <a:cs typeface="Cambria" pitchFamily="34" charset="-120"/>
              </a:rPr>
              <a:t> </a:t>
            </a:r>
            <a:endParaRPr lang="en-US" sz="1100" dirty="0"/>
          </a:p>
          <a:p>
            <a:pPr indent="0" marL="0">
              <a:spcAft>
                <a:spcPts val="200"/>
              </a:spcAft>
              <a:buNone/>
            </a:pPr>
            <a:r>
              <a:rPr lang="en-US" sz="1000" b="1" dirty="0">
                <a:solidFill>
                  <a:srgbClr val="1B2A41"/>
                </a:solidFill>
                <a:latin typeface="Cambria" pitchFamily="34" charset="0"/>
                <a:ea typeface="Cambria" pitchFamily="34" charset="-122"/>
                <a:cs typeface="Cambria" pitchFamily="34" charset="-120"/>
              </a:rPr>
              <a:t>Article 2 - Charge</a:t>
            </a:r>
            <a:endParaRPr lang="en-US" sz="1100" dirty="0"/>
          </a:p>
          <a:p>
            <a:pPr indent="0" marL="0">
              <a:spcAft>
                <a:spcPts val="200"/>
              </a:spcAft>
              <a:buNone/>
            </a:pPr>
            <a:r>
              <a:rPr lang="en-US" sz="1000" dirty="0">
                <a:solidFill>
                  <a:srgbClr val="1B2A41"/>
                </a:solidFill>
                <a:latin typeface="Cambria" pitchFamily="34" charset="0"/>
                <a:ea typeface="Cambria" pitchFamily="34" charset="-122"/>
                <a:cs typeface="Cambria" pitchFamily="34" charset="-120"/>
              </a:rPr>
              <a:t>2.2 The charge is due for every week in which the accommodation is available to the occupant, </a:t>
            </a:r>
            <a:pPr indent="0" marL="0">
              <a:spcAft>
                <a:spcPts val="200"/>
              </a:spcAft>
              <a:buNone/>
            </a:pPr>
            <a:r>
              <a:rPr lang="en-US" sz="1000" dirty="0">
                <a:solidFill>
                  <a:srgbClr val="1B2A41"/>
                </a:solidFill>
                <a:highlight>
                  <a:srgbClr val="FFE45C"/>
                </a:highlight>
                <a:latin typeface="Cambria" pitchFamily="34" charset="0"/>
                <a:ea typeface="Cambria" pitchFamily="34" charset="-122"/>
                <a:cs typeface="Cambria" pitchFamily="34" charset="-120"/>
              </a:rPr>
              <a:t>whether or not the occupant has worked that week.</a:t>
            </a:r>
            <a:endParaRPr lang="en-US" sz="1100" dirty="0"/>
          </a:p>
          <a:p>
            <a:pPr indent="0" marL="0">
              <a:spcAft>
                <a:spcPts val="200"/>
              </a:spcAft>
              <a:buNone/>
            </a:pPr>
            <a:r>
              <a:rPr lang="en-US" sz="600" dirty="0">
                <a:solidFill>
                  <a:srgbClr val="000000"/>
                </a:solidFill>
                <a:latin typeface="Cambria" pitchFamily="34" charset="0"/>
                <a:ea typeface="Cambria" pitchFamily="34" charset="-122"/>
                <a:cs typeface="Cambria" pitchFamily="34" charset="-120"/>
              </a:rPr>
              <a:t> </a:t>
            </a:r>
            <a:endParaRPr lang="en-US" sz="1100" dirty="0"/>
          </a:p>
          <a:p>
            <a:pPr indent="0" marL="0">
              <a:spcAft>
                <a:spcPts val="200"/>
              </a:spcAft>
              <a:buNone/>
            </a:pPr>
            <a:r>
              <a:rPr lang="en-US" sz="1000" b="1" dirty="0">
                <a:solidFill>
                  <a:srgbClr val="1B2A41"/>
                </a:solidFill>
                <a:latin typeface="Cambria" pitchFamily="34" charset="0"/>
                <a:ea typeface="Cambria" pitchFamily="34" charset="-122"/>
                <a:cs typeface="Cambria" pitchFamily="34" charset="-120"/>
              </a:rPr>
              <a:t>Article 3 - Ending</a:t>
            </a:r>
            <a:endParaRPr lang="en-US" sz="1100" dirty="0"/>
          </a:p>
          <a:p>
            <a:pPr indent="0" marL="0">
              <a:spcAft>
                <a:spcPts val="200"/>
              </a:spcAft>
              <a:buNone/>
            </a:pPr>
            <a:r>
              <a:rPr lang="en-US" sz="1000" dirty="0">
                <a:solidFill>
                  <a:srgbClr val="1B2A41"/>
                </a:solidFill>
                <a:latin typeface="Cambria" pitchFamily="34" charset="0"/>
                <a:ea typeface="Cambria" pitchFamily="34" charset="-122"/>
                <a:cs typeface="Cambria" pitchFamily="34" charset="-120"/>
              </a:rPr>
              <a:t>3.1 The right to use the accommodation </a:t>
            </a:r>
            <a:pPr indent="0" marL="0">
              <a:spcAft>
                <a:spcPts val="200"/>
              </a:spcAft>
              <a:buNone/>
            </a:pPr>
            <a:r>
              <a:rPr lang="en-US" sz="1000" dirty="0">
                <a:solidFill>
                  <a:srgbClr val="1B2A41"/>
                </a:solidFill>
                <a:highlight>
                  <a:srgbClr val="FFE45C"/>
                </a:highlight>
                <a:latin typeface="Cambria" pitchFamily="34" charset="0"/>
                <a:ea typeface="Cambria" pitchFamily="34" charset="-122"/>
                <a:cs typeface="Cambria" pitchFamily="34" charset="-120"/>
              </a:rPr>
              <a:t>ends on the day the employment contract</a:t>
            </a:r>
            <a:pPr indent="0" marL="0">
              <a:spcAft>
                <a:spcPts val="200"/>
              </a:spcAft>
              <a:buNone/>
            </a:pPr>
            <a:r>
              <a:rPr lang="en-US" sz="1000" dirty="0">
                <a:solidFill>
                  <a:srgbClr val="1B2A41"/>
                </a:solidFill>
                <a:latin typeface="Cambria" pitchFamily="34" charset="0"/>
                <a:ea typeface="Cambria" pitchFamily="34" charset="-122"/>
                <a:cs typeface="Cambria" pitchFamily="34" charset="-120"/>
              </a:rPr>
              <a:t> with Northfield Staffing Solutions B.V. </a:t>
            </a:r>
            <a:pPr indent="0" marL="0">
              <a:spcAft>
                <a:spcPts val="200"/>
              </a:spcAft>
              <a:buNone/>
            </a:pPr>
            <a:r>
              <a:rPr lang="en-US" sz="1000" dirty="0">
                <a:solidFill>
                  <a:srgbClr val="1B2A41"/>
                </a:solidFill>
                <a:highlight>
                  <a:srgbClr val="FFE45C"/>
                </a:highlight>
                <a:latin typeface="Cambria" pitchFamily="34" charset="0"/>
                <a:ea typeface="Cambria" pitchFamily="34" charset="-122"/>
                <a:cs typeface="Cambria" pitchFamily="34" charset="-120"/>
              </a:rPr>
              <a:t>ends, for whatever reason.</a:t>
            </a:r>
            <a:endParaRPr lang="en-US" sz="1100" dirty="0"/>
          </a:p>
          <a:p>
            <a:pPr indent="0" marL="0">
              <a:spcAft>
                <a:spcPts val="200"/>
              </a:spcAft>
              <a:buNone/>
            </a:pPr>
            <a:r>
              <a:rPr lang="en-US" sz="1000" dirty="0">
                <a:solidFill>
                  <a:srgbClr val="1B2A41"/>
                </a:solidFill>
                <a:latin typeface="Cambria" pitchFamily="34" charset="0"/>
                <a:ea typeface="Cambria" pitchFamily="34" charset="-122"/>
                <a:cs typeface="Cambria" pitchFamily="34" charset="-120"/>
              </a:rPr>
              <a:t>3.2 The occupant must vacate the accommodation </a:t>
            </a:r>
            <a:pPr indent="0" marL="0">
              <a:spcAft>
                <a:spcPts val="200"/>
              </a:spcAft>
              <a:buNone/>
            </a:pPr>
            <a:r>
              <a:rPr lang="en-US" sz="1000" dirty="0">
                <a:solidFill>
                  <a:srgbClr val="1B2A41"/>
                </a:solidFill>
                <a:highlight>
                  <a:srgbClr val="FFE45C"/>
                </a:highlight>
                <a:latin typeface="Cambria" pitchFamily="34" charset="0"/>
                <a:ea typeface="Cambria" pitchFamily="34" charset="-122"/>
                <a:cs typeface="Cambria" pitchFamily="34" charset="-120"/>
              </a:rPr>
              <a:t>within two (2) calendar days</a:t>
            </a:r>
            <a:pPr indent="0" marL="0">
              <a:spcAft>
                <a:spcPts val="200"/>
              </a:spcAft>
              <a:buNone/>
            </a:pPr>
            <a:r>
              <a:rPr lang="en-US" sz="1000" dirty="0">
                <a:solidFill>
                  <a:srgbClr val="1B2A41"/>
                </a:solidFill>
                <a:latin typeface="Cambria" pitchFamily="34" charset="0"/>
                <a:ea typeface="Cambria" pitchFamily="34" charset="-122"/>
                <a:cs typeface="Cambria" pitchFamily="34" charset="-120"/>
              </a:rPr>
              <a:t> of that date and hand in the key.</a:t>
            </a:r>
            <a:endParaRPr lang="en-US" sz="1100" dirty="0"/>
          </a:p>
          <a:p>
            <a:pPr indent="0" marL="0">
              <a:spcAft>
                <a:spcPts val="200"/>
              </a:spcAft>
              <a:buNone/>
            </a:pPr>
            <a:r>
              <a:rPr lang="en-US" sz="600" dirty="0">
                <a:solidFill>
                  <a:srgbClr val="000000"/>
                </a:solidFill>
                <a:latin typeface="Cambria" pitchFamily="34" charset="0"/>
                <a:ea typeface="Cambria" pitchFamily="34" charset="-122"/>
                <a:cs typeface="Cambria" pitchFamily="34" charset="-120"/>
              </a:rPr>
              <a:t> </a:t>
            </a:r>
            <a:endParaRPr lang="en-US" sz="1100" dirty="0"/>
          </a:p>
          <a:p>
            <a:pPr indent="0" marL="0">
              <a:spcAft>
                <a:spcPts val="200"/>
              </a:spcAft>
              <a:buNone/>
            </a:pPr>
            <a:r>
              <a:rPr lang="en-US" sz="1000" b="1" dirty="0">
                <a:solidFill>
                  <a:srgbClr val="1B2A41"/>
                </a:solidFill>
                <a:latin typeface="Cambria" pitchFamily="34" charset="0"/>
                <a:ea typeface="Cambria" pitchFamily="34" charset="-122"/>
                <a:cs typeface="Cambria" pitchFamily="34" charset="-120"/>
              </a:rPr>
              <a:t>Article 4 - Authorisation for deductions</a:t>
            </a:r>
            <a:endParaRPr lang="en-US" sz="1100" dirty="0"/>
          </a:p>
          <a:p>
            <a:pPr indent="0" marL="0">
              <a:spcAft>
                <a:spcPts val="200"/>
              </a:spcAft>
              <a:buNone/>
            </a:pPr>
            <a:r>
              <a:rPr lang="en-US" sz="1000" dirty="0">
                <a:solidFill>
                  <a:srgbClr val="1B2A41"/>
                </a:solidFill>
                <a:latin typeface="Cambria" pitchFamily="34" charset="0"/>
                <a:ea typeface="Cambria" pitchFamily="34" charset="-122"/>
                <a:cs typeface="Cambria" pitchFamily="34" charset="-120"/>
              </a:rPr>
              <a:t>4.3 The occupant agrees that these deductions may be made even where this results in </a:t>
            </a:r>
            <a:pPr indent="0" marL="0">
              <a:spcAft>
                <a:spcPts val="200"/>
              </a:spcAft>
              <a:buNone/>
            </a:pPr>
            <a:r>
              <a:rPr lang="en-US" sz="1000" dirty="0">
                <a:solidFill>
                  <a:srgbClr val="1B2A41"/>
                </a:solidFill>
                <a:highlight>
                  <a:srgbClr val="FFE45C"/>
                </a:highlight>
                <a:latin typeface="Cambria" pitchFamily="34" charset="0"/>
                <a:ea typeface="Cambria" pitchFamily="34" charset="-122"/>
                <a:cs typeface="Cambria" pitchFamily="34" charset="-120"/>
              </a:rPr>
              <a:t>payment of less than the statutory minimum wage.</a:t>
            </a:r>
            <a:endParaRPr lang="en-US" sz="1100" dirty="0"/>
          </a:p>
        </p:txBody>
      </p:sp>
      <p:sp>
        <p:nvSpPr>
          <p:cNvPr id="16" name="Text 14"/>
          <p:cNvSpPr txBox="1"/>
          <p:nvPr/>
        </p:nvSpPr>
        <p:spPr>
          <a:xfrm rot="300000">
            <a:off x="5760720" y="4069080"/>
            <a:ext cx="960120" cy="365760"/>
          </a:xfrm>
          <a:prstGeom prst="roundRect">
            <a:avLst>
              <a:gd name="adj" fmla="val 15000"/>
            </a:avLst>
          </a:prstGeom>
          <a:noFill/>
          <a:ln w="28575">
            <a:solidFill>
              <a:srgbClr val="B86E00"/>
            </a:solidFill>
          </a:ln>
        </p:spPr>
        <p:txBody>
          <a:bodyPr wrap="square" lIns="0" tIns="0" rIns="0" bIns="0" rtlCol="0" anchor="ctr"/>
          <a:lstStyle/>
          <a:p>
            <a:pPr algn="ctr" indent="0" marL="0">
              <a:buNone/>
            </a:pPr>
            <a:r>
              <a:rPr lang="en-US" sz="1300" b="1" spc="100" kern="0" dirty="0">
                <a:solidFill>
                  <a:srgbClr val="B86E00"/>
                </a:solidFill>
                <a:latin typeface="Courier New" pitchFamily="34" charset="0"/>
                <a:ea typeface="Courier New" pitchFamily="34" charset="-122"/>
                <a:cs typeface="Courier New" pitchFamily="34" charset="-120"/>
              </a:rPr>
              <a:t>RISKY</a:t>
            </a:r>
            <a:endParaRPr lang="en-US" sz="1300" dirty="0"/>
          </a:p>
        </p:txBody>
      </p:sp>
      <p:sp>
        <p:nvSpPr>
          <p:cNvPr id="17" name="Text 15"/>
          <p:cNvSpPr txBox="1"/>
          <p:nvPr/>
        </p:nvSpPr>
        <p:spPr>
          <a:xfrm rot="-360000">
            <a:off x="7269480" y="4069080"/>
            <a:ext cx="1325880" cy="365760"/>
          </a:xfrm>
          <a:prstGeom prst="roundRect">
            <a:avLst>
              <a:gd name="adj" fmla="val 15000"/>
            </a:avLst>
          </a:prstGeom>
          <a:noFill/>
          <a:ln w="28575">
            <a:solidFill>
              <a:srgbClr val="C62828"/>
            </a:solidFill>
          </a:ln>
        </p:spPr>
        <p:txBody>
          <a:bodyPr wrap="square" lIns="0" tIns="0" rIns="0" bIns="0" rtlCol="0" anchor="ctr"/>
          <a:lstStyle/>
          <a:p>
            <a:pPr algn="ctr" indent="0" marL="0">
              <a:buNone/>
            </a:pPr>
            <a:r>
              <a:rPr lang="en-US" sz="1300" b="1" spc="100" kern="0" dirty="0">
                <a:solidFill>
                  <a:srgbClr val="C62828"/>
                </a:solidFill>
                <a:latin typeface="Courier New" pitchFamily="34" charset="0"/>
                <a:ea typeface="Courier New" pitchFamily="34" charset="-122"/>
                <a:cs typeface="Courier New" pitchFamily="34" charset="-120"/>
              </a:rPr>
              <a:t>UNLAWFUL</a:t>
            </a:r>
            <a:endParaRPr lang="en-US" sz="1300" dirty="0"/>
          </a:p>
        </p:txBody>
      </p:sp>
      <p:sp>
        <p:nvSpPr>
          <p:cNvPr id="18" name="Text 16"/>
          <p:cNvSpPr txBox="1"/>
          <p:nvPr/>
        </p:nvSpPr>
        <p:spPr>
          <a:xfrm>
            <a:off x="457200" y="4773168"/>
            <a:ext cx="7589520" cy="256032"/>
          </a:xfrm>
          <a:prstGeom prst="rect">
            <a:avLst/>
          </a:prstGeom>
          <a:noFill/>
          <a:ln/>
        </p:spPr>
        <p:txBody>
          <a:bodyPr wrap="square" lIns="0" tIns="0" rIns="0" bIns="0" rtlCol="0" anchor="ctr"/>
          <a:lstStyle/>
          <a:p>
            <a:pPr indent="0" marL="0">
              <a:buNone/>
            </a:pPr>
            <a:r>
              <a:rPr lang="en-US" sz="850" i="1" dirty="0">
                <a:solidFill>
                  <a:srgbClr val="AEB6C4"/>
                </a:solidFill>
                <a:latin typeface="Calibri" pitchFamily="34" charset="0"/>
                <a:ea typeface="Calibri" pitchFamily="34" charset="-122"/>
                <a:cs typeface="Calibri" pitchFamily="34" charset="-120"/>
              </a:rPr>
              <a:t>Sample documents written by us for testing; no real company or person. Backup: recorded demo video.</a:t>
            </a:r>
            <a:endParaRPr lang="en-US" sz="850" dirty="0"/>
          </a:p>
        </p:txBody>
      </p:sp>
      <p:sp>
        <p:nvSpPr>
          <p:cNvPr id="19" name="Text 17"/>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AEB6C4"/>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DD1367"/>
                </a:solidFill>
                <a:latin typeface="Calibri" pitchFamily="34" charset="0"/>
                <a:ea typeface="Calibri" pitchFamily="34" charset="-122"/>
                <a:cs typeface="Calibri" pitchFamily="34" charset="-120"/>
              </a:rPr>
              <a:t>ARTICLE 7  ·  ETHICAL REASONING</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What if the AI gets it wrong?</a:t>
            </a:r>
            <a:endParaRPr lang="en-US" sz="3000" dirty="0"/>
          </a:p>
        </p:txBody>
      </p:sp>
      <p:sp>
        <p:nvSpPr>
          <p:cNvPr id="4" name="Shape 2"/>
          <p:cNvSpPr/>
          <p:nvPr/>
        </p:nvSpPr>
        <p:spPr>
          <a:xfrm>
            <a:off x="457200" y="1298448"/>
            <a:ext cx="2880360" cy="1572768"/>
          </a:xfrm>
          <a:prstGeom prst="rect">
            <a:avLst/>
          </a:prstGeom>
          <a:solidFill>
            <a:srgbClr val="FFFFFF"/>
          </a:solidFill>
          <a:ln w="19050">
            <a:solidFill>
              <a:srgbClr val="C62828"/>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594360" y="1389888"/>
            <a:ext cx="1600200" cy="292608"/>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False reassurance</a:t>
            </a:r>
            <a:endParaRPr lang="en-US" sz="1250" dirty="0"/>
          </a:p>
        </p:txBody>
      </p:sp>
      <p:sp>
        <p:nvSpPr>
          <p:cNvPr id="6" name="Text 4"/>
          <p:cNvSpPr txBox="1"/>
          <p:nvPr/>
        </p:nvSpPr>
        <p:spPr>
          <a:xfrm rot="-240000">
            <a:off x="2148840" y="1389888"/>
            <a:ext cx="1078992" cy="274320"/>
          </a:xfrm>
          <a:prstGeom prst="roundRect">
            <a:avLst>
              <a:gd name="adj" fmla="val 20000"/>
            </a:avLst>
          </a:prstGeom>
          <a:noFill/>
          <a:ln w="28575">
            <a:solidFill>
              <a:srgbClr val="C62828"/>
            </a:solidFill>
          </a:ln>
        </p:spPr>
        <p:txBody>
          <a:bodyPr wrap="square" lIns="0" tIns="0" rIns="0" bIns="0" rtlCol="0" anchor="ctr"/>
          <a:lstStyle/>
          <a:p>
            <a:pPr algn="ctr" indent="0" marL="0">
              <a:buNone/>
            </a:pPr>
            <a:r>
              <a:rPr lang="en-US" sz="850" b="1" spc="100" kern="0" dirty="0">
                <a:solidFill>
                  <a:srgbClr val="C62828"/>
                </a:solidFill>
                <a:latin typeface="Courier New" pitchFamily="34" charset="0"/>
                <a:ea typeface="Courier New" pitchFamily="34" charset="-122"/>
                <a:cs typeface="Courier New" pitchFamily="34" charset="-120"/>
              </a:rPr>
              <a:t>BIGGEST RISK</a:t>
            </a:r>
            <a:endParaRPr lang="en-US" sz="850" dirty="0"/>
          </a:p>
        </p:txBody>
      </p:sp>
      <p:sp>
        <p:nvSpPr>
          <p:cNvPr id="7" name="Text 5"/>
          <p:cNvSpPr txBox="1"/>
          <p:nvPr/>
        </p:nvSpPr>
        <p:spPr>
          <a:xfrm>
            <a:off x="594360" y="1719072"/>
            <a:ext cx="2606040" cy="1078992"/>
          </a:xfrm>
          <a:prstGeom prst="rect">
            <a:avLst/>
          </a:prstGeom>
          <a:noFill/>
          <a:ln/>
        </p:spPr>
        <p:txBody>
          <a:bodyPr wrap="square" lIns="0" tIns="0" rIns="0" bIns="0" rtlCol="0" anchor="t"/>
          <a:lstStyle/>
          <a:p>
            <a:pPr indent="0" marL="0">
              <a:spcAft>
                <a:spcPts val="400"/>
              </a:spcAft>
              <a:buNone/>
            </a:pPr>
            <a:r>
              <a:rPr lang="en-US" sz="950" b="1" dirty="0">
                <a:solidFill>
                  <a:srgbClr val="C62828"/>
                </a:solidFill>
                <a:latin typeface="Calibri" pitchFamily="34" charset="0"/>
                <a:ea typeface="Calibri" pitchFamily="34" charset="-122"/>
                <a:cs typeface="Calibri" pitchFamily="34" charset="-120"/>
              </a:rPr>
              <a:t>Harm: </a:t>
            </a:r>
            <a:pPr indent="0" marL="0">
              <a:spcAft>
                <a:spcPts val="400"/>
              </a:spcAft>
              <a:buNone/>
            </a:pPr>
            <a:r>
              <a:rPr lang="en-US" sz="950" dirty="0">
                <a:solidFill>
                  <a:srgbClr val="1B2A41"/>
                </a:solidFill>
                <a:latin typeface="Calibri" pitchFamily="34" charset="0"/>
                <a:ea typeface="Calibri" pitchFamily="34" charset="-122"/>
                <a:cs typeface="Calibri" pitchFamily="34" charset="-120"/>
              </a:rPr>
              <a:t>They sign trusting a 'clean' report, then lose job and bed on the same day.</a:t>
            </a:r>
            <a:endParaRPr lang="en-US" sz="950" dirty="0"/>
          </a:p>
          <a:p>
            <a:pPr indent="0" marL="0">
              <a:spcAft>
                <a:spcPts val="400"/>
              </a:spcAft>
              <a:buNone/>
            </a:pPr>
            <a:r>
              <a:rPr lang="en-US" sz="950" b="1" dirty="0">
                <a:solidFill>
                  <a:srgbClr val="1E7A4C"/>
                </a:solidFill>
                <a:latin typeface="Calibri" pitchFamily="34" charset="0"/>
                <a:ea typeface="Calibri" pitchFamily="34" charset="-122"/>
                <a:cs typeface="Calibri" pitchFamily="34" charset="-120"/>
              </a:rPr>
              <a:t>What we did: </a:t>
            </a:r>
            <a:pPr indent="0" marL="0">
              <a:spcAft>
                <a:spcPts val="400"/>
              </a:spcAft>
              <a:buNone/>
            </a:pPr>
            <a:r>
              <a:rPr lang="en-US" sz="950" dirty="0">
                <a:solidFill>
                  <a:srgbClr val="1B2A41"/>
                </a:solidFill>
                <a:latin typeface="Calibri" pitchFamily="34" charset="0"/>
                <a:ea typeface="Calibri" pitchFamily="34" charset="-122"/>
                <a:cs typeface="Calibri" pitchFamily="34" charset="-120"/>
              </a:rPr>
              <a:t>Never says 'this contract is fine'. If unsure, no summary: a referral to a named organisation. 'Talk to a person' tops every report.</a:t>
            </a:r>
            <a:endParaRPr lang="en-US" sz="950" dirty="0"/>
          </a:p>
        </p:txBody>
      </p:sp>
      <p:sp>
        <p:nvSpPr>
          <p:cNvPr id="8" name="Shape 6"/>
          <p:cNvSpPr/>
          <p:nvPr/>
        </p:nvSpPr>
        <p:spPr>
          <a:xfrm>
            <a:off x="3520440" y="1298448"/>
            <a:ext cx="2880360" cy="1572768"/>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9" name="Text 7"/>
          <p:cNvSpPr txBox="1"/>
          <p:nvPr/>
        </p:nvSpPr>
        <p:spPr>
          <a:xfrm>
            <a:off x="3657600" y="1389888"/>
            <a:ext cx="2606040" cy="292608"/>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An invented clause</a:t>
            </a:r>
            <a:endParaRPr lang="en-US" sz="1250" dirty="0"/>
          </a:p>
        </p:txBody>
      </p:sp>
      <p:sp>
        <p:nvSpPr>
          <p:cNvPr id="10" name="Text 8"/>
          <p:cNvSpPr txBox="1"/>
          <p:nvPr/>
        </p:nvSpPr>
        <p:spPr>
          <a:xfrm>
            <a:off x="3657600" y="1719072"/>
            <a:ext cx="2606040" cy="1078992"/>
          </a:xfrm>
          <a:prstGeom prst="rect">
            <a:avLst/>
          </a:prstGeom>
          <a:noFill/>
          <a:ln/>
        </p:spPr>
        <p:txBody>
          <a:bodyPr wrap="square" lIns="0" tIns="0" rIns="0" bIns="0" rtlCol="0" anchor="t"/>
          <a:lstStyle/>
          <a:p>
            <a:pPr indent="0" marL="0">
              <a:spcAft>
                <a:spcPts val="400"/>
              </a:spcAft>
              <a:buNone/>
            </a:pPr>
            <a:r>
              <a:rPr lang="en-US" sz="950" b="1" dirty="0">
                <a:solidFill>
                  <a:srgbClr val="C62828"/>
                </a:solidFill>
                <a:latin typeface="Calibri" pitchFamily="34" charset="0"/>
                <a:ea typeface="Calibri" pitchFamily="34" charset="-122"/>
                <a:cs typeface="Calibri" pitchFamily="34" charset="-120"/>
              </a:rPr>
              <a:t>Harm: </a:t>
            </a:r>
            <a:pPr indent="0" marL="0">
              <a:spcAft>
                <a:spcPts val="400"/>
              </a:spcAft>
              <a:buNone/>
            </a:pPr>
            <a:r>
              <a:rPr lang="en-US" sz="950" dirty="0">
                <a:solidFill>
                  <a:srgbClr val="1B2A41"/>
                </a:solidFill>
                <a:latin typeface="Calibri" pitchFamily="34" charset="0"/>
                <a:ea typeface="Calibri" pitchFamily="34" charset="-122"/>
                <a:cs typeface="Calibri" pitchFamily="34" charset="-120"/>
              </a:rPr>
              <a:t>They confront their employer about a clause that isn't there.</a:t>
            </a:r>
            <a:endParaRPr lang="en-US" sz="950" dirty="0"/>
          </a:p>
          <a:p>
            <a:pPr indent="0" marL="0">
              <a:spcAft>
                <a:spcPts val="400"/>
              </a:spcAft>
              <a:buNone/>
            </a:pPr>
            <a:r>
              <a:rPr lang="en-US" sz="950" b="1" dirty="0">
                <a:solidFill>
                  <a:srgbClr val="1E7A4C"/>
                </a:solidFill>
                <a:latin typeface="Calibri" pitchFamily="34" charset="0"/>
                <a:ea typeface="Calibri" pitchFamily="34" charset="-122"/>
                <a:cs typeface="Calibri" pitchFamily="34" charset="-120"/>
              </a:rPr>
              <a:t>What we did: </a:t>
            </a:r>
            <a:pPr indent="0" marL="0">
              <a:spcAft>
                <a:spcPts val="400"/>
              </a:spcAft>
              <a:buNone/>
            </a:pPr>
            <a:r>
              <a:rPr lang="en-US" sz="950" dirty="0">
                <a:solidFill>
                  <a:srgbClr val="1B2A41"/>
                </a:solidFill>
                <a:latin typeface="Calibri" pitchFamily="34" charset="0"/>
                <a:ea typeface="Calibri" pitchFamily="34" charset="-122"/>
                <a:cs typeface="Calibri" pitchFamily="34" charset="-120"/>
              </a:rPr>
              <a:t>Every quote is checked against the original text. Not found means deleted, with the finding built on it.</a:t>
            </a:r>
            <a:endParaRPr lang="en-US" sz="950" dirty="0"/>
          </a:p>
        </p:txBody>
      </p:sp>
      <p:sp>
        <p:nvSpPr>
          <p:cNvPr id="11" name="Shape 9"/>
          <p:cNvSpPr/>
          <p:nvPr/>
        </p:nvSpPr>
        <p:spPr>
          <a:xfrm>
            <a:off x="457200" y="3008376"/>
            <a:ext cx="2880360" cy="1572768"/>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12" name="Text 10"/>
          <p:cNvSpPr txBox="1"/>
          <p:nvPr/>
        </p:nvSpPr>
        <p:spPr>
          <a:xfrm>
            <a:off x="594360" y="3099816"/>
            <a:ext cx="2606040" cy="292608"/>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Retaliation</a:t>
            </a:r>
            <a:endParaRPr lang="en-US" sz="1250" dirty="0"/>
          </a:p>
        </p:txBody>
      </p:sp>
      <p:sp>
        <p:nvSpPr>
          <p:cNvPr id="13" name="Text 11"/>
          <p:cNvSpPr txBox="1"/>
          <p:nvPr/>
        </p:nvSpPr>
        <p:spPr>
          <a:xfrm>
            <a:off x="594360" y="3429000"/>
            <a:ext cx="2606040" cy="1078992"/>
          </a:xfrm>
          <a:prstGeom prst="rect">
            <a:avLst/>
          </a:prstGeom>
          <a:noFill/>
          <a:ln/>
        </p:spPr>
        <p:txBody>
          <a:bodyPr wrap="square" lIns="0" tIns="0" rIns="0" bIns="0" rtlCol="0" anchor="t"/>
          <a:lstStyle/>
          <a:p>
            <a:pPr indent="0" marL="0">
              <a:spcAft>
                <a:spcPts val="400"/>
              </a:spcAft>
              <a:buNone/>
            </a:pPr>
            <a:r>
              <a:rPr lang="en-US" sz="950" b="1" dirty="0">
                <a:solidFill>
                  <a:srgbClr val="C62828"/>
                </a:solidFill>
                <a:latin typeface="Calibri" pitchFamily="34" charset="0"/>
                <a:ea typeface="Calibri" pitchFamily="34" charset="-122"/>
                <a:cs typeface="Calibri" pitchFamily="34" charset="-120"/>
              </a:rPr>
              <a:t>Harm: </a:t>
            </a:r>
            <a:pPr indent="0" marL="0">
              <a:spcAft>
                <a:spcPts val="400"/>
              </a:spcAft>
              <a:buNone/>
            </a:pPr>
            <a:r>
              <a:rPr lang="en-US" sz="950" dirty="0">
                <a:solidFill>
                  <a:srgbClr val="1B2A41"/>
                </a:solidFill>
                <a:latin typeface="Calibri" pitchFamily="34" charset="0"/>
                <a:ea typeface="Calibri" pitchFamily="34" charset="-122"/>
                <a:cs typeface="Calibri" pitchFamily="34" charset="-120"/>
              </a:rPr>
              <a:t>Acting on the report can cost job, room and transport in one week.</a:t>
            </a:r>
            <a:endParaRPr lang="en-US" sz="950" dirty="0"/>
          </a:p>
          <a:p>
            <a:pPr indent="0" marL="0">
              <a:spcAft>
                <a:spcPts val="400"/>
              </a:spcAft>
              <a:buNone/>
            </a:pPr>
            <a:r>
              <a:rPr lang="en-US" sz="950" b="1" dirty="0">
                <a:solidFill>
                  <a:srgbClr val="1E7A4C"/>
                </a:solidFill>
                <a:latin typeface="Calibri" pitchFamily="34" charset="0"/>
                <a:ea typeface="Calibri" pitchFamily="34" charset="-122"/>
                <a:cs typeface="Calibri" pitchFamily="34" charset="-120"/>
              </a:rPr>
              <a:t>What we did: </a:t>
            </a:r>
            <a:pPr indent="0" marL="0">
              <a:spcAft>
                <a:spcPts val="400"/>
              </a:spcAft>
              <a:buNone/>
            </a:pPr>
            <a:r>
              <a:rPr lang="en-US" sz="950" dirty="0">
                <a:solidFill>
                  <a:srgbClr val="1B2A41"/>
                </a:solidFill>
                <a:latin typeface="Calibri" pitchFamily="34" charset="0"/>
                <a:ea typeface="Calibri" pitchFamily="34" charset="-122"/>
                <a:cs typeface="Calibri" pitchFamily="34" charset="-120"/>
              </a:rPr>
              <a:t>Never says 'don't sign' or 'quit'. Suggests safe questions; confidential help before enforcement.</a:t>
            </a:r>
            <a:endParaRPr lang="en-US" sz="950" dirty="0"/>
          </a:p>
        </p:txBody>
      </p:sp>
      <p:sp>
        <p:nvSpPr>
          <p:cNvPr id="14" name="Shape 12"/>
          <p:cNvSpPr/>
          <p:nvPr/>
        </p:nvSpPr>
        <p:spPr>
          <a:xfrm>
            <a:off x="3520440" y="3008376"/>
            <a:ext cx="2880360" cy="1572768"/>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15" name="Text 13"/>
          <p:cNvSpPr txBox="1"/>
          <p:nvPr/>
        </p:nvSpPr>
        <p:spPr>
          <a:xfrm>
            <a:off x="3657600" y="3099816"/>
            <a:ext cx="2606040" cy="292608"/>
          </a:xfrm>
          <a:prstGeom prst="rect">
            <a:avLst/>
          </a:prstGeom>
          <a:noFill/>
          <a:ln/>
        </p:spPr>
        <p:txBody>
          <a:bodyPr wrap="square" lIns="0" tIns="0" rIns="0" bIns="0" rtlCol="0" anchor="ctr"/>
          <a:lstStyle/>
          <a:p>
            <a:pPr indent="0" marL="0">
              <a:buNone/>
            </a:pPr>
            <a:r>
              <a:rPr lang="en-US" sz="1250" b="1" dirty="0">
                <a:solidFill>
                  <a:srgbClr val="1B2A41"/>
                </a:solidFill>
                <a:latin typeface="Calibri" pitchFamily="34" charset="0"/>
                <a:ea typeface="Calibri" pitchFamily="34" charset="-122"/>
                <a:cs typeface="Calibri" pitchFamily="34" charset="-120"/>
              </a:rPr>
              <a:t>Documents sent to Google</a:t>
            </a:r>
            <a:endParaRPr lang="en-US" sz="1250" dirty="0"/>
          </a:p>
        </p:txBody>
      </p:sp>
      <p:sp>
        <p:nvSpPr>
          <p:cNvPr id="16" name="Text 14"/>
          <p:cNvSpPr txBox="1"/>
          <p:nvPr/>
        </p:nvSpPr>
        <p:spPr>
          <a:xfrm>
            <a:off x="3657600" y="3429000"/>
            <a:ext cx="2606040" cy="1078992"/>
          </a:xfrm>
          <a:prstGeom prst="rect">
            <a:avLst/>
          </a:prstGeom>
          <a:noFill/>
          <a:ln/>
        </p:spPr>
        <p:txBody>
          <a:bodyPr wrap="square" lIns="0" tIns="0" rIns="0" bIns="0" rtlCol="0" anchor="t"/>
          <a:lstStyle/>
          <a:p>
            <a:pPr indent="0" marL="0">
              <a:spcAft>
                <a:spcPts val="400"/>
              </a:spcAft>
              <a:buNone/>
            </a:pPr>
            <a:r>
              <a:rPr lang="en-US" sz="950" b="1" dirty="0">
                <a:solidFill>
                  <a:srgbClr val="C62828"/>
                </a:solidFill>
                <a:latin typeface="Calibri" pitchFamily="34" charset="0"/>
                <a:ea typeface="Calibri" pitchFamily="34" charset="-122"/>
                <a:cs typeface="Calibri" pitchFamily="34" charset="-120"/>
              </a:rPr>
              <a:t>Harm: </a:t>
            </a:r>
            <a:pPr indent="0" marL="0">
              <a:spcAft>
                <a:spcPts val="400"/>
              </a:spcAft>
              <a:buNone/>
            </a:pPr>
            <a:r>
              <a:rPr lang="en-US" sz="950" dirty="0">
                <a:solidFill>
                  <a:srgbClr val="1B2A41"/>
                </a:solidFill>
                <a:latin typeface="Calibri" pitchFamily="34" charset="0"/>
                <a:ea typeface="Calibri" pitchFamily="34" charset="-122"/>
                <a:cs typeface="Calibri" pitchFamily="34" charset="-120"/>
              </a:rPr>
              <a:t>Names, addresses and BSN leave the worker's control.</a:t>
            </a:r>
            <a:endParaRPr lang="en-US" sz="950" dirty="0"/>
          </a:p>
          <a:p>
            <a:pPr indent="0" marL="0">
              <a:spcAft>
                <a:spcPts val="400"/>
              </a:spcAft>
              <a:buNone/>
            </a:pPr>
            <a:r>
              <a:rPr lang="en-US" sz="950" b="1" dirty="0">
                <a:solidFill>
                  <a:srgbClr val="1E7A4C"/>
                </a:solidFill>
                <a:latin typeface="Calibri" pitchFamily="34" charset="0"/>
                <a:ea typeface="Calibri" pitchFamily="34" charset="-122"/>
                <a:cs typeface="Calibri" pitchFamily="34" charset="-120"/>
              </a:rPr>
              <a:t>What we did: </a:t>
            </a:r>
            <a:pPr indent="0" marL="0">
              <a:spcAft>
                <a:spcPts val="400"/>
              </a:spcAft>
              <a:buNone/>
            </a:pPr>
            <a:r>
              <a:rPr lang="en-US" sz="950" dirty="0">
                <a:solidFill>
                  <a:srgbClr val="1B2A41"/>
                </a:solidFill>
                <a:latin typeface="Calibri" pitchFamily="34" charset="0"/>
                <a:ea typeface="Calibri" pitchFamily="34" charset="-122"/>
                <a:cs typeface="Calibri" pitchFamily="34" charset="-120"/>
              </a:rPr>
              <a:t>Asks to remove personal details first (no rule needs them). A local mode where nothing leaves the laptop.</a:t>
            </a:r>
            <a:endParaRPr lang="en-US" sz="950" dirty="0"/>
          </a:p>
        </p:txBody>
      </p:sp>
      <p:sp>
        <p:nvSpPr>
          <p:cNvPr id="17" name="Shape 15"/>
          <p:cNvSpPr/>
          <p:nvPr/>
        </p:nvSpPr>
        <p:spPr>
          <a:xfrm>
            <a:off x="6583680" y="1298448"/>
            <a:ext cx="2103120" cy="3282696"/>
          </a:xfrm>
          <a:prstGeom prst="rect">
            <a:avLst/>
          </a:prstGeom>
          <a:solidFill>
            <a:srgbClr val="1B2A41"/>
          </a:solidFill>
          <a:ln/>
        </p:spPr>
      </p:sp>
      <p:sp>
        <p:nvSpPr>
          <p:cNvPr id="18" name="Text 16"/>
          <p:cNvSpPr txBox="1"/>
          <p:nvPr/>
        </p:nvSpPr>
        <p:spPr>
          <a:xfrm>
            <a:off x="6720840" y="1417320"/>
            <a:ext cx="1828800" cy="685800"/>
          </a:xfrm>
          <a:prstGeom prst="rect">
            <a:avLst/>
          </a:prstGeom>
          <a:noFill/>
          <a:ln/>
        </p:spPr>
        <p:txBody>
          <a:bodyPr wrap="square" lIns="0" tIns="0" rIns="0" bIns="0" rtlCol="0" anchor="ctr"/>
          <a:lstStyle/>
          <a:p>
            <a:pPr indent="0" marL="0">
              <a:buNone/>
            </a:pPr>
            <a:r>
              <a:rPr lang="en-US" sz="3800" b="1" dirty="0">
                <a:solidFill>
                  <a:srgbClr val="FFE45C"/>
                </a:solidFill>
                <a:latin typeface="Cambria" pitchFamily="34" charset="0"/>
                <a:ea typeface="Cambria" pitchFamily="34" charset="-122"/>
                <a:cs typeface="Cambria" pitchFamily="34" charset="-120"/>
              </a:rPr>
              <a:t>12/13</a:t>
            </a:r>
            <a:endParaRPr lang="en-US" sz="3800" dirty="0"/>
          </a:p>
        </p:txBody>
      </p:sp>
      <p:sp>
        <p:nvSpPr>
          <p:cNvPr id="19" name="Text 17"/>
          <p:cNvSpPr txBox="1"/>
          <p:nvPr/>
        </p:nvSpPr>
        <p:spPr>
          <a:xfrm>
            <a:off x="6720840" y="2121408"/>
            <a:ext cx="1828800" cy="640080"/>
          </a:xfrm>
          <a:prstGeom prst="rect">
            <a:avLst/>
          </a:prstGeom>
          <a:noFill/>
          <a:ln/>
        </p:spPr>
        <p:txBody>
          <a:bodyPr wrap="square" lIns="0" tIns="0" rIns="0" bIns="0" rtlCol="0" anchor="t"/>
          <a:lstStyle/>
          <a:p>
            <a:pPr indent="0" marL="0">
              <a:buNone/>
            </a:pPr>
            <a:r>
              <a:rPr lang="en-US" sz="1050" dirty="0">
                <a:solidFill>
                  <a:srgbClr val="FFFFFF"/>
                </a:solidFill>
                <a:latin typeface="Calibri" pitchFamily="34" charset="0"/>
                <a:ea typeface="Calibri" pitchFamily="34" charset="-122"/>
                <a:cs typeface="Calibri" pitchFamily="34" charset="-120"/>
              </a:rPr>
              <a:t>planted traps found by the hosted model in our tied-housing bundle</a:t>
            </a:r>
            <a:endParaRPr lang="en-US" sz="1050" dirty="0"/>
          </a:p>
        </p:txBody>
      </p:sp>
      <p:sp>
        <p:nvSpPr>
          <p:cNvPr id="20" name="Text 18"/>
          <p:cNvSpPr txBox="1"/>
          <p:nvPr/>
        </p:nvSpPr>
        <p:spPr>
          <a:xfrm>
            <a:off x="6720840" y="2834640"/>
            <a:ext cx="1828800" cy="1645920"/>
          </a:xfrm>
          <a:prstGeom prst="rect">
            <a:avLst/>
          </a:prstGeom>
          <a:noFill/>
          <a:ln/>
        </p:spPr>
        <p:txBody>
          <a:bodyPr wrap="square" lIns="0" tIns="0" rIns="0" bIns="0" rtlCol="0" anchor="t"/>
          <a:lstStyle/>
          <a:p>
            <a:pPr indent="0" marL="0">
              <a:spcAft>
                <a:spcPts val="600"/>
              </a:spcAft>
              <a:buNone/>
            </a:pPr>
            <a:r>
              <a:rPr lang="en-US" sz="950" b="1" dirty="0">
                <a:solidFill>
                  <a:srgbClr val="FFE45C"/>
                </a:solidFill>
                <a:latin typeface="Calibri" pitchFamily="34" charset="0"/>
                <a:ea typeface="Calibri" pitchFamily="34" charset="-122"/>
                <a:cs typeface="Calibri" pitchFamily="34" charset="-120"/>
              </a:rPr>
              <a:t>But: </a:t>
            </a:r>
            <a:pPr indent="0" marL="0">
              <a:spcAft>
                <a:spcPts val="600"/>
              </a:spcAft>
              <a:buNone/>
            </a:pPr>
            <a:r>
              <a:rPr lang="en-US" sz="950" dirty="0">
                <a:solidFill>
                  <a:srgbClr val="D9DEE7"/>
                </a:solidFill>
                <a:latin typeface="Calibri" pitchFamily="34" charset="0"/>
                <a:ea typeface="Calibri" pitchFamily="34" charset="-122"/>
                <a:cs typeface="Calibri" pitchFamily="34" charset="-120"/>
              </a:rPr>
              <a:t>we wrote those contracts ourselves, so this is an upper bound, not accuracy on real contracts.</a:t>
            </a:r>
            <a:endParaRPr lang="en-US" sz="950" dirty="0"/>
          </a:p>
          <a:p>
            <a:pPr indent="0" marL="0">
              <a:spcAft>
                <a:spcPts val="600"/>
              </a:spcAft>
              <a:buNone/>
            </a:pPr>
            <a:r>
              <a:rPr lang="en-US" sz="950" b="1" dirty="0">
                <a:solidFill>
                  <a:srgbClr val="FFE45C"/>
                </a:solidFill>
                <a:latin typeface="Calibri" pitchFamily="34" charset="0"/>
                <a:ea typeface="Calibri" pitchFamily="34" charset="-122"/>
                <a:cs typeface="Calibri" pitchFamily="34" charset="-120"/>
              </a:rPr>
              <a:t>Next: </a:t>
            </a:r>
            <a:pPr indent="0" marL="0">
              <a:spcAft>
                <a:spcPts val="600"/>
              </a:spcAft>
              <a:buNone/>
            </a:pPr>
            <a:r>
              <a:rPr lang="en-US" sz="950" dirty="0">
                <a:solidFill>
                  <a:srgbClr val="D9DEE7"/>
                </a:solidFill>
                <a:latin typeface="Calibri" pitchFamily="34" charset="0"/>
                <a:ea typeface="Calibri" pitchFamily="34" charset="-122"/>
                <a:cs typeface="Calibri" pitchFamily="34" charset="-120"/>
              </a:rPr>
              <a:t>test on real, anonymised contracts with a union such as FNV.</a:t>
            </a:r>
            <a:endParaRPr lang="en-US" sz="950" dirty="0"/>
          </a:p>
        </p:txBody>
      </p:sp>
      <p:sp>
        <p:nvSpPr>
          <p:cNvPr id="21" name="Text 19"/>
          <p:cNvSpPr txBox="1"/>
          <p:nvPr/>
        </p:nvSpPr>
        <p:spPr>
          <a:xfrm>
            <a:off x="457200" y="4773168"/>
            <a:ext cx="7589520" cy="256032"/>
          </a:xfrm>
          <a:prstGeom prst="rect">
            <a:avLst/>
          </a:prstGeom>
          <a:noFill/>
          <a:ln/>
        </p:spPr>
        <p:txBody>
          <a:bodyPr wrap="square" lIns="0" tIns="0" rIns="0" bIns="0" rtlCol="0" anchor="ctr"/>
          <a:lstStyle/>
          <a:p>
            <a:pPr indent="0" marL="0">
              <a:buNone/>
            </a:pPr>
            <a:r>
              <a:rPr lang="en-US" sz="850" i="1" dirty="0">
                <a:solidFill>
                  <a:srgbClr val="5B6475"/>
                </a:solidFill>
                <a:latin typeface="Calibri" pitchFamily="34" charset="0"/>
                <a:ea typeface="Calibri" pitchFamily="34" charset="-122"/>
                <a:cs typeface="Calibri" pitchFamily="34" charset="-120"/>
              </a:rPr>
              <a:t>Full reflection, with eight risks specific to this prototype: ETHICS.md in the repository.</a:t>
            </a:r>
            <a:endParaRPr lang="en-US" sz="850" dirty="0"/>
          </a:p>
        </p:txBody>
      </p:sp>
      <p:sp>
        <p:nvSpPr>
          <p:cNvPr id="22" name="Text 20"/>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7F0"/>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DD1367"/>
                </a:solidFill>
                <a:latin typeface="Calibri" pitchFamily="34" charset="0"/>
                <a:ea typeface="Calibri" pitchFamily="34" charset="-122"/>
                <a:cs typeface="Calibri" pitchFamily="34" charset="-120"/>
              </a:rPr>
              <a:t>ARTICLE 8  ·  HOW WE USED THE TOOLS</a:t>
            </a:r>
            <a:endParaRPr lang="en-US" sz="1100" dirty="0"/>
          </a:p>
        </p:txBody>
      </p:sp>
      <p:sp>
        <p:nvSpPr>
          <p:cNvPr id="3" name="Text 1"/>
          <p:cNvSpPr txBox="1"/>
          <p:nvPr/>
        </p:nvSpPr>
        <p:spPr>
          <a:xfrm>
            <a:off x="457200" y="548640"/>
            <a:ext cx="8229600" cy="640080"/>
          </a:xfrm>
          <a:prstGeom prst="rect">
            <a:avLst/>
          </a:prstGeom>
          <a:noFill/>
          <a:ln/>
        </p:spPr>
        <p:txBody>
          <a:bodyPr wrap="square" lIns="0" tIns="0" rIns="0" bIns="0" rtlCol="0" anchor="ctr"/>
          <a:lstStyle/>
          <a:p>
            <a:pPr indent="0" marL="0">
              <a:buNone/>
            </a:pPr>
            <a:r>
              <a:rPr lang="en-US" sz="3000" b="1" dirty="0">
                <a:solidFill>
                  <a:srgbClr val="1B2A41"/>
                </a:solidFill>
                <a:latin typeface="Cambria" pitchFamily="34" charset="0"/>
                <a:ea typeface="Cambria" pitchFamily="34" charset="-122"/>
                <a:cs typeface="Cambria" pitchFamily="34" charset="-120"/>
              </a:rPr>
              <a:t>How we built it</a:t>
            </a:r>
            <a:endParaRPr lang="en-US" sz="3000" dirty="0"/>
          </a:p>
        </p:txBody>
      </p:sp>
      <p:sp>
        <p:nvSpPr>
          <p:cNvPr id="4" name="Shape 2"/>
          <p:cNvSpPr/>
          <p:nvPr/>
        </p:nvSpPr>
        <p:spPr>
          <a:xfrm>
            <a:off x="640080" y="1463040"/>
            <a:ext cx="6309360" cy="0"/>
          </a:xfrm>
          <a:prstGeom prst="line">
            <a:avLst/>
          </a:prstGeom>
          <a:noFill/>
          <a:ln w="19050">
            <a:solidFill>
              <a:srgbClr val="C9C1B1"/>
            </a:solidFill>
            <a:prstDash val="dash"/>
          </a:ln>
        </p:spPr>
      </p:sp>
      <p:sp>
        <p:nvSpPr>
          <p:cNvPr id="5" name="Text 3"/>
          <p:cNvSpPr txBox="1"/>
          <p:nvPr/>
        </p:nvSpPr>
        <p:spPr>
          <a:xfrm>
            <a:off x="457200" y="1298448"/>
            <a:ext cx="329184" cy="329184"/>
          </a:xfrm>
          <a:prstGeom prst="ellipse">
            <a:avLst/>
          </a:prstGeom>
          <a:solidFill>
            <a:srgbClr val="1B2A41"/>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457200" y="1719072"/>
            <a:ext cx="1920240" cy="91440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Plan</a:t>
            </a:r>
            <a:endParaRPr lang="en-US" sz="1300" dirty="0"/>
          </a:p>
          <a:p>
            <a:pPr indent="0" marL="0">
              <a:buNone/>
            </a:pPr>
            <a:r>
              <a:rPr lang="en-US" sz="950" i="1" dirty="0">
                <a:solidFill>
                  <a:srgbClr val="DD1367"/>
                </a:solidFill>
                <a:latin typeface="Calibri" pitchFamily="34" charset="0"/>
                <a:ea typeface="Calibri" pitchFamily="34" charset="-122"/>
                <a:cs typeface="Calibri" pitchFamily="34" charset="-120"/>
              </a:rPr>
              <a:t>with Claude</a:t>
            </a:r>
            <a:endParaRPr lang="en-US" sz="1300" dirty="0"/>
          </a:p>
          <a:p>
            <a:pPr indent="0" marL="0">
              <a:buNone/>
            </a:pPr>
            <a:r>
              <a:rPr lang="en-US" sz="950" dirty="0">
                <a:solidFill>
                  <a:srgbClr val="38445A"/>
                </a:solidFill>
                <a:latin typeface="Calibri" pitchFamily="34" charset="0"/>
                <a:ea typeface="Calibri" pitchFamily="34" charset="-122"/>
                <a:cs typeface="Calibri" pitchFamily="34" charset="-120"/>
              </a:rPr>
              <a:t>Problem, users, and which steps the AI may and may not do</a:t>
            </a:r>
            <a:endParaRPr lang="en-US" sz="1300" dirty="0"/>
          </a:p>
        </p:txBody>
      </p:sp>
      <p:sp>
        <p:nvSpPr>
          <p:cNvPr id="7" name="Text 5"/>
          <p:cNvSpPr txBox="1"/>
          <p:nvPr/>
        </p:nvSpPr>
        <p:spPr>
          <a:xfrm>
            <a:off x="2560320" y="1298448"/>
            <a:ext cx="329184" cy="329184"/>
          </a:xfrm>
          <a:prstGeom prst="ellipse">
            <a:avLst/>
          </a:prstGeom>
          <a:solidFill>
            <a:srgbClr val="1B2A41"/>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8" name="Text 6"/>
          <p:cNvSpPr txBox="1"/>
          <p:nvPr/>
        </p:nvSpPr>
        <p:spPr>
          <a:xfrm>
            <a:off x="2560320" y="1719072"/>
            <a:ext cx="1920240" cy="91440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Build</a:t>
            </a:r>
            <a:endParaRPr lang="en-US" sz="1300" dirty="0"/>
          </a:p>
          <a:p>
            <a:pPr indent="0" marL="0">
              <a:buNone/>
            </a:pPr>
            <a:r>
              <a:rPr lang="en-US" sz="950" i="1" dirty="0">
                <a:solidFill>
                  <a:srgbClr val="DD1367"/>
                </a:solidFill>
                <a:latin typeface="Calibri" pitchFamily="34" charset="0"/>
                <a:ea typeface="Calibri" pitchFamily="34" charset="-122"/>
                <a:cs typeface="Calibri" pitchFamily="34" charset="-120"/>
              </a:rPr>
              <a:t>with Claude Code</a:t>
            </a:r>
            <a:endParaRPr lang="en-US" sz="1300" dirty="0"/>
          </a:p>
          <a:p>
            <a:pPr indent="0" marL="0">
              <a:buNone/>
            </a:pPr>
            <a:r>
              <a:rPr lang="en-US" sz="950" dirty="0">
                <a:solidFill>
                  <a:srgbClr val="38445A"/>
                </a:solidFill>
                <a:latin typeface="Calibri" pitchFamily="34" charset="0"/>
                <a:ea typeface="Calibri" pitchFamily="34" charset="-122"/>
                <a:cs typeface="Calibri" pitchFamily="34" charset="-120"/>
              </a:rPr>
              <a:t>Python pipeline, 3 system prompts for Gemini, Streamlit app</a:t>
            </a:r>
            <a:endParaRPr lang="en-US" sz="1300" dirty="0"/>
          </a:p>
        </p:txBody>
      </p:sp>
      <p:sp>
        <p:nvSpPr>
          <p:cNvPr id="9" name="Text 7"/>
          <p:cNvSpPr txBox="1"/>
          <p:nvPr/>
        </p:nvSpPr>
        <p:spPr>
          <a:xfrm>
            <a:off x="4663440" y="1298448"/>
            <a:ext cx="329184" cy="329184"/>
          </a:xfrm>
          <a:prstGeom prst="ellipse">
            <a:avLst/>
          </a:prstGeom>
          <a:solidFill>
            <a:srgbClr val="1B2A41"/>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0" name="Text 8"/>
          <p:cNvSpPr txBox="1"/>
          <p:nvPr/>
        </p:nvSpPr>
        <p:spPr>
          <a:xfrm>
            <a:off x="4663440" y="1719072"/>
            <a:ext cx="1920240" cy="91440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Test</a:t>
            </a:r>
            <a:endParaRPr lang="en-US" sz="1300" dirty="0"/>
          </a:p>
          <a:p>
            <a:pPr indent="0" marL="0">
              <a:buNone/>
            </a:pPr>
            <a:r>
              <a:rPr lang="en-US" sz="950" i="1" dirty="0">
                <a:solidFill>
                  <a:srgbClr val="DD1367"/>
                </a:solidFill>
                <a:latin typeface="Calibri" pitchFamily="34" charset="0"/>
                <a:ea typeface="Calibri" pitchFamily="34" charset="-122"/>
                <a:cs typeface="Calibri" pitchFamily="34" charset="-120"/>
              </a:rPr>
              <a:t>pytest + samples</a:t>
            </a:r>
            <a:endParaRPr lang="en-US" sz="1300" dirty="0"/>
          </a:p>
          <a:p>
            <a:pPr indent="0" marL="0">
              <a:buNone/>
            </a:pPr>
            <a:r>
              <a:rPr lang="en-US" sz="950" dirty="0">
                <a:solidFill>
                  <a:srgbClr val="38445A"/>
                </a:solidFill>
                <a:latin typeface="Calibri" pitchFamily="34" charset="0"/>
                <a:ea typeface="Calibri" pitchFamily="34" charset="-122"/>
                <a:cs typeface="Calibri" pitchFamily="34" charset="-120"/>
              </a:rPr>
              <a:t>Tests need no API key; 6 sample bundles; evaluate.py scores each run</a:t>
            </a:r>
            <a:endParaRPr lang="en-US" sz="1300" dirty="0"/>
          </a:p>
        </p:txBody>
      </p:sp>
      <p:sp>
        <p:nvSpPr>
          <p:cNvPr id="11" name="Text 9"/>
          <p:cNvSpPr txBox="1"/>
          <p:nvPr/>
        </p:nvSpPr>
        <p:spPr>
          <a:xfrm>
            <a:off x="6766560" y="1298448"/>
            <a:ext cx="329184" cy="329184"/>
          </a:xfrm>
          <a:prstGeom prst="ellipse">
            <a:avLst/>
          </a:prstGeom>
          <a:solidFill>
            <a:srgbClr val="DD1367"/>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2" name="Text 10"/>
          <p:cNvSpPr txBox="1"/>
          <p:nvPr/>
        </p:nvSpPr>
        <p:spPr>
          <a:xfrm>
            <a:off x="6766560" y="1719072"/>
            <a:ext cx="1920240" cy="914400"/>
          </a:xfrm>
          <a:prstGeom prst="rect">
            <a:avLst/>
          </a:prstGeom>
          <a:noFill/>
          <a:ln/>
        </p:spPr>
        <p:txBody>
          <a:bodyPr wrap="square" lIns="0" tIns="0" rIns="0" bIns="0" rtlCol="0" anchor="t"/>
          <a:lstStyle/>
          <a:p>
            <a:pPr indent="0" marL="0">
              <a:buNone/>
            </a:pPr>
            <a:r>
              <a:rPr lang="en-US" sz="1300" b="1" dirty="0">
                <a:solidFill>
                  <a:srgbClr val="1B2A41"/>
                </a:solidFill>
                <a:latin typeface="Calibri" pitchFamily="34" charset="0"/>
                <a:ea typeface="Calibri" pitchFamily="34" charset="-122"/>
                <a:cs typeface="Calibri" pitchFamily="34" charset="-120"/>
              </a:rPr>
              <a:t>Fix &amp; troubleshoot</a:t>
            </a:r>
            <a:endParaRPr lang="en-US" sz="1300" dirty="0"/>
          </a:p>
          <a:p>
            <a:pPr indent="0" marL="0">
              <a:buNone/>
            </a:pPr>
            <a:r>
              <a:rPr lang="en-US" sz="950" i="1" dirty="0">
                <a:solidFill>
                  <a:srgbClr val="DD1367"/>
                </a:solidFill>
                <a:latin typeface="Calibri" pitchFamily="34" charset="0"/>
                <a:ea typeface="Calibri" pitchFamily="34" charset="-122"/>
                <a:cs typeface="Calibri" pitchFamily="34" charset="-120"/>
              </a:rPr>
              <a:t>real Gemini runs</a:t>
            </a:r>
            <a:endParaRPr lang="en-US" sz="1300" dirty="0"/>
          </a:p>
          <a:p>
            <a:pPr indent="0" marL="0">
              <a:buNone/>
            </a:pPr>
            <a:r>
              <a:rPr lang="en-US" sz="950" dirty="0">
                <a:solidFill>
                  <a:srgbClr val="38445A"/>
                </a:solidFill>
                <a:latin typeface="Calibri" pitchFamily="34" charset="0"/>
                <a:ea typeface="Calibri" pitchFamily="34" charset="-122"/>
                <a:cs typeface="Calibri" pitchFamily="34" charset="-120"/>
              </a:rPr>
              <a:t>Overload and quota errors (below). We re-checked every source: 4 claims corrected</a:t>
            </a:r>
            <a:endParaRPr lang="en-US" sz="1300" dirty="0"/>
          </a:p>
        </p:txBody>
      </p:sp>
      <p:sp>
        <p:nvSpPr>
          <p:cNvPr id="13" name="Shape 11"/>
          <p:cNvSpPr/>
          <p:nvPr/>
        </p:nvSpPr>
        <p:spPr>
          <a:xfrm>
            <a:off x="457200" y="2761488"/>
            <a:ext cx="3291840" cy="1828800"/>
          </a:xfrm>
          <a:prstGeom prst="rect">
            <a:avLst/>
          </a:prstGeom>
          <a:solidFill>
            <a:srgbClr val="1B2A41"/>
          </a:solidFill>
          <a:ln/>
        </p:spPr>
      </p:sp>
      <p:sp>
        <p:nvSpPr>
          <p:cNvPr id="14" name="Text 12"/>
          <p:cNvSpPr txBox="1"/>
          <p:nvPr/>
        </p:nvSpPr>
        <p:spPr>
          <a:xfrm>
            <a:off x="621792" y="2852928"/>
            <a:ext cx="3017520" cy="274320"/>
          </a:xfrm>
          <a:prstGeom prst="rect">
            <a:avLst/>
          </a:prstGeom>
          <a:noFill/>
          <a:ln/>
        </p:spPr>
        <p:txBody>
          <a:bodyPr wrap="square" lIns="0" tIns="0" rIns="0" bIns="0" rtlCol="0" anchor="ctr"/>
          <a:lstStyle/>
          <a:p>
            <a:pPr indent="0" marL="0">
              <a:buNone/>
            </a:pPr>
            <a:r>
              <a:rPr lang="en-US" sz="1000" b="1" spc="100" kern="0" dirty="0">
                <a:solidFill>
                  <a:srgbClr val="FFE45C"/>
                </a:solidFill>
                <a:latin typeface="Calibri" pitchFamily="34" charset="0"/>
                <a:ea typeface="Calibri" pitchFamily="34" charset="-122"/>
                <a:cs typeface="Calibri" pitchFamily="34" charset="-120"/>
              </a:rPr>
              <a:t>THE PROBLEM: THE FREE GEMINI TIER</a:t>
            </a:r>
            <a:endParaRPr lang="en-US" sz="1000" dirty="0"/>
          </a:p>
        </p:txBody>
      </p:sp>
      <p:sp>
        <p:nvSpPr>
          <p:cNvPr id="15" name="Text 13"/>
          <p:cNvSpPr txBox="1"/>
          <p:nvPr/>
        </p:nvSpPr>
        <p:spPr>
          <a:xfrm>
            <a:off x="621792" y="3182112"/>
            <a:ext cx="3017520" cy="1325880"/>
          </a:xfrm>
          <a:prstGeom prst="rect">
            <a:avLst/>
          </a:prstGeom>
          <a:noFill/>
          <a:ln/>
        </p:spPr>
        <p:txBody>
          <a:bodyPr wrap="square" lIns="0" tIns="0" rIns="0" bIns="0" rtlCol="0" anchor="t"/>
          <a:lstStyle/>
          <a:p>
            <a:pPr indent="0" marL="0">
              <a:spcAft>
                <a:spcPts val="600"/>
              </a:spcAft>
              <a:buNone/>
            </a:pPr>
            <a:r>
              <a:rPr lang="en-US" sz="1050" b="1" dirty="0">
                <a:solidFill>
                  <a:srgbClr val="FFE45C"/>
                </a:solidFill>
                <a:latin typeface="Calibri" pitchFamily="34" charset="0"/>
                <a:ea typeface="Calibri" pitchFamily="34" charset="-122"/>
                <a:cs typeface="Calibri" pitchFamily="34" charset="-120"/>
              </a:rPr>
              <a:t>503</a:t>
            </a:r>
            <a:pPr indent="0" marL="0">
              <a:spcAft>
                <a:spcPts val="600"/>
              </a:spcAft>
              <a:buNone/>
            </a:pPr>
            <a:r>
              <a:rPr lang="en-US" sz="1050" dirty="0">
                <a:solidFill>
                  <a:srgbClr val="FFFFFF"/>
                </a:solidFill>
                <a:latin typeface="Calibri" pitchFamily="34" charset="0"/>
                <a:ea typeface="Calibri" pitchFamily="34" charset="-122"/>
                <a:cs typeface="Calibri" pitchFamily="34" charset="-120"/>
              </a:rPr>
              <a:t>  the best model is overloaded, sometimes for minutes</a:t>
            </a:r>
            <a:endParaRPr lang="en-US" sz="1050" dirty="0"/>
          </a:p>
          <a:p>
            <a:pPr indent="0" marL="0">
              <a:spcAft>
                <a:spcPts val="600"/>
              </a:spcAft>
              <a:buNone/>
            </a:pPr>
            <a:r>
              <a:rPr lang="en-US" sz="1050" b="1" dirty="0">
                <a:solidFill>
                  <a:srgbClr val="FFE45C"/>
                </a:solidFill>
                <a:latin typeface="Calibri" pitchFamily="34" charset="0"/>
                <a:ea typeface="Calibri" pitchFamily="34" charset="-122"/>
                <a:cs typeface="Calibri" pitchFamily="34" charset="-120"/>
              </a:rPr>
              <a:t>429</a:t>
            </a:r>
            <a:pPr indent="0" marL="0">
              <a:spcAft>
                <a:spcPts val="600"/>
              </a:spcAft>
              <a:buNone/>
            </a:pPr>
            <a:r>
              <a:rPr lang="en-US" sz="1050" dirty="0">
                <a:solidFill>
                  <a:srgbClr val="FFFFFF"/>
                </a:solidFill>
                <a:latin typeface="Calibri" pitchFamily="34" charset="0"/>
                <a:ea typeface="Calibri" pitchFamily="34" charset="-122"/>
                <a:cs typeface="Calibri" pitchFamily="34" charset="-120"/>
              </a:rPr>
              <a:t>  the daily quota per key, per model, is used up</a:t>
            </a:r>
            <a:endParaRPr lang="en-US" sz="1050" dirty="0"/>
          </a:p>
          <a:p>
            <a:pPr indent="0" marL="0">
              <a:spcAft>
                <a:spcPts val="600"/>
              </a:spcAft>
              <a:buNone/>
            </a:pPr>
            <a:r>
              <a:rPr lang="en-US" sz="1050" b="1" dirty="0">
                <a:solidFill>
                  <a:srgbClr val="FFE45C"/>
                </a:solidFill>
                <a:latin typeface="Calibri" pitchFamily="34" charset="0"/>
                <a:ea typeface="Calibri" pitchFamily="34" charset="-122"/>
                <a:cs typeface="Calibri" pitchFamily="34" charset="-120"/>
              </a:rPr>
              <a:t>5 calls</a:t>
            </a:r>
            <a:pPr indent="0" marL="0">
              <a:spcAft>
                <a:spcPts val="600"/>
              </a:spcAft>
              <a:buNone/>
            </a:pPr>
            <a:r>
              <a:rPr lang="en-US" sz="1050" dirty="0">
                <a:solidFill>
                  <a:srgbClr val="FFFFFF"/>
                </a:solidFill>
                <a:latin typeface="Calibri" pitchFamily="34" charset="0"/>
                <a:ea typeface="Calibri" pitchFamily="34" charset="-122"/>
                <a:cs typeface="Calibri" pitchFamily="34" charset="-120"/>
              </a:rPr>
              <a:t>  per 3-document check; ~20 free calls per key, per model, per day</a:t>
            </a:r>
            <a:endParaRPr lang="en-US" sz="1050" dirty="0"/>
          </a:p>
        </p:txBody>
      </p:sp>
      <p:sp>
        <p:nvSpPr>
          <p:cNvPr id="16" name="Shape 14"/>
          <p:cNvSpPr/>
          <p:nvPr/>
        </p:nvSpPr>
        <p:spPr>
          <a:xfrm>
            <a:off x="3977640" y="2761488"/>
            <a:ext cx="4709160" cy="1828800"/>
          </a:xfrm>
          <a:prstGeom prst="rect">
            <a:avLst/>
          </a:prstGeom>
          <a:solidFill>
            <a:srgbClr val="FFFFFF"/>
          </a:solidFill>
          <a:ln w="9525">
            <a:solidFill>
              <a:srgbClr val="E4DED2"/>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4142232" y="2852928"/>
            <a:ext cx="4389120" cy="274320"/>
          </a:xfrm>
          <a:prstGeom prst="rect">
            <a:avLst/>
          </a:prstGeom>
          <a:noFill/>
          <a:ln/>
        </p:spPr>
        <p:txBody>
          <a:bodyPr wrap="square" lIns="0" tIns="0" rIns="0" bIns="0" rtlCol="0" anchor="ctr"/>
          <a:lstStyle/>
          <a:p>
            <a:pPr indent="0" marL="0">
              <a:buNone/>
            </a:pPr>
            <a:r>
              <a:rPr lang="en-US" sz="1000" b="1" spc="100" kern="0" dirty="0">
                <a:solidFill>
                  <a:srgbClr val="DD1367"/>
                </a:solidFill>
                <a:latin typeface="Calibri" pitchFamily="34" charset="0"/>
                <a:ea typeface="Calibri" pitchFamily="34" charset="-122"/>
                <a:cs typeface="Calibri" pitchFamily="34" charset="-120"/>
              </a:rPr>
              <a:t>OUR FIX: FALL BACK FROM BETTER TO WORSE MODELS</a:t>
            </a:r>
            <a:endParaRPr lang="en-US" sz="1000" dirty="0"/>
          </a:p>
        </p:txBody>
      </p:sp>
      <p:sp>
        <p:nvSpPr>
          <p:cNvPr id="18" name="Text 16"/>
          <p:cNvSpPr txBox="1"/>
          <p:nvPr/>
        </p:nvSpPr>
        <p:spPr>
          <a:xfrm>
            <a:off x="4142232" y="3200400"/>
            <a:ext cx="1005840" cy="310896"/>
          </a:xfrm>
          <a:prstGeom prst="roundRect">
            <a:avLst>
              <a:gd name="adj" fmla="val 17647"/>
            </a:avLst>
          </a:prstGeom>
          <a:solidFill>
            <a:srgbClr val="1B2A41"/>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3.8-flash</a:t>
            </a:r>
            <a:endParaRPr lang="en-US" sz="950" dirty="0"/>
          </a:p>
        </p:txBody>
      </p:sp>
      <p:sp>
        <p:nvSpPr>
          <p:cNvPr id="19" name="Text 17"/>
          <p:cNvSpPr txBox="1"/>
          <p:nvPr/>
        </p:nvSpPr>
        <p:spPr>
          <a:xfrm>
            <a:off x="5239512" y="3200400"/>
            <a:ext cx="1005840" cy="310896"/>
          </a:xfrm>
          <a:prstGeom prst="roundRect">
            <a:avLst>
              <a:gd name="adj" fmla="val 17647"/>
            </a:avLst>
          </a:prstGeom>
          <a:solidFill>
            <a:srgbClr val="2C3E5C"/>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3.7-flash</a:t>
            </a:r>
            <a:endParaRPr lang="en-US" sz="950" dirty="0"/>
          </a:p>
        </p:txBody>
      </p:sp>
      <p:sp>
        <p:nvSpPr>
          <p:cNvPr id="20" name="Text 18"/>
          <p:cNvSpPr txBox="1"/>
          <p:nvPr/>
        </p:nvSpPr>
        <p:spPr>
          <a:xfrm>
            <a:off x="6336792" y="3200400"/>
            <a:ext cx="1005840" cy="310896"/>
          </a:xfrm>
          <a:prstGeom prst="roundRect">
            <a:avLst>
              <a:gd name="adj" fmla="val 17647"/>
            </a:avLst>
          </a:prstGeom>
          <a:solidFill>
            <a:srgbClr val="44597A"/>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3.6-flash</a:t>
            </a:r>
            <a:endParaRPr lang="en-US" sz="950" dirty="0"/>
          </a:p>
        </p:txBody>
      </p:sp>
      <p:sp>
        <p:nvSpPr>
          <p:cNvPr id="21" name="Text 19"/>
          <p:cNvSpPr txBox="1"/>
          <p:nvPr/>
        </p:nvSpPr>
        <p:spPr>
          <a:xfrm>
            <a:off x="7434072" y="3200400"/>
            <a:ext cx="1005840" cy="310896"/>
          </a:xfrm>
          <a:prstGeom prst="roundRect">
            <a:avLst>
              <a:gd name="adj" fmla="val 17647"/>
            </a:avLst>
          </a:prstGeom>
          <a:solidFill>
            <a:srgbClr val="5E7294"/>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3.5-flash</a:t>
            </a:r>
            <a:endParaRPr lang="en-US" sz="950" dirty="0"/>
          </a:p>
        </p:txBody>
      </p:sp>
      <p:sp>
        <p:nvSpPr>
          <p:cNvPr id="22" name="Text 20"/>
          <p:cNvSpPr txBox="1"/>
          <p:nvPr/>
        </p:nvSpPr>
        <p:spPr>
          <a:xfrm>
            <a:off x="4142232" y="3602736"/>
            <a:ext cx="1353312" cy="310896"/>
          </a:xfrm>
          <a:prstGeom prst="roundRect">
            <a:avLst>
              <a:gd name="adj" fmla="val 17647"/>
            </a:avLst>
          </a:prstGeom>
          <a:solidFill>
            <a:srgbClr val="7C8CA8"/>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3-flash-preview</a:t>
            </a:r>
            <a:endParaRPr lang="en-US" sz="950" dirty="0"/>
          </a:p>
        </p:txBody>
      </p:sp>
      <p:sp>
        <p:nvSpPr>
          <p:cNvPr id="23" name="Text 21"/>
          <p:cNvSpPr txBox="1"/>
          <p:nvPr/>
        </p:nvSpPr>
        <p:spPr>
          <a:xfrm>
            <a:off x="5586984" y="3602736"/>
            <a:ext cx="1353312" cy="310896"/>
          </a:xfrm>
          <a:prstGeom prst="roundRect">
            <a:avLst>
              <a:gd name="adj" fmla="val 17647"/>
            </a:avLst>
          </a:prstGeom>
          <a:solidFill>
            <a:srgbClr val="B86E00"/>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3.5-flash-lite</a:t>
            </a:r>
            <a:endParaRPr lang="en-US" sz="950" dirty="0"/>
          </a:p>
        </p:txBody>
      </p:sp>
      <p:sp>
        <p:nvSpPr>
          <p:cNvPr id="24" name="Text 22"/>
          <p:cNvSpPr txBox="1"/>
          <p:nvPr/>
        </p:nvSpPr>
        <p:spPr>
          <a:xfrm>
            <a:off x="7031736" y="3602736"/>
            <a:ext cx="1353312" cy="310896"/>
          </a:xfrm>
          <a:prstGeom prst="roundRect">
            <a:avLst>
              <a:gd name="adj" fmla="val 17647"/>
            </a:avLst>
          </a:prstGeom>
          <a:solidFill>
            <a:srgbClr val="B86E00"/>
          </a:solid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3.1-flash-lite</a:t>
            </a:r>
            <a:endParaRPr lang="en-US" sz="950" dirty="0"/>
          </a:p>
        </p:txBody>
      </p:sp>
      <p:sp>
        <p:nvSpPr>
          <p:cNvPr id="25" name="Text 23"/>
          <p:cNvSpPr txBox="1"/>
          <p:nvPr/>
        </p:nvSpPr>
        <p:spPr>
          <a:xfrm>
            <a:off x="4142232" y="4023360"/>
            <a:ext cx="4389120" cy="530352"/>
          </a:xfrm>
          <a:prstGeom prst="rect">
            <a:avLst/>
          </a:prstGeom>
          <a:noFill/>
          <a:ln/>
        </p:spPr>
        <p:txBody>
          <a:bodyPr wrap="square" lIns="0" tIns="0" rIns="0" bIns="0" rtlCol="0" anchor="t"/>
          <a:lstStyle/>
          <a:p>
            <a:pPr indent="0" marL="0">
              <a:buNone/>
            </a:pPr>
            <a:r>
              <a:rPr lang="en-US" sz="950" b="1" dirty="0">
                <a:solidFill>
                  <a:srgbClr val="1B2A41"/>
                </a:solidFill>
                <a:latin typeface="Calibri" pitchFamily="34" charset="0"/>
                <a:ea typeface="Calibri" pitchFamily="34" charset="-122"/>
                <a:cs typeface="Calibri" pitchFamily="34" charset="-120"/>
              </a:rPr>
              <a:t>429 on a key: </a:t>
            </a:r>
            <a:pPr indent="0" marL="0">
              <a:buNone/>
            </a:pPr>
            <a:r>
              <a:rPr lang="en-US" sz="950" dirty="0">
                <a:solidFill>
                  <a:srgbClr val="38445A"/>
                </a:solidFill>
                <a:latin typeface="Calibri" pitchFamily="34" charset="0"/>
                <a:ea typeface="Calibri" pitchFamily="34" charset="-122"/>
                <a:cs typeface="Calibri" pitchFamily="34" charset="-120"/>
              </a:rPr>
              <a:t>switch to the next API key</a:t>
            </a:r>
            <a:endParaRPr lang="en-US" sz="950" dirty="0"/>
          </a:p>
          <a:p>
            <a:pPr indent="0" marL="0">
              <a:buNone/>
            </a:pPr>
            <a:r>
              <a:rPr lang="en-US" sz="950" b="1" dirty="0">
                <a:solidFill>
                  <a:srgbClr val="B86E00"/>
                </a:solidFill>
                <a:latin typeface="Calibri" pitchFamily="34" charset="0"/>
                <a:ea typeface="Calibri" pitchFamily="34" charset="-122"/>
                <a:cs typeface="Calibri" pitchFamily="34" charset="-120"/>
              </a:rPr>
              <a:t>Answered by a lite model: </a:t>
            </a:r>
            <a:pPr indent="0" marL="0">
              <a:buNone/>
            </a:pPr>
            <a:r>
              <a:rPr lang="en-US" sz="950" dirty="0">
                <a:solidFill>
                  <a:srgbClr val="38445A"/>
                </a:solidFill>
                <a:latin typeface="Calibri" pitchFamily="34" charset="0"/>
                <a:ea typeface="Calibri" pitchFamily="34" charset="-122"/>
                <a:cs typeface="Calibri" pitchFamily="34" charset="-120"/>
              </a:rPr>
              <a:t>report flagged as degraded, lower confidence, can send the user to a person</a:t>
            </a:r>
            <a:endParaRPr lang="en-US" sz="950" dirty="0"/>
          </a:p>
        </p:txBody>
      </p:sp>
      <p:sp>
        <p:nvSpPr>
          <p:cNvPr id="26" name="Text 24"/>
          <p:cNvSpPr txBox="1"/>
          <p:nvPr/>
        </p:nvSpPr>
        <p:spPr>
          <a:xfrm>
            <a:off x="457200" y="4773168"/>
            <a:ext cx="7589520" cy="256032"/>
          </a:xfrm>
          <a:prstGeom prst="rect">
            <a:avLst/>
          </a:prstGeom>
          <a:noFill/>
          <a:ln/>
        </p:spPr>
        <p:txBody>
          <a:bodyPr wrap="square" lIns="0" tIns="0" rIns="0" bIns="0" rtlCol="0" anchor="ctr"/>
          <a:lstStyle/>
          <a:p>
            <a:pPr indent="0" marL="0">
              <a:buNone/>
            </a:pPr>
            <a:r>
              <a:rPr lang="en-US" sz="850" i="1" dirty="0">
                <a:solidFill>
                  <a:srgbClr val="5B6475"/>
                </a:solidFill>
                <a:latin typeface="Calibri" pitchFamily="34" charset="0"/>
                <a:ea typeface="Calibri" pitchFamily="34" charset="-122"/>
                <a:cs typeface="Calibri" pitchFamily="34" charset="-120"/>
              </a:rPr>
              <a:t>Gemini API = the AI inside the product (steps 2, 3 and 5). Claude = our assistant for planning and writing the code.</a:t>
            </a:r>
            <a:endParaRPr lang="en-US" sz="850" dirty="0"/>
          </a:p>
        </p:txBody>
      </p:sp>
      <p:sp>
        <p:nvSpPr>
          <p:cNvPr id="27" name="Text 25"/>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5B6475"/>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1"/>
        </a:solidFill>
      </p:bgPr>
    </p:bg>
    <p:spTree>
      <p:nvGrpSpPr>
        <p:cNvPr id="1" name=""/>
        <p:cNvGrpSpPr/>
        <p:nvPr/>
      </p:nvGrpSpPr>
      <p:grpSpPr>
        <a:xfrm>
          <a:off x="0" y="0"/>
          <a:ext cx="0" cy="0"/>
          <a:chOff x="0" y="0"/>
          <a:chExt cx="0" cy="0"/>
        </a:xfrm>
      </p:grpSpPr>
      <p:sp>
        <p:nvSpPr>
          <p:cNvPr id="2" name="Text 0"/>
          <p:cNvSpPr txBox="1"/>
          <p:nvPr/>
        </p:nvSpPr>
        <p:spPr>
          <a:xfrm>
            <a:off x="457200" y="274320"/>
            <a:ext cx="7772400" cy="274320"/>
          </a:xfrm>
          <a:prstGeom prst="rect">
            <a:avLst/>
          </a:prstGeom>
          <a:noFill/>
          <a:ln/>
        </p:spPr>
        <p:txBody>
          <a:bodyPr wrap="square" lIns="0" tIns="0" rIns="0" bIns="0" rtlCol="0" anchor="ctr"/>
          <a:lstStyle/>
          <a:p>
            <a:pPr indent="0" marL="0">
              <a:buNone/>
            </a:pPr>
            <a:r>
              <a:rPr lang="en-US" sz="1100" b="1" spc="200" kern="0" dirty="0">
                <a:solidFill>
                  <a:srgbClr val="FF5C9A"/>
                </a:solidFill>
                <a:latin typeface="Calibri" pitchFamily="34" charset="0"/>
                <a:ea typeface="Calibri" pitchFamily="34" charset="-122"/>
                <a:cs typeface="Calibri" pitchFamily="34" charset="-120"/>
              </a:rPr>
              <a:t>CONTRACT TRAP FINDER  ·  SDG 10</a:t>
            </a:r>
            <a:endParaRPr lang="en-US" sz="1100" dirty="0"/>
          </a:p>
        </p:txBody>
      </p:sp>
      <p:sp>
        <p:nvSpPr>
          <p:cNvPr id="3" name="Text 1"/>
          <p:cNvSpPr txBox="1"/>
          <p:nvPr/>
        </p:nvSpPr>
        <p:spPr>
          <a:xfrm>
            <a:off x="457200" y="731520"/>
            <a:ext cx="5669280" cy="13716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rules exist.</a:t>
            </a:r>
            <a:endParaRPr lang="en-US" sz="3200" dirty="0"/>
          </a:p>
          <a:p>
            <a:pPr indent="0" marL="0">
              <a:buNone/>
            </a:pPr>
            <a:r>
              <a:rPr lang="en-US" sz="3200" b="1" dirty="0">
                <a:solidFill>
                  <a:srgbClr val="FFFFFF"/>
                </a:solidFill>
                <a:latin typeface="Cambria" pitchFamily="34" charset="0"/>
                <a:ea typeface="Cambria" pitchFamily="34" charset="-122"/>
                <a:cs typeface="Cambria" pitchFamily="34" charset="-120"/>
              </a:rPr>
              <a:t>Now workers can </a:t>
            </a:r>
            <a:pPr indent="0" marL="0">
              <a:buNone/>
            </a:pPr>
            <a:r>
              <a:rPr lang="en-US" sz="3200" b="1" dirty="0">
                <a:solidFill>
                  <a:srgbClr val="1B2A41"/>
                </a:solidFill>
                <a:highlight>
                  <a:srgbClr val="FFE45C"/>
                </a:highlight>
                <a:latin typeface="Cambria" pitchFamily="34" charset="0"/>
                <a:ea typeface="Cambria" pitchFamily="34" charset="-122"/>
                <a:cs typeface="Cambria" pitchFamily="34" charset="-120"/>
              </a:rPr>
              <a:t>check them</a:t>
            </a:r>
            <a:pPr indent="0" marL="0">
              <a:buNone/>
            </a:pPr>
            <a:r>
              <a:rPr lang="en-US" sz="3200" b="1" dirty="0">
                <a:solidFill>
                  <a:srgbClr val="FFFFFF"/>
                </a:solidFill>
                <a:latin typeface="Cambria" pitchFamily="34" charset="0"/>
                <a:ea typeface="Cambria" pitchFamily="34" charset="-122"/>
                <a:cs typeface="Cambria" pitchFamily="34" charset="-120"/>
              </a:rPr>
              <a:t>.</a:t>
            </a:r>
            <a:endParaRPr lang="en-US" sz="3200" dirty="0"/>
          </a:p>
        </p:txBody>
      </p:sp>
      <p:sp>
        <p:nvSpPr>
          <p:cNvPr id="4" name="Text 2"/>
          <p:cNvSpPr txBox="1"/>
          <p:nvPr/>
        </p:nvSpPr>
        <p:spPr>
          <a:xfrm>
            <a:off x="457200" y="2331720"/>
            <a:ext cx="5486400" cy="822960"/>
          </a:xfrm>
          <a:prstGeom prst="rect">
            <a:avLst/>
          </a:prstGeom>
          <a:noFill/>
          <a:ln/>
        </p:spPr>
        <p:txBody>
          <a:bodyPr wrap="square" lIns="0" tIns="0" rIns="0" bIns="0" rtlCol="0" anchor="ctr"/>
          <a:lstStyle/>
          <a:p>
            <a:pPr indent="0" marL="0">
              <a:buNone/>
            </a:pPr>
            <a:r>
              <a:rPr lang="en-US" sz="4400" b="1" i="1" dirty="0">
                <a:solidFill>
                  <a:srgbClr val="FFE45C"/>
                </a:solidFill>
                <a:latin typeface="Cambria" pitchFamily="34" charset="0"/>
                <a:ea typeface="Cambria" pitchFamily="34" charset="-122"/>
                <a:cs typeface="Cambria" pitchFamily="34" charset="-120"/>
              </a:rPr>
              <a:t>Questions?</a:t>
            </a:r>
            <a:endParaRPr lang="en-US" sz="4400" dirty="0"/>
          </a:p>
        </p:txBody>
      </p:sp>
      <p:sp>
        <p:nvSpPr>
          <p:cNvPr id="5" name="Text 3"/>
          <p:cNvSpPr txBox="1"/>
          <p:nvPr/>
        </p:nvSpPr>
        <p:spPr>
          <a:xfrm>
            <a:off x="457200" y="3794760"/>
            <a:ext cx="5486400" cy="64008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Lucas Jansze  ·  Dinh Duy Lan (Dylan)</a:t>
            </a:r>
            <a:endParaRPr lang="en-US" sz="1400" dirty="0"/>
          </a:p>
          <a:p>
            <a:pPr indent="0" marL="0">
              <a:buNone/>
            </a:pPr>
            <a:r>
              <a:rPr lang="en-US" sz="1400" dirty="0">
                <a:solidFill>
                  <a:srgbClr val="D9DEE7"/>
                </a:solidFill>
                <a:latin typeface="Calibri" pitchFamily="34" charset="0"/>
                <a:ea typeface="Calibri" pitchFamily="34" charset="-122"/>
                <a:cs typeface="Calibri" pitchFamily="34" charset="-120"/>
              </a:rPr>
              <a:t>github.com/lucasjansze/Hackathon_3</a:t>
            </a:r>
            <a:endParaRPr lang="en-US" sz="1400" dirty="0"/>
          </a:p>
        </p:txBody>
      </p:sp>
      <p:sp>
        <p:nvSpPr>
          <p:cNvPr id="6" name="Text 4"/>
          <p:cNvSpPr txBox="1"/>
          <p:nvPr/>
        </p:nvSpPr>
        <p:spPr>
          <a:xfrm rot="-420000">
            <a:off x="6400800" y="1097280"/>
            <a:ext cx="1920240" cy="457200"/>
          </a:xfrm>
          <a:prstGeom prst="roundRect">
            <a:avLst>
              <a:gd name="adj" fmla="val 12000"/>
            </a:avLst>
          </a:prstGeom>
          <a:noFill/>
          <a:ln w="28575">
            <a:solidFill>
              <a:srgbClr val="FF7A7A"/>
            </a:solidFill>
          </a:ln>
        </p:spPr>
        <p:txBody>
          <a:bodyPr wrap="square" lIns="0" tIns="0" rIns="0" bIns="0" rtlCol="0" anchor="ctr"/>
          <a:lstStyle/>
          <a:p>
            <a:pPr algn="ctr" indent="0" marL="0">
              <a:buNone/>
            </a:pPr>
            <a:r>
              <a:rPr lang="en-US" sz="1600" b="1" spc="100" kern="0" dirty="0">
                <a:solidFill>
                  <a:srgbClr val="FF7A7A"/>
                </a:solidFill>
                <a:latin typeface="Courier New" pitchFamily="34" charset="0"/>
                <a:ea typeface="Courier New" pitchFamily="34" charset="-122"/>
                <a:cs typeface="Courier New" pitchFamily="34" charset="-120"/>
              </a:rPr>
              <a:t>UNLAWFUL</a:t>
            </a:r>
            <a:endParaRPr lang="en-US" sz="1600" dirty="0"/>
          </a:p>
        </p:txBody>
      </p:sp>
      <p:sp>
        <p:nvSpPr>
          <p:cNvPr id="7" name="Text 5"/>
          <p:cNvSpPr txBox="1"/>
          <p:nvPr/>
        </p:nvSpPr>
        <p:spPr>
          <a:xfrm rot="300000">
            <a:off x="6903720" y="1920240"/>
            <a:ext cx="1417320" cy="457200"/>
          </a:xfrm>
          <a:prstGeom prst="roundRect">
            <a:avLst>
              <a:gd name="adj" fmla="val 12000"/>
            </a:avLst>
          </a:prstGeom>
          <a:noFill/>
          <a:ln w="28575">
            <a:solidFill>
              <a:srgbClr val="FFC15C"/>
            </a:solidFill>
          </a:ln>
        </p:spPr>
        <p:txBody>
          <a:bodyPr wrap="square" lIns="0" tIns="0" rIns="0" bIns="0" rtlCol="0" anchor="ctr"/>
          <a:lstStyle/>
          <a:p>
            <a:pPr algn="ctr" indent="0" marL="0">
              <a:buNone/>
            </a:pPr>
            <a:r>
              <a:rPr lang="en-US" sz="1600" b="1" spc="100" kern="0" dirty="0">
                <a:solidFill>
                  <a:srgbClr val="FFC15C"/>
                </a:solidFill>
                <a:latin typeface="Courier New" pitchFamily="34" charset="0"/>
                <a:ea typeface="Courier New" pitchFamily="34" charset="-122"/>
                <a:cs typeface="Courier New" pitchFamily="34" charset="-120"/>
              </a:rPr>
              <a:t>RISKY</a:t>
            </a:r>
            <a:endParaRPr lang="en-US" sz="1600" dirty="0"/>
          </a:p>
        </p:txBody>
      </p:sp>
      <p:sp>
        <p:nvSpPr>
          <p:cNvPr id="8" name="Text 6"/>
          <p:cNvSpPr txBox="1"/>
          <p:nvPr/>
        </p:nvSpPr>
        <p:spPr>
          <a:xfrm rot="-180000">
            <a:off x="6263640" y="2743200"/>
            <a:ext cx="2423160" cy="457200"/>
          </a:xfrm>
          <a:prstGeom prst="roundRect">
            <a:avLst>
              <a:gd name="adj" fmla="val 12000"/>
            </a:avLst>
          </a:prstGeom>
          <a:noFill/>
          <a:ln w="28575">
            <a:solidFill>
              <a:srgbClr val="8DBBFF"/>
            </a:solidFill>
          </a:ln>
        </p:spPr>
        <p:txBody>
          <a:bodyPr wrap="square" lIns="0" tIns="0" rIns="0" bIns="0" rtlCol="0" anchor="ctr"/>
          <a:lstStyle/>
          <a:p>
            <a:pPr algn="ctr" indent="0" marL="0">
              <a:buNone/>
            </a:pPr>
            <a:r>
              <a:rPr lang="en-US" sz="1600" b="1" spc="100" kern="0" dirty="0">
                <a:solidFill>
                  <a:srgbClr val="8DBBFF"/>
                </a:solidFill>
                <a:latin typeface="Courier New" pitchFamily="34" charset="0"/>
                <a:ea typeface="Courier New" pitchFamily="34" charset="-122"/>
                <a:cs typeface="Courier New" pitchFamily="34" charset="-120"/>
              </a:rPr>
              <a:t>BELOW EQUAL PAY</a:t>
            </a:r>
            <a:endParaRPr lang="en-US" sz="1600" dirty="0"/>
          </a:p>
        </p:txBody>
      </p:sp>
      <p:sp>
        <p:nvSpPr>
          <p:cNvPr id="9" name="Text 7"/>
          <p:cNvSpPr txBox="1"/>
          <p:nvPr/>
        </p:nvSpPr>
        <p:spPr>
          <a:xfrm>
            <a:off x="8138160" y="4773168"/>
            <a:ext cx="548640" cy="256032"/>
          </a:xfrm>
          <a:prstGeom prst="rect">
            <a:avLst/>
          </a:prstGeom>
          <a:noFill/>
          <a:ln/>
        </p:spPr>
        <p:txBody>
          <a:bodyPr wrap="square" lIns="0" tIns="0" rIns="0" bIns="0" rtlCol="0" anchor="ctr"/>
          <a:lstStyle/>
          <a:p>
            <a:pPr algn="r" indent="0" marL="0">
              <a:buNone/>
            </a:pPr>
            <a:r>
              <a:rPr lang="en-US" sz="900" dirty="0">
                <a:solidFill>
                  <a:srgbClr val="AEB6C4"/>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Contract Trap Finder</dc:title>
  <dc:subject>PptxGenJS Presentation</dc:subject>
  <dc:creator>Lucas Jansze &amp; Dinh Duy Lan (Dylan)</dc:creator>
  <cp:lastModifiedBy>Lucas Jansze &amp; Dinh Duy Lan (Dylan)</cp:lastModifiedBy>
  <cp:revision>1</cp:revision>
  <dcterms:created xsi:type="dcterms:W3CDTF">2026-09-24T09:48:05Z</dcterms:created>
  <dcterms:modified xsi:type="dcterms:W3CDTF">2026-09-24T09:48:05Z</dcterms:modified>
</cp:coreProperties>
</file>