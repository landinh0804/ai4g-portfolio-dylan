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Negative share (%)</c:v>
                </c:pt>
              </c:strCache>
            </c:strRef>
          </c:tx>
          <c:spPr>
            <a:solidFill>
              <a:srgbClr val="14213D"/>
            </a:solidFill>
          </c:spPr>
          <c:dPt>
            <c:idx val="0"/>
            <c:spPr>
              <a:solidFill>
                <a:srgbClr val="C8102E"/>
              </a:solidFill>
            </c:spPr>
          </c:dPt>
          <c:cat>
            <c:strRef>
              <c:f>Sheet1!$A$2:$A$6</c:f>
              <c:strCache>
                <c:ptCount val="5"/>
                <c:pt idx="0">
                  <c:v>Delays and cancellations (157)</c:v>
                </c:pt>
                <c:pt idx="1">
                  <c:v>App and tickets (61)</c:v>
                </c:pt>
                <c:pt idx="2">
                  <c:v>On-board experience (31)</c:v>
                </c:pt>
                <c:pt idx="3">
                  <c:v>Construction (53)</c:v>
                </c:pt>
                <c:pt idx="4">
                  <c:v>Other (326)</c:v>
                </c:pt>
              </c:strCache>
            </c:strRef>
          </c:cat>
          <c:val>
            <c:numRef>
              <c:f>Sheet1!$B$2:$B$6</c:f>
              <c:numCache>
                <c:formatCode>General</c:formatCode>
                <c:ptCount val="5"/>
                <c:pt idx="0">
                  <c:v>55</c:v>
                </c:pt>
                <c:pt idx="1">
                  <c:v>44</c:v>
                </c:pt>
                <c:pt idx="2">
                  <c:v>39</c:v>
                </c:pt>
                <c:pt idx="3">
                  <c:v>28</c:v>
                </c:pt>
                <c:pt idx="4">
                  <c:v>30</c:v>
                </c:pt>
              </c:numCache>
            </c:numRef>
          </c:val>
        </c:ser>
        <c:dLbls>
          <c:numFmt formatCode="0&quot;%&quot;" sourceLinked="0"/>
          <c:txPr>
            <a:bodyPr/>
            <a:lstStyle/>
            <a:p>
              <a:pPr>
                <a:defRPr sz="1400">
                  <a:solidFill>
                    <a:srgbClr val="1F2933"/>
                  </a:solidFill>
                  <a:latin typeface="Calibri"/>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axMin"/>
        </c:scaling>
        <c:delete val="0"/>
        <c:axPos val="l"/>
        <c:majorTickMark val="out"/>
        <c:minorTickMark val="none"/>
        <c:tickLblPos val="nextTo"/>
        <c:txPr>
          <a:bodyPr/>
          <a:lstStyle/>
          <a:p>
            <a:pPr>
              <a:defRPr sz="1400">
                <a:solidFill>
                  <a:srgbClr val="1F2933"/>
                </a:solidFill>
                <a:latin typeface="Calibri"/>
              </a:defRPr>
            </a:pPr>
          </a:p>
        </c:txPr>
        <c:crossAx val="-2113994440"/>
        <c:crosses val="autoZero"/>
        <c:auto val="1"/>
        <c:lblAlgn val="ctr"/>
        <c:lblOffset val="100"/>
        <c:noMultiLvlLbl val="0"/>
      </c:catAx>
      <c:valAx>
        <c:axId val="-2113994440"/>
        <c:scaling>
          <c:max val="70.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tool collects public Bluesky posts about Deutsche Bahn, scores them with two pre-trained sentiment models and shows how the mood changes over time, for a named user who acts on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Punctuality figures are from the DB statistics cited in the README. The point: communication matters most when reliability is 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scheduler detail matters: the first design relied on GitHub cron and it fired only every three to ten hours, so each run now loops for about five hours and starts its successor.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morning team can act on the difference: delays first. Construction posts are information people need, not anger. Counts per topic are small for some topics, so the dashboard greys out points with fewer than 10 posts.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 not claim one model is better: with 50 posts a few items are noise. Model 2 is the dashboard default because it over-predicts negative less than Model 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Bluesky users skew young, urban and online, and people post when things go wrong, so negative shares are not satisfaction rates. We only partly meet the rule to delete content users removed: we do not re-check deletions.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822960" y="1920240"/>
            <a:ext cx="10515600" cy="1097280"/>
          </a:xfrm>
          <a:prstGeom prst="rect">
            <a:avLst/>
          </a:prstGeom>
          <a:noFill/>
        </p:spPr>
        <p:txBody>
          <a:bodyPr wrap="square" anchor="t" lIns="0" rIns="0" tIns="0" bIns="0">
            <a:spAutoFit/>
          </a:bodyPr>
          <a:lstStyle/>
          <a:p>
            <a:pPr algn="l"/>
            <a:r>
              <a:rPr sz="6600" b="1" i="0">
                <a:solidFill>
                  <a:srgbClr val="FFFFFF"/>
                </a:solidFill>
                <a:latin typeface="Calibri"/>
              </a:rPr>
              <a:t>Bahn-Puls</a:t>
            </a:r>
          </a:p>
        </p:txBody>
      </p:sp>
      <p:sp>
        <p:nvSpPr>
          <p:cNvPr id="4" name="Subtitle"/>
          <p:cNvSpPr txBox="1"/>
          <p:nvPr/>
        </p:nvSpPr>
        <p:spPr>
          <a:xfrm>
            <a:off x="822960" y="3108960"/>
            <a:ext cx="10515600" cy="1188720"/>
          </a:xfrm>
          <a:prstGeom prst="rect">
            <a:avLst/>
          </a:prstGeom>
          <a:noFill/>
        </p:spPr>
        <p:txBody>
          <a:bodyPr wrap="square" anchor="t" lIns="0" rIns="0" tIns="0" bIns="0">
            <a:spAutoFit/>
          </a:bodyPr>
          <a:lstStyle/>
          <a:p>
            <a:pPr algn="l"/>
            <a:r>
              <a:rPr sz="2800" b="0" i="0">
                <a:solidFill>
                  <a:srgbClr val="CADCFC"/>
                </a:solidFill>
                <a:latin typeface="Calibri"/>
              </a:rPr>
              <a:t>What do passengers say about Deutsche Bahn, hour by hour?</a:t>
            </a:r>
          </a:p>
        </p:txBody>
      </p:sp>
      <p:sp>
        <p:nvSpPr>
          <p:cNvPr id="5" name="Names"/>
          <p:cNvSpPr txBox="1"/>
          <p:nvPr/>
        </p:nvSpPr>
        <p:spPr>
          <a:xfrm>
            <a:off x="822960" y="4480560"/>
            <a:ext cx="10515600" cy="822960"/>
          </a:xfrm>
          <a:prstGeom prst="rect">
            <a:avLst/>
          </a:prstGeom>
          <a:noFill/>
        </p:spPr>
        <p:txBody>
          <a:bodyPr wrap="square" anchor="t" lIns="0" rIns="0" tIns="0" bIns="0">
            <a:spAutoFit/>
          </a:bodyPr>
          <a:lstStyle/>
          <a:p>
            <a:pPr algn="l"/>
            <a:r>
              <a:rPr sz="1800" b="0" i="0">
                <a:solidFill>
                  <a:srgbClr val="FFFFFF"/>
                </a:solidFill>
                <a:latin typeface="Calibri"/>
              </a:rPr>
              <a:t>Hackathon 6  |  SDG 9: Industry, Innovation and Infrastructure</a:t>
            </a:r>
          </a:p>
          <a:p>
            <a:pPr algn="l"/>
            <a:r>
              <a:rPr sz="1800" b="0" i="0">
                <a:solidFill>
                  <a:srgbClr val="FFFFFF"/>
                </a:solidFill>
                <a:latin typeface="Calibri"/>
              </a:rPr>
              <a:t>Felix Reichle and Lan (Dylan) Dinh Duy, group 12</a:t>
            </a:r>
          </a:p>
        </p:txBody>
      </p:sp>
      <p:sp>
        <p:nvSpPr>
          <p:cNvPr id="6" name="Link"/>
          <p:cNvSpPr txBox="1"/>
          <p:nvPr/>
        </p:nvSpPr>
        <p:spPr>
          <a:xfrm>
            <a:off x="822960" y="5760720"/>
            <a:ext cx="10515600" cy="365760"/>
          </a:xfrm>
          <a:prstGeom prst="rect">
            <a:avLst/>
          </a:prstGeom>
          <a:noFill/>
        </p:spPr>
        <p:txBody>
          <a:bodyPr wrap="square" anchor="t" lIns="0" rIns="0" tIns="0" bIns="0">
            <a:spAutoFit/>
          </a:bodyPr>
          <a:lstStyle/>
          <a:p>
            <a:pPr algn="l"/>
            <a:r>
              <a:rPr sz="1600" b="0" i="0">
                <a:solidFill>
                  <a:srgbClr val="CADCFC"/>
                </a:solidFill>
                <a:latin typeface="Calibri"/>
              </a:rPr>
              <a:t>Live dashboard: pulse-deutsche-bahn.streamlit.app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10972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548640" y="164592"/>
            <a:ext cx="11064240" cy="566928"/>
          </a:xfrm>
          <a:prstGeom prst="rect">
            <a:avLst/>
          </a:prstGeom>
          <a:noFill/>
        </p:spPr>
        <p:txBody>
          <a:bodyPr wrap="square" anchor="ctr" lIns="0" rIns="0" tIns="0" bIns="0">
            <a:spAutoFit/>
          </a:bodyPr>
          <a:lstStyle/>
          <a:p>
            <a:pPr algn="l"/>
            <a:r>
              <a:rPr sz="3400" b="1" i="0">
                <a:solidFill>
                  <a:srgbClr val="FFFFFF"/>
                </a:solidFill>
                <a:latin typeface="Calibri"/>
              </a:rPr>
              <a:t>The problem and the user</a:t>
            </a:r>
          </a:p>
        </p:txBody>
      </p:sp>
      <p:sp>
        <p:nvSpPr>
          <p:cNvPr id="4" name="Subtitle"/>
          <p:cNvSpPr txBox="1"/>
          <p:nvPr/>
        </p:nvSpPr>
        <p:spPr>
          <a:xfrm>
            <a:off x="548640" y="731520"/>
            <a:ext cx="11064240" cy="292608"/>
          </a:xfrm>
          <a:prstGeom prst="rect">
            <a:avLst/>
          </a:prstGeom>
          <a:noFill/>
        </p:spPr>
        <p:txBody>
          <a:bodyPr wrap="square" anchor="t" lIns="0" rIns="0" tIns="0" bIns="0">
            <a:spAutoFit/>
          </a:bodyPr>
          <a:lstStyle/>
          <a:p>
            <a:pPr algn="l"/>
            <a:r>
              <a:rPr sz="1600" b="0" i="0">
                <a:solidFill>
                  <a:srgbClr val="CADCFC"/>
                </a:solidFill>
                <a:latin typeface="Calibri"/>
              </a:rPr>
              <a:t>Passengers complain online long before it shows in official statistics</a:t>
            </a:r>
          </a:p>
        </p:txBody>
      </p:sp>
      <p:sp>
        <p:nvSpPr>
          <p:cNvPr id="5" name="Card 1"/>
          <p:cNvSpPr/>
          <p:nvPr/>
        </p:nvSpPr>
        <p:spPr>
          <a:xfrm>
            <a:off x="548640" y="1554480"/>
            <a:ext cx="3520440" cy="420624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ard 1 heading"/>
          <p:cNvSpPr txBox="1"/>
          <p:nvPr/>
        </p:nvSpPr>
        <p:spPr>
          <a:xfrm>
            <a:off x="822959" y="1783080"/>
            <a:ext cx="2971800" cy="822960"/>
          </a:xfrm>
          <a:prstGeom prst="rect">
            <a:avLst/>
          </a:prstGeom>
          <a:noFill/>
        </p:spPr>
        <p:txBody>
          <a:bodyPr wrap="square" anchor="ctr" lIns="0" rIns="0" tIns="0" bIns="0">
            <a:spAutoFit/>
          </a:bodyPr>
          <a:lstStyle/>
          <a:p>
            <a:pPr algn="l"/>
            <a:r>
              <a:rPr sz="3600" b="1" i="0">
                <a:solidFill>
                  <a:srgbClr val="C8102E"/>
                </a:solidFill>
                <a:latin typeface="Calibri"/>
              </a:rPr>
              <a:t>52.4%</a:t>
            </a:r>
          </a:p>
        </p:txBody>
      </p:sp>
      <p:sp>
        <p:nvSpPr>
          <p:cNvPr id="7" name="Card 1 text"/>
          <p:cNvSpPr txBox="1"/>
          <p:nvPr/>
        </p:nvSpPr>
        <p:spPr>
          <a:xfrm>
            <a:off x="822959" y="2743200"/>
            <a:ext cx="2971800" cy="2834640"/>
          </a:xfrm>
          <a:prstGeom prst="rect">
            <a:avLst/>
          </a:prstGeom>
          <a:noFill/>
        </p:spPr>
        <p:txBody>
          <a:bodyPr wrap="square" anchor="t" lIns="0" rIns="0" tIns="0" bIns="0">
            <a:spAutoFit/>
          </a:bodyPr>
          <a:lstStyle/>
          <a:p>
            <a:pPr algn="l"/>
            <a:r>
              <a:rPr sz="1800" b="0" i="0">
                <a:solidFill>
                  <a:srgbClr val="1F2933"/>
                </a:solidFill>
                <a:latin typeface="Calibri"/>
              </a:rPr>
              <a:t>of long-distance trains were punctual in September 2026 (60.1% in 2025, a record low). Trust is low, so early warnings matter.</a:t>
            </a:r>
          </a:p>
        </p:txBody>
      </p:sp>
      <p:sp>
        <p:nvSpPr>
          <p:cNvPr id="8" name="Card 2"/>
          <p:cNvSpPr/>
          <p:nvPr/>
        </p:nvSpPr>
        <p:spPr>
          <a:xfrm>
            <a:off x="4343400" y="1554480"/>
            <a:ext cx="3520440" cy="420624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Card 2 heading"/>
          <p:cNvSpPr txBox="1"/>
          <p:nvPr/>
        </p:nvSpPr>
        <p:spPr>
          <a:xfrm>
            <a:off x="4617720" y="1783080"/>
            <a:ext cx="2971800" cy="822960"/>
          </a:xfrm>
          <a:prstGeom prst="rect">
            <a:avLst/>
          </a:prstGeom>
          <a:noFill/>
        </p:spPr>
        <p:txBody>
          <a:bodyPr wrap="square" anchor="ctr" lIns="0" rIns="0" tIns="0" bIns="0">
            <a:spAutoFit/>
          </a:bodyPr>
          <a:lstStyle/>
          <a:p>
            <a:pPr algn="l"/>
            <a:r>
              <a:rPr sz="3600" b="1" i="0">
                <a:solidFill>
                  <a:srgbClr val="C8102E"/>
                </a:solidFill>
                <a:latin typeface="Calibri"/>
              </a:rPr>
              <a:t>The user</a:t>
            </a:r>
          </a:p>
        </p:txBody>
      </p:sp>
      <p:sp>
        <p:nvSpPr>
          <p:cNvPr id="10" name="Card 2 text"/>
          <p:cNvSpPr txBox="1"/>
          <p:nvPr/>
        </p:nvSpPr>
        <p:spPr>
          <a:xfrm>
            <a:off x="4617720" y="2743200"/>
            <a:ext cx="2971800" cy="2834640"/>
          </a:xfrm>
          <a:prstGeom prst="rect">
            <a:avLst/>
          </a:prstGeom>
          <a:noFill/>
        </p:spPr>
        <p:txBody>
          <a:bodyPr wrap="square" anchor="t" lIns="0" rIns="0" tIns="0" bIns="0">
            <a:spAutoFit/>
          </a:bodyPr>
          <a:lstStyle/>
          <a:p>
            <a:pPr algn="l"/>
            <a:r>
              <a:rPr sz="1800" b="0" i="0">
                <a:solidFill>
                  <a:srgbClr val="1F2933"/>
                </a:solidFill>
                <a:latin typeface="Calibri"/>
              </a:rPr>
              <a:t>A regional DB customer-communication team (or a passenger association such as Pro Bahn).</a:t>
            </a:r>
          </a:p>
        </p:txBody>
      </p:sp>
      <p:sp>
        <p:nvSpPr>
          <p:cNvPr id="11" name="Card 3"/>
          <p:cNvSpPr/>
          <p:nvPr/>
        </p:nvSpPr>
        <p:spPr>
          <a:xfrm>
            <a:off x="8138160" y="1554480"/>
            <a:ext cx="3520440" cy="420624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ard 3 heading"/>
          <p:cNvSpPr txBox="1"/>
          <p:nvPr/>
        </p:nvSpPr>
        <p:spPr>
          <a:xfrm>
            <a:off x="8412480" y="1783080"/>
            <a:ext cx="2971800" cy="822960"/>
          </a:xfrm>
          <a:prstGeom prst="rect">
            <a:avLst/>
          </a:prstGeom>
          <a:noFill/>
        </p:spPr>
        <p:txBody>
          <a:bodyPr wrap="square" anchor="ctr" lIns="0" rIns="0" tIns="0" bIns="0">
            <a:spAutoFit/>
          </a:bodyPr>
          <a:lstStyle/>
          <a:p>
            <a:pPr algn="l"/>
            <a:r>
              <a:rPr sz="3600" b="1" i="0">
                <a:solidFill>
                  <a:srgbClr val="C8102E"/>
                </a:solidFill>
                <a:latin typeface="Calibri"/>
              </a:rPr>
              <a:t>The decision</a:t>
            </a:r>
          </a:p>
        </p:txBody>
      </p:sp>
      <p:sp>
        <p:nvSpPr>
          <p:cNvPr id="13" name="Card 3 text"/>
          <p:cNvSpPr txBox="1"/>
          <p:nvPr/>
        </p:nvSpPr>
        <p:spPr>
          <a:xfrm>
            <a:off x="8412480" y="2743200"/>
            <a:ext cx="2971800" cy="2834640"/>
          </a:xfrm>
          <a:prstGeom prst="rect">
            <a:avLst/>
          </a:prstGeom>
          <a:noFill/>
        </p:spPr>
        <p:txBody>
          <a:bodyPr wrap="square" anchor="t" lIns="0" rIns="0" tIns="0" bIns="0">
            <a:spAutoFit/>
          </a:bodyPr>
          <a:lstStyle/>
          <a:p>
            <a:pPr algn="l"/>
            <a:r>
              <a:rPr sz="1800" b="0" i="0">
                <a:solidFill>
                  <a:srgbClr val="1F2933"/>
                </a:solidFill>
                <a:latin typeface="Calibri"/>
              </a:rPr>
              <a:t>Every morning: which issue gets proactive communication today?</a:t>
            </a:r>
          </a:p>
        </p:txBody>
      </p:sp>
      <p:sp>
        <p:nvSpPr>
          <p:cNvPr id="14" name="Question"/>
          <p:cNvSpPr txBox="1"/>
          <p:nvPr/>
        </p:nvSpPr>
        <p:spPr>
          <a:xfrm>
            <a:off x="548640" y="5852160"/>
            <a:ext cx="11064240" cy="548640"/>
          </a:xfrm>
          <a:prstGeom prst="rect">
            <a:avLst/>
          </a:prstGeom>
          <a:noFill/>
        </p:spPr>
        <p:txBody>
          <a:bodyPr wrap="square" anchor="t" lIns="0" rIns="0" tIns="0" bIns="0">
            <a:spAutoFit/>
          </a:bodyPr>
          <a:lstStyle/>
          <a:p>
            <a:pPr algn="l"/>
            <a:r>
              <a:rPr sz="1600" b="0" i="1">
                <a:solidFill>
                  <a:srgbClr val="5B6770"/>
                </a:solidFill>
                <a:latin typeface="Calibri"/>
              </a:rPr>
              <a:t>The signal we build: which topic is more negative than its own recent baseline, and which posts are behind it?</a:t>
            </a:r>
          </a:p>
        </p:txBody>
      </p:sp>
      <p:sp>
        <p:nvSpPr>
          <p:cNvPr id="15" name="Footer"/>
          <p:cNvSpPr txBox="1"/>
          <p:nvPr/>
        </p:nvSpPr>
        <p:spPr>
          <a:xfrm>
            <a:off x="548640" y="6400800"/>
            <a:ext cx="9144000" cy="274320"/>
          </a:xfrm>
          <a:prstGeom prst="rect">
            <a:avLst/>
          </a:prstGeom>
          <a:noFill/>
        </p:spPr>
        <p:txBody>
          <a:bodyPr wrap="square" anchor="t" lIns="0" rIns="0" tIns="0" bIns="0">
            <a:spAutoFit/>
          </a:bodyPr>
          <a:lstStyle/>
          <a:p>
            <a:pPr algn="l"/>
            <a:r>
              <a:rPr sz="1200" b="0" i="0">
                <a:solidFill>
                  <a:srgbClr val="5B6770"/>
                </a:solidFill>
                <a:latin typeface="Calibri"/>
              </a:rPr>
              <a:t>Bahn-Puls | Hackathon 6 | SDG 9</a:t>
            </a:r>
          </a:p>
        </p:txBody>
      </p:sp>
      <p:sp>
        <p:nvSpPr>
          <p:cNvPr id="16" name="Slide number"/>
          <p:cNvSpPr txBox="1"/>
          <p:nvPr/>
        </p:nvSpPr>
        <p:spPr>
          <a:xfrm>
            <a:off x="10972800" y="6400800"/>
            <a:ext cx="731520" cy="274320"/>
          </a:xfrm>
          <a:prstGeom prst="rect">
            <a:avLst/>
          </a:prstGeom>
          <a:noFill/>
        </p:spPr>
        <p:txBody>
          <a:bodyPr wrap="square" anchor="t" lIns="0" rIns="0" tIns="0" bIns="0">
            <a:spAutoFit/>
          </a:bodyPr>
          <a:lstStyle/>
          <a:p>
            <a:pPr algn="r"/>
            <a:r>
              <a:rPr sz="1200" b="0" i="0">
                <a:solidFill>
                  <a:srgbClr val="5B677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10972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548640" y="164592"/>
            <a:ext cx="11064240" cy="566928"/>
          </a:xfrm>
          <a:prstGeom prst="rect">
            <a:avLst/>
          </a:prstGeom>
          <a:noFill/>
        </p:spPr>
        <p:txBody>
          <a:bodyPr wrap="square" anchor="ctr" lIns="0" rIns="0" tIns="0" bIns="0">
            <a:spAutoFit/>
          </a:bodyPr>
          <a:lstStyle/>
          <a:p>
            <a:pPr algn="l"/>
            <a:r>
              <a:rPr sz="3400" b="1" i="0">
                <a:solidFill>
                  <a:srgbClr val="FFFFFF"/>
                </a:solidFill>
                <a:latin typeface="Calibri"/>
              </a:rPr>
              <a:t>How it works</a:t>
            </a:r>
          </a:p>
        </p:txBody>
      </p:sp>
      <p:sp>
        <p:nvSpPr>
          <p:cNvPr id="4" name="Subtitle"/>
          <p:cNvSpPr txBox="1"/>
          <p:nvPr/>
        </p:nvSpPr>
        <p:spPr>
          <a:xfrm>
            <a:off x="548640" y="731520"/>
            <a:ext cx="11064240" cy="292608"/>
          </a:xfrm>
          <a:prstGeom prst="rect">
            <a:avLst/>
          </a:prstGeom>
          <a:noFill/>
        </p:spPr>
        <p:txBody>
          <a:bodyPr wrap="square" anchor="t" lIns="0" rIns="0" tIns="0" bIns="0">
            <a:spAutoFit/>
          </a:bodyPr>
          <a:lstStyle/>
          <a:p>
            <a:pPr algn="l"/>
            <a:r>
              <a:rPr sz="1600" b="0" i="0">
                <a:solidFill>
                  <a:srgbClr val="CADCFC"/>
                </a:solidFill>
                <a:latin typeface="Calibri"/>
              </a:rPr>
              <a:t>A collector that runs on its own, two models, one dashboard</a:t>
            </a:r>
          </a:p>
        </p:txBody>
      </p:sp>
      <p:sp>
        <p:nvSpPr>
          <p:cNvPr id="5" name="Step 1"/>
          <p:cNvSpPr/>
          <p:nvPr/>
        </p:nvSpPr>
        <p:spPr>
          <a:xfrm>
            <a:off x="548640" y="1645920"/>
            <a:ext cx="2057400" cy="292608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ep 1 heading"/>
          <p:cNvSpPr txBox="1"/>
          <p:nvPr/>
        </p:nvSpPr>
        <p:spPr>
          <a:xfrm>
            <a:off x="731520" y="1828800"/>
            <a:ext cx="1691640" cy="548640"/>
          </a:xfrm>
          <a:prstGeom prst="rect">
            <a:avLst/>
          </a:prstGeom>
          <a:noFill/>
        </p:spPr>
        <p:txBody>
          <a:bodyPr wrap="square" anchor="t" lIns="0" rIns="0" tIns="0" bIns="0">
            <a:spAutoFit/>
          </a:bodyPr>
          <a:lstStyle/>
          <a:p>
            <a:pPr algn="l"/>
            <a:r>
              <a:rPr sz="2000" b="1" i="0">
                <a:solidFill>
                  <a:srgbClr val="C8102E"/>
                </a:solidFill>
                <a:latin typeface="Calibri"/>
              </a:rPr>
              <a:t>1  Collect</a:t>
            </a:r>
          </a:p>
        </p:txBody>
      </p:sp>
      <p:sp>
        <p:nvSpPr>
          <p:cNvPr id="7" name="Step 1 text"/>
          <p:cNvSpPr txBox="1"/>
          <p:nvPr/>
        </p:nvSpPr>
        <p:spPr>
          <a:xfrm>
            <a:off x="731520" y="2514600"/>
            <a:ext cx="1691640" cy="1920240"/>
          </a:xfrm>
          <a:prstGeom prst="rect">
            <a:avLst/>
          </a:prstGeom>
          <a:noFill/>
        </p:spPr>
        <p:txBody>
          <a:bodyPr wrap="square" anchor="t" lIns="0" rIns="0" tIns="0" bIns="0">
            <a:spAutoFit/>
          </a:bodyPr>
          <a:lstStyle/>
          <a:p>
            <a:pPr algn="l"/>
            <a:r>
              <a:rPr sz="1600" b="0" i="0">
                <a:solidFill>
                  <a:srgbClr val="1F2933"/>
                </a:solidFill>
                <a:latin typeface="Calibri"/>
              </a:rPr>
              <a:t>Bluesky search, 29 German queries, every 10 minutes</a:t>
            </a:r>
          </a:p>
        </p:txBody>
      </p:sp>
      <p:sp>
        <p:nvSpPr>
          <p:cNvPr id="8" name="Step 2"/>
          <p:cNvSpPr/>
          <p:nvPr/>
        </p:nvSpPr>
        <p:spPr>
          <a:xfrm>
            <a:off x="2834640" y="1645920"/>
            <a:ext cx="2057400" cy="292608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ep 2 heading"/>
          <p:cNvSpPr txBox="1"/>
          <p:nvPr/>
        </p:nvSpPr>
        <p:spPr>
          <a:xfrm>
            <a:off x="3017520" y="1828800"/>
            <a:ext cx="1691640" cy="548640"/>
          </a:xfrm>
          <a:prstGeom prst="rect">
            <a:avLst/>
          </a:prstGeom>
          <a:noFill/>
        </p:spPr>
        <p:txBody>
          <a:bodyPr wrap="square" anchor="t" lIns="0" rIns="0" tIns="0" bIns="0">
            <a:spAutoFit/>
          </a:bodyPr>
          <a:lstStyle/>
          <a:p>
            <a:pPr algn="l"/>
            <a:r>
              <a:rPr sz="2000" b="1" i="0">
                <a:solidFill>
                  <a:srgbClr val="C8102E"/>
                </a:solidFill>
                <a:latin typeface="Calibri"/>
              </a:rPr>
              <a:t>2  Filter</a:t>
            </a:r>
          </a:p>
        </p:txBody>
      </p:sp>
      <p:sp>
        <p:nvSpPr>
          <p:cNvPr id="10" name="Step 2 text"/>
          <p:cNvSpPr txBox="1"/>
          <p:nvPr/>
        </p:nvSpPr>
        <p:spPr>
          <a:xfrm>
            <a:off x="3017520" y="2514600"/>
            <a:ext cx="1691640" cy="1920240"/>
          </a:xfrm>
          <a:prstGeom prst="rect">
            <a:avLst/>
          </a:prstGeom>
          <a:noFill/>
        </p:spPr>
        <p:txBody>
          <a:bodyPr wrap="square" anchor="t" lIns="0" rIns="0" tIns="0" bIns="0">
            <a:spAutoFit/>
          </a:bodyPr>
          <a:lstStyle/>
          <a:p>
            <a:pPr algn="l"/>
            <a:r>
              <a:rPr sz="1600" b="0" i="0">
                <a:solidFill>
                  <a:srgbClr val="1F2933"/>
                </a:solidFill>
                <a:latin typeface="Calibri"/>
              </a:rPr>
              <a:t>Remove bots, very short posts, reposts and off-topic hits</a:t>
            </a:r>
          </a:p>
        </p:txBody>
      </p:sp>
      <p:sp>
        <p:nvSpPr>
          <p:cNvPr id="11" name="Step 3"/>
          <p:cNvSpPr/>
          <p:nvPr/>
        </p:nvSpPr>
        <p:spPr>
          <a:xfrm>
            <a:off x="5120640" y="1645920"/>
            <a:ext cx="2057400" cy="292608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ep 3 heading"/>
          <p:cNvSpPr txBox="1"/>
          <p:nvPr/>
        </p:nvSpPr>
        <p:spPr>
          <a:xfrm>
            <a:off x="5303520" y="1828800"/>
            <a:ext cx="1691640" cy="548640"/>
          </a:xfrm>
          <a:prstGeom prst="rect">
            <a:avLst/>
          </a:prstGeom>
          <a:noFill/>
        </p:spPr>
        <p:txBody>
          <a:bodyPr wrap="square" anchor="t" lIns="0" rIns="0" tIns="0" bIns="0">
            <a:spAutoFit/>
          </a:bodyPr>
          <a:lstStyle/>
          <a:p>
            <a:pPr algn="l"/>
            <a:r>
              <a:rPr sz="2000" b="1" i="0">
                <a:solidFill>
                  <a:srgbClr val="C8102E"/>
                </a:solidFill>
                <a:latin typeface="Calibri"/>
              </a:rPr>
              <a:t>3  Store</a:t>
            </a:r>
          </a:p>
        </p:txBody>
      </p:sp>
      <p:sp>
        <p:nvSpPr>
          <p:cNvPr id="13" name="Step 3 text"/>
          <p:cNvSpPr txBox="1"/>
          <p:nvPr/>
        </p:nvSpPr>
        <p:spPr>
          <a:xfrm>
            <a:off x="5303520" y="2514600"/>
            <a:ext cx="1691640" cy="1920240"/>
          </a:xfrm>
          <a:prstGeom prst="rect">
            <a:avLst/>
          </a:prstGeom>
          <a:noFill/>
        </p:spPr>
        <p:txBody>
          <a:bodyPr wrap="square" anchor="t" lIns="0" rIns="0" tIns="0" bIns="0">
            <a:spAutoFit/>
          </a:bodyPr>
          <a:lstStyle/>
          <a:p>
            <a:pPr algn="l"/>
            <a:r>
              <a:rPr sz="1600" b="0" i="0">
                <a:solidFill>
                  <a:srgbClr val="1F2933"/>
                </a:solidFill>
                <a:latin typeface="Calibri"/>
              </a:rPr>
              <a:t>SQLite file with text, time and topic. No author data</a:t>
            </a:r>
          </a:p>
        </p:txBody>
      </p:sp>
      <p:sp>
        <p:nvSpPr>
          <p:cNvPr id="14" name="Step 4"/>
          <p:cNvSpPr/>
          <p:nvPr/>
        </p:nvSpPr>
        <p:spPr>
          <a:xfrm>
            <a:off x="7406640" y="1645920"/>
            <a:ext cx="2057400" cy="292608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4 heading"/>
          <p:cNvSpPr txBox="1"/>
          <p:nvPr/>
        </p:nvSpPr>
        <p:spPr>
          <a:xfrm>
            <a:off x="7589519" y="1828800"/>
            <a:ext cx="1691640" cy="548640"/>
          </a:xfrm>
          <a:prstGeom prst="rect">
            <a:avLst/>
          </a:prstGeom>
          <a:noFill/>
        </p:spPr>
        <p:txBody>
          <a:bodyPr wrap="square" anchor="t" lIns="0" rIns="0" tIns="0" bIns="0">
            <a:spAutoFit/>
          </a:bodyPr>
          <a:lstStyle/>
          <a:p>
            <a:pPr algn="l"/>
            <a:r>
              <a:rPr sz="2000" b="1" i="0">
                <a:solidFill>
                  <a:srgbClr val="C8102E"/>
                </a:solidFill>
                <a:latin typeface="Calibri"/>
              </a:rPr>
              <a:t>4  Score</a:t>
            </a:r>
          </a:p>
        </p:txBody>
      </p:sp>
      <p:sp>
        <p:nvSpPr>
          <p:cNvPr id="16" name="Step 4 text"/>
          <p:cNvSpPr txBox="1"/>
          <p:nvPr/>
        </p:nvSpPr>
        <p:spPr>
          <a:xfrm>
            <a:off x="7589519" y="2514600"/>
            <a:ext cx="1691640" cy="1920240"/>
          </a:xfrm>
          <a:prstGeom prst="rect">
            <a:avLst/>
          </a:prstGeom>
          <a:noFill/>
        </p:spPr>
        <p:txBody>
          <a:bodyPr wrap="square" anchor="t" lIns="0" rIns="0" tIns="0" bIns="0">
            <a:spAutoFit/>
          </a:bodyPr>
          <a:lstStyle/>
          <a:p>
            <a:pPr algn="l"/>
            <a:r>
              <a:rPr sz="1600" b="0" i="0">
                <a:solidFill>
                  <a:srgbClr val="1F2933"/>
                </a:solidFill>
                <a:latin typeface="Calibri"/>
              </a:rPr>
              <a:t>Two pre-trained models, run locally. No chat model</a:t>
            </a:r>
          </a:p>
        </p:txBody>
      </p:sp>
      <p:sp>
        <p:nvSpPr>
          <p:cNvPr id="17" name="Step 5"/>
          <p:cNvSpPr/>
          <p:nvPr/>
        </p:nvSpPr>
        <p:spPr>
          <a:xfrm>
            <a:off x="9692640" y="1645920"/>
            <a:ext cx="2057400" cy="292608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tep 5 heading"/>
          <p:cNvSpPr txBox="1"/>
          <p:nvPr/>
        </p:nvSpPr>
        <p:spPr>
          <a:xfrm>
            <a:off x="9875519" y="1828800"/>
            <a:ext cx="1691640" cy="548640"/>
          </a:xfrm>
          <a:prstGeom prst="rect">
            <a:avLst/>
          </a:prstGeom>
          <a:noFill/>
        </p:spPr>
        <p:txBody>
          <a:bodyPr wrap="square" anchor="t" lIns="0" rIns="0" tIns="0" bIns="0">
            <a:spAutoFit/>
          </a:bodyPr>
          <a:lstStyle/>
          <a:p>
            <a:pPr algn="l"/>
            <a:r>
              <a:rPr sz="2000" b="1" i="0">
                <a:solidFill>
                  <a:srgbClr val="C8102E"/>
                </a:solidFill>
                <a:latin typeface="Calibri"/>
              </a:rPr>
              <a:t>5  Show</a:t>
            </a:r>
          </a:p>
        </p:txBody>
      </p:sp>
      <p:sp>
        <p:nvSpPr>
          <p:cNvPr id="19" name="Step 5 text"/>
          <p:cNvSpPr txBox="1"/>
          <p:nvPr/>
        </p:nvSpPr>
        <p:spPr>
          <a:xfrm>
            <a:off x="9875519" y="2514600"/>
            <a:ext cx="1691640" cy="1920240"/>
          </a:xfrm>
          <a:prstGeom prst="rect">
            <a:avLst/>
          </a:prstGeom>
          <a:noFill/>
        </p:spPr>
        <p:txBody>
          <a:bodyPr wrap="square" anchor="t" lIns="0" rIns="0" tIns="0" bIns="0">
            <a:spAutoFit/>
          </a:bodyPr>
          <a:lstStyle/>
          <a:p>
            <a:pPr algn="l"/>
            <a:r>
              <a:rPr sz="1600" b="0" i="0">
                <a:solidFill>
                  <a:srgbClr val="1F2933"/>
                </a:solidFill>
                <a:latin typeface="Calibri"/>
              </a:rPr>
              <a:t>Dashboard: negative share per topic against its 7-day baseline</a:t>
            </a:r>
          </a:p>
        </p:txBody>
      </p:sp>
      <p:sp>
        <p:nvSpPr>
          <p:cNvPr id="20" name="Notes list"/>
          <p:cNvSpPr txBox="1"/>
          <p:nvPr/>
        </p:nvSpPr>
        <p:spPr>
          <a:xfrm>
            <a:off x="548640" y="4892040"/>
            <a:ext cx="11064240" cy="1188720"/>
          </a:xfrm>
          <a:prstGeom prst="rect">
            <a:avLst/>
          </a:prstGeom>
          <a:noFill/>
        </p:spPr>
        <p:txBody>
          <a:bodyPr wrap="square" anchor="t" lIns="0" rIns="0" tIns="0" bIns="0">
            <a:spAutoFit/>
          </a:bodyPr>
          <a:lstStyle/>
          <a:p>
            <a:pPr algn="l">
              <a:spcAft>
                <a:spcPts val="600"/>
              </a:spcAft>
            </a:pPr>
            <a:r>
              <a:rPr sz="1600" b="0" i="0">
                <a:solidFill>
                  <a:srgbClr val="1F2933"/>
                </a:solidFill>
                <a:latin typeface="Calibri"/>
              </a:rPr>
              <a:t>•  Models: german-sentiment-bert (Model 1) and twitter-xlm-roberta (Model 2), at pinned versions.</a:t>
            </a:r>
          </a:p>
          <a:p>
            <a:pPr algn="l">
              <a:spcAft>
                <a:spcPts val="600"/>
              </a:spcAft>
            </a:pPr>
            <a:r>
              <a:rPr sz="1600" b="0" i="0">
                <a:solidFill>
                  <a:srgbClr val="1F2933"/>
                </a:solidFill>
                <a:latin typeface="Calibri"/>
              </a:rPr>
              <a:t>•  Runs on GitHub Actions and restarts itself, because GitHub's own scheduler skipped runs for hours.</a:t>
            </a:r>
          </a:p>
        </p:txBody>
      </p:sp>
      <p:sp>
        <p:nvSpPr>
          <p:cNvPr id="21" name="Footer"/>
          <p:cNvSpPr txBox="1"/>
          <p:nvPr/>
        </p:nvSpPr>
        <p:spPr>
          <a:xfrm>
            <a:off x="548640" y="6400800"/>
            <a:ext cx="9144000" cy="274320"/>
          </a:xfrm>
          <a:prstGeom prst="rect">
            <a:avLst/>
          </a:prstGeom>
          <a:noFill/>
        </p:spPr>
        <p:txBody>
          <a:bodyPr wrap="square" anchor="t" lIns="0" rIns="0" tIns="0" bIns="0">
            <a:spAutoFit/>
          </a:bodyPr>
          <a:lstStyle/>
          <a:p>
            <a:pPr algn="l"/>
            <a:r>
              <a:rPr sz="1200" b="0" i="0">
                <a:solidFill>
                  <a:srgbClr val="5B6770"/>
                </a:solidFill>
                <a:latin typeface="Calibri"/>
              </a:rPr>
              <a:t>Bahn-Puls | Hackathon 6 | SDG 9</a:t>
            </a:r>
          </a:p>
        </p:txBody>
      </p:sp>
      <p:sp>
        <p:nvSpPr>
          <p:cNvPr id="22" name="Slide number"/>
          <p:cNvSpPr txBox="1"/>
          <p:nvPr/>
        </p:nvSpPr>
        <p:spPr>
          <a:xfrm>
            <a:off x="10972800" y="6400800"/>
            <a:ext cx="731520" cy="274320"/>
          </a:xfrm>
          <a:prstGeom prst="rect">
            <a:avLst/>
          </a:prstGeom>
          <a:noFill/>
        </p:spPr>
        <p:txBody>
          <a:bodyPr wrap="square" anchor="t" lIns="0" rIns="0" tIns="0" bIns="0">
            <a:spAutoFit/>
          </a:bodyPr>
          <a:lstStyle/>
          <a:p>
            <a:pPr algn="r"/>
            <a:r>
              <a:rPr sz="1200" b="0" i="0">
                <a:solidFill>
                  <a:srgbClr val="5B677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10972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548640" y="164592"/>
            <a:ext cx="11064240" cy="566928"/>
          </a:xfrm>
          <a:prstGeom prst="rect">
            <a:avLst/>
          </a:prstGeom>
          <a:noFill/>
        </p:spPr>
        <p:txBody>
          <a:bodyPr wrap="square" anchor="ctr" lIns="0" rIns="0" tIns="0" bIns="0">
            <a:spAutoFit/>
          </a:bodyPr>
          <a:lstStyle/>
          <a:p>
            <a:pPr algn="l"/>
            <a:r>
              <a:rPr sz="3400" b="1" i="0">
                <a:solidFill>
                  <a:srgbClr val="FFFFFF"/>
                </a:solidFill>
                <a:latin typeface="Calibri"/>
              </a:rPr>
              <a:t>What we found</a:t>
            </a:r>
          </a:p>
        </p:txBody>
      </p:sp>
      <p:sp>
        <p:nvSpPr>
          <p:cNvPr id="4" name="Subtitle"/>
          <p:cNvSpPr txBox="1"/>
          <p:nvPr/>
        </p:nvSpPr>
        <p:spPr>
          <a:xfrm>
            <a:off x="548640" y="731520"/>
            <a:ext cx="11064240" cy="292608"/>
          </a:xfrm>
          <a:prstGeom prst="rect">
            <a:avLst/>
          </a:prstGeom>
          <a:noFill/>
        </p:spPr>
        <p:txBody>
          <a:bodyPr wrap="square" anchor="t" lIns="0" rIns="0" tIns="0" bIns="0">
            <a:spAutoFit/>
          </a:bodyPr>
          <a:lstStyle/>
          <a:p>
            <a:pPr algn="l"/>
            <a:r>
              <a:rPr sz="1600" b="0" i="0">
                <a:solidFill>
                  <a:srgbClr val="CADCFC"/>
                </a:solidFill>
                <a:latin typeface="Calibri"/>
              </a:rPr>
              <a:t>Share of negative posts by topic (personal posts, Model 2, snapshot 13 Oct)</a:t>
            </a:r>
          </a:p>
        </p:txBody>
      </p:sp>
      <p:graphicFrame>
        <p:nvGraphicFramePr>
          <p:cNvPr id="5" name="Negative share by topic"/>
          <p:cNvGraphicFramePr>
            <a:graphicFrameLocks noGrp="1"/>
          </p:cNvGraphicFramePr>
          <p:nvPr/>
        </p:nvGraphicFramePr>
        <p:xfrm>
          <a:off x="548640" y="1371600"/>
          <a:ext cx="6949440" cy="4480560"/>
        </p:xfrm>
        <a:graphic>
          <a:graphicData uri="http://schemas.openxmlformats.org/drawingml/2006/chart">
            <c:chart xmlns:c="http://schemas.openxmlformats.org/drawingml/2006/chart" r:id="rId2"/>
          </a:graphicData>
        </a:graphic>
      </p:graphicFrame>
      <p:sp>
        <p:nvSpPr>
          <p:cNvPr id="6" name="Findings"/>
          <p:cNvSpPr txBox="1"/>
          <p:nvPr/>
        </p:nvSpPr>
        <p:spPr>
          <a:xfrm>
            <a:off x="7863840" y="1463040"/>
            <a:ext cx="3840480" cy="4389120"/>
          </a:xfrm>
          <a:prstGeom prst="rect">
            <a:avLst/>
          </a:prstGeom>
          <a:noFill/>
        </p:spPr>
        <p:txBody>
          <a:bodyPr wrap="square" anchor="t" lIns="0" rIns="0" tIns="0" bIns="0">
            <a:spAutoFit/>
          </a:bodyPr>
          <a:lstStyle/>
          <a:p>
            <a:pPr algn="l">
              <a:spcAft>
                <a:spcPts val="600"/>
              </a:spcAft>
            </a:pPr>
            <a:r>
              <a:rPr sz="1600" b="0" i="0">
                <a:solidFill>
                  <a:srgbClr val="1F2933"/>
                </a:solidFill>
                <a:latin typeface="Calibri"/>
              </a:rPr>
              <a:t>•  641 posts (586 personal, 55 news), 162 collector runs, all successful.</a:t>
            </a:r>
          </a:p>
          <a:p>
            <a:pPr algn="l">
              <a:spcAft>
                <a:spcPts val="600"/>
              </a:spcAft>
            </a:pPr>
            <a:r>
              <a:rPr sz="1600" b="0" i="0">
                <a:solidFill>
                  <a:srgbClr val="1F2933"/>
                </a:solidFill>
                <a:latin typeface="Calibri"/>
              </a:rPr>
              <a:t>•  Delays are the most negative topic: 55%, against 38% across all personal posts.</a:t>
            </a:r>
          </a:p>
          <a:p>
            <a:pPr algn="l">
              <a:spcAft>
                <a:spcPts val="600"/>
              </a:spcAft>
            </a:pPr>
            <a:r>
              <a:rPr sz="1600" b="0" i="0">
                <a:solidFill>
                  <a:srgbClr val="1F2933"/>
                </a:solidFill>
                <a:latin typeface="Calibri"/>
              </a:rPr>
              <a:t>•  Construction is only 28%: mostly neutral notices about closures and replacement buses.</a:t>
            </a:r>
          </a:p>
          <a:p>
            <a:pPr algn="l">
              <a:spcAft>
                <a:spcPts val="600"/>
              </a:spcAft>
            </a:pPr>
            <a:r>
              <a:rPr sz="1600" b="0" i="0">
                <a:solidFill>
                  <a:srgbClr val="1F2933"/>
                </a:solidFill>
                <a:latin typeface="Calibri"/>
              </a:rPr>
              <a:t>•  Numbers in brackets are post counts.</a:t>
            </a:r>
          </a:p>
        </p:txBody>
      </p:sp>
      <p:sp>
        <p:nvSpPr>
          <p:cNvPr id="7" name="Caveat"/>
          <p:cNvSpPr txBox="1"/>
          <p:nvPr/>
        </p:nvSpPr>
        <p:spPr>
          <a:xfrm>
            <a:off x="548640" y="5943600"/>
            <a:ext cx="11064240" cy="365760"/>
          </a:xfrm>
          <a:prstGeom prst="rect">
            <a:avLst/>
          </a:prstGeom>
          <a:noFill/>
        </p:spPr>
        <p:txBody>
          <a:bodyPr wrap="square" anchor="t" lIns="0" rIns="0" tIns="0" bIns="0">
            <a:spAutoFit/>
          </a:bodyPr>
          <a:lstStyle/>
          <a:p>
            <a:pPr algn="l"/>
            <a:r>
              <a:rPr sz="1400" b="0" i="1">
                <a:solidFill>
                  <a:srgbClr val="5B6770"/>
                </a:solidFill>
                <a:latin typeface="Calibri"/>
              </a:rPr>
              <a:t>Read it as a trend indicator, not a measurement. Our own run on a second laptop (739 posts, 50 hours) shows the same mix.</a:t>
            </a:r>
          </a:p>
        </p:txBody>
      </p:sp>
      <p:sp>
        <p:nvSpPr>
          <p:cNvPr id="8" name="Footer"/>
          <p:cNvSpPr txBox="1"/>
          <p:nvPr/>
        </p:nvSpPr>
        <p:spPr>
          <a:xfrm>
            <a:off x="548640" y="6400800"/>
            <a:ext cx="9144000" cy="274320"/>
          </a:xfrm>
          <a:prstGeom prst="rect">
            <a:avLst/>
          </a:prstGeom>
          <a:noFill/>
        </p:spPr>
        <p:txBody>
          <a:bodyPr wrap="square" anchor="t" lIns="0" rIns="0" tIns="0" bIns="0">
            <a:spAutoFit/>
          </a:bodyPr>
          <a:lstStyle/>
          <a:p>
            <a:pPr algn="l"/>
            <a:r>
              <a:rPr sz="1200" b="0" i="0">
                <a:solidFill>
                  <a:srgbClr val="5B6770"/>
                </a:solidFill>
                <a:latin typeface="Calibri"/>
              </a:rPr>
              <a:t>Bahn-Puls | Hackathon 6 | SDG 9</a:t>
            </a:r>
          </a:p>
        </p:txBody>
      </p:sp>
      <p:sp>
        <p:nvSpPr>
          <p:cNvPr id="9" name="Slide number"/>
          <p:cNvSpPr txBox="1"/>
          <p:nvPr/>
        </p:nvSpPr>
        <p:spPr>
          <a:xfrm>
            <a:off x="10972800" y="6400800"/>
            <a:ext cx="731520" cy="274320"/>
          </a:xfrm>
          <a:prstGeom prst="rect">
            <a:avLst/>
          </a:prstGeom>
          <a:noFill/>
        </p:spPr>
        <p:txBody>
          <a:bodyPr wrap="square" anchor="t" lIns="0" rIns="0" tIns="0" bIns="0">
            <a:spAutoFit/>
          </a:bodyPr>
          <a:lstStyle/>
          <a:p>
            <a:pPr algn="r"/>
            <a:r>
              <a:rPr sz="1200" b="0" i="0">
                <a:solidFill>
                  <a:srgbClr val="5B677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10972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548640" y="164592"/>
            <a:ext cx="11064240" cy="566928"/>
          </a:xfrm>
          <a:prstGeom prst="rect">
            <a:avLst/>
          </a:prstGeom>
          <a:noFill/>
        </p:spPr>
        <p:txBody>
          <a:bodyPr wrap="square" anchor="ctr" lIns="0" rIns="0" tIns="0" bIns="0">
            <a:spAutoFit/>
          </a:bodyPr>
          <a:lstStyle/>
          <a:p>
            <a:pPr algn="l"/>
            <a:r>
              <a:rPr sz="3400" b="1" i="0">
                <a:solidFill>
                  <a:srgbClr val="FFFFFF"/>
                </a:solidFill>
                <a:latin typeface="Calibri"/>
              </a:rPr>
              <a:t>The honest test</a:t>
            </a:r>
          </a:p>
        </p:txBody>
      </p:sp>
      <p:sp>
        <p:nvSpPr>
          <p:cNvPr id="4" name="Subtitle"/>
          <p:cNvSpPr txBox="1"/>
          <p:nvPr/>
        </p:nvSpPr>
        <p:spPr>
          <a:xfrm>
            <a:off x="548640" y="731520"/>
            <a:ext cx="11064240" cy="292608"/>
          </a:xfrm>
          <a:prstGeom prst="rect">
            <a:avLst/>
          </a:prstGeom>
          <a:noFill/>
        </p:spPr>
        <p:txBody>
          <a:bodyPr wrap="square" anchor="t" lIns="0" rIns="0" tIns="0" bIns="0">
            <a:spAutoFit/>
          </a:bodyPr>
          <a:lstStyle/>
          <a:p>
            <a:pPr algn="l"/>
            <a:r>
              <a:rPr sz="1600" b="0" i="0">
                <a:solidFill>
                  <a:srgbClr val="CADCFC"/>
                </a:solidFill>
                <a:latin typeface="Calibri"/>
              </a:rPr>
              <a:t>50 posts we labelled by hand, without seeing the models</a:t>
            </a:r>
          </a:p>
        </p:txBody>
      </p:sp>
      <p:graphicFrame>
        <p:nvGraphicFramePr>
          <p:cNvPr id="5" name="Table 4"/>
          <p:cNvGraphicFramePr>
            <a:graphicFrameLocks noGrp="1"/>
          </p:cNvGraphicFramePr>
          <p:nvPr/>
        </p:nvGraphicFramePr>
        <p:xfrm>
          <a:off x="548640" y="1554480"/>
          <a:ext cx="5120640" cy="2194560"/>
        </p:xfrm>
        <a:graphic>
          <a:graphicData uri="http://schemas.openxmlformats.org/drawingml/2006/table">
            <a:tbl>
              <a:tblPr firstRow="1" bandRow="1">
                <a:tableStyleId>{5C22544A-7EE6-4342-B048-85BDC9FD1C3A}</a:tableStyleId>
              </a:tblPr>
              <a:tblGrid>
                <a:gridCol w="2926080"/>
                <a:gridCol w="1280160"/>
                <a:gridCol w="914400"/>
              </a:tblGrid>
              <a:tr h="548640">
                <a:tc>
                  <a:txBody>
                    <a:bodyPr/>
                    <a:lstStyle/>
                    <a:p>
                      <a:r>
                        <a:rPr sz="1600" b="1">
                          <a:solidFill>
                            <a:srgbClr val="FFFFFF"/>
                          </a:solidFill>
                          <a:latin typeface="Calibri"/>
                        </a:rPr>
                        <a:t>Method</a:t>
                      </a:r>
                    </a:p>
                  </a:txBody>
                  <a:tcPr>
                    <a:solidFill>
                      <a:srgbClr val="14213D"/>
                    </a:solidFill>
                  </a:tcPr>
                </a:tc>
                <a:tc>
                  <a:txBody>
                    <a:bodyPr/>
                    <a:lstStyle/>
                    <a:p>
                      <a:r>
                        <a:rPr sz="1600" b="1">
                          <a:solidFill>
                            <a:srgbClr val="FFFFFF"/>
                          </a:solidFill>
                          <a:latin typeface="Calibri"/>
                        </a:rPr>
                        <a:t>Agreement</a:t>
                      </a:r>
                    </a:p>
                  </a:txBody>
                  <a:tcPr>
                    <a:solidFill>
                      <a:srgbClr val="14213D"/>
                    </a:solidFill>
                  </a:tcPr>
                </a:tc>
                <a:tc>
                  <a:txBody>
                    <a:bodyPr/>
                    <a:lstStyle/>
                    <a:p>
                      <a:r>
                        <a:rPr sz="1600" b="1">
                          <a:solidFill>
                            <a:srgbClr val="FFFFFF"/>
                          </a:solidFill>
                          <a:latin typeface="Calibri"/>
                        </a:rPr>
                        <a:t>Kappa</a:t>
                      </a:r>
                    </a:p>
                  </a:txBody>
                  <a:tcPr>
                    <a:solidFill>
                      <a:srgbClr val="14213D"/>
                    </a:solidFill>
                  </a:tcPr>
                </a:tc>
              </a:tr>
              <a:tr h="548640">
                <a:tc>
                  <a:txBody>
                    <a:bodyPr/>
                    <a:lstStyle/>
                    <a:p>
                      <a:r>
                        <a:rPr sz="1600" b="0">
                          <a:solidFill>
                            <a:srgbClr val="1F2933"/>
                          </a:solidFill>
                          <a:latin typeface="Calibri"/>
                        </a:rPr>
                        <a:t>Model 1 (German BERT)</a:t>
                      </a:r>
                    </a:p>
                  </a:txBody>
                  <a:tcPr>
                    <a:solidFill>
                      <a:srgbClr val="F1F4F8"/>
                    </a:solidFill>
                  </a:tcPr>
                </a:tc>
                <a:tc>
                  <a:txBody>
                    <a:bodyPr/>
                    <a:lstStyle/>
                    <a:p>
                      <a:r>
                        <a:rPr sz="1600" b="0">
                          <a:solidFill>
                            <a:srgbClr val="1F2933"/>
                          </a:solidFill>
                          <a:latin typeface="Calibri"/>
                        </a:rPr>
                        <a:t>50%</a:t>
                      </a:r>
                    </a:p>
                  </a:txBody>
                  <a:tcPr>
                    <a:solidFill>
                      <a:srgbClr val="F1F4F8"/>
                    </a:solidFill>
                  </a:tcPr>
                </a:tc>
                <a:tc>
                  <a:txBody>
                    <a:bodyPr/>
                    <a:lstStyle/>
                    <a:p>
                      <a:r>
                        <a:rPr sz="1600" b="0">
                          <a:solidFill>
                            <a:srgbClr val="1F2933"/>
                          </a:solidFill>
                          <a:latin typeface="Calibri"/>
                        </a:rPr>
                        <a:t>0.11</a:t>
                      </a:r>
                    </a:p>
                  </a:txBody>
                  <a:tcPr>
                    <a:solidFill>
                      <a:srgbClr val="F1F4F8"/>
                    </a:solidFill>
                  </a:tcPr>
                </a:tc>
              </a:tr>
              <a:tr h="548640">
                <a:tc>
                  <a:txBody>
                    <a:bodyPr/>
                    <a:lstStyle/>
                    <a:p>
                      <a:r>
                        <a:rPr sz="1600" b="0">
                          <a:solidFill>
                            <a:srgbClr val="1F2933"/>
                          </a:solidFill>
                          <a:latin typeface="Calibri"/>
                        </a:rPr>
                        <a:t>Model 2 (XLM-R)</a:t>
                      </a:r>
                    </a:p>
                  </a:txBody>
                  <a:tcPr>
                    <a:solidFill>
                      <a:srgbClr val="FFFFFF"/>
                    </a:solidFill>
                  </a:tcPr>
                </a:tc>
                <a:tc>
                  <a:txBody>
                    <a:bodyPr/>
                    <a:lstStyle/>
                    <a:p>
                      <a:r>
                        <a:rPr sz="1600" b="0">
                          <a:solidFill>
                            <a:srgbClr val="1F2933"/>
                          </a:solidFill>
                          <a:latin typeface="Calibri"/>
                        </a:rPr>
                        <a:t>54%</a:t>
                      </a:r>
                    </a:p>
                  </a:txBody>
                  <a:tcPr>
                    <a:solidFill>
                      <a:srgbClr val="FFFFFF"/>
                    </a:solidFill>
                  </a:tcPr>
                </a:tc>
                <a:tc>
                  <a:txBody>
                    <a:bodyPr/>
                    <a:lstStyle/>
                    <a:p>
                      <a:r>
                        <a:rPr sz="1600" b="0">
                          <a:solidFill>
                            <a:srgbClr val="1F2933"/>
                          </a:solidFill>
                          <a:latin typeface="Calibri"/>
                        </a:rPr>
                        <a:t>0.18</a:t>
                      </a:r>
                    </a:p>
                  </a:txBody>
                  <a:tcPr>
                    <a:solidFill>
                      <a:srgbClr val="FFFFFF"/>
                    </a:solidFill>
                  </a:tcPr>
                </a:tc>
              </a:tr>
              <a:tr h="548640">
                <a:tc>
                  <a:txBody>
                    <a:bodyPr/>
                    <a:lstStyle/>
                    <a:p>
                      <a:r>
                        <a:rPr sz="1600" b="0">
                          <a:solidFill>
                            <a:srgbClr val="1F2933"/>
                          </a:solidFill>
                          <a:latin typeface="Calibri"/>
                        </a:rPr>
                        <a:t>Word list (SentiWS)</a:t>
                      </a:r>
                    </a:p>
                  </a:txBody>
                  <a:tcPr>
                    <a:solidFill>
                      <a:srgbClr val="F1F4F8"/>
                    </a:solidFill>
                  </a:tcPr>
                </a:tc>
                <a:tc>
                  <a:txBody>
                    <a:bodyPr/>
                    <a:lstStyle/>
                    <a:p>
                      <a:r>
                        <a:rPr sz="1600" b="0">
                          <a:solidFill>
                            <a:srgbClr val="1F2933"/>
                          </a:solidFill>
                          <a:latin typeface="Calibri"/>
                        </a:rPr>
                        <a:t>54%</a:t>
                      </a:r>
                    </a:p>
                  </a:txBody>
                  <a:tcPr>
                    <a:solidFill>
                      <a:srgbClr val="F1F4F8"/>
                    </a:solidFill>
                  </a:tcPr>
                </a:tc>
                <a:tc>
                  <a:txBody>
                    <a:bodyPr/>
                    <a:lstStyle/>
                    <a:p>
                      <a:r>
                        <a:rPr sz="1600" b="0">
                          <a:solidFill>
                            <a:srgbClr val="1F2933"/>
                          </a:solidFill>
                          <a:latin typeface="Calibri"/>
                        </a:rPr>
                        <a:t>0.25</a:t>
                      </a:r>
                    </a:p>
                  </a:txBody>
                  <a:tcPr>
                    <a:solidFill>
                      <a:srgbClr val="F1F4F8"/>
                    </a:solidFill>
                  </a:tcPr>
                </a:tc>
              </a:tr>
            </a:tbl>
          </a:graphicData>
        </a:graphic>
      </p:graphicFrame>
      <p:sp>
        <p:nvSpPr>
          <p:cNvPr id="6" name="Test notes"/>
          <p:cNvSpPr txBox="1"/>
          <p:nvPr/>
        </p:nvSpPr>
        <p:spPr>
          <a:xfrm>
            <a:off x="548640" y="4023360"/>
            <a:ext cx="5120640" cy="1737360"/>
          </a:xfrm>
          <a:prstGeom prst="rect">
            <a:avLst/>
          </a:prstGeom>
          <a:noFill/>
        </p:spPr>
        <p:txBody>
          <a:bodyPr wrap="square" anchor="t" lIns="0" rIns="0" tIns="0" bIns="0">
            <a:spAutoFit/>
          </a:bodyPr>
          <a:lstStyle/>
          <a:p>
            <a:pPr algn="l">
              <a:spcAft>
                <a:spcPts val="600"/>
              </a:spcAft>
            </a:pPr>
            <a:r>
              <a:rPr sz="1600" b="0" i="0">
                <a:solidFill>
                  <a:srgbClr val="1F2933"/>
                </a:solidFill>
                <a:latin typeface="Calibri"/>
              </a:rPr>
              <a:t>•  Only slightly better than chance, and a simple word list does as well.</a:t>
            </a:r>
          </a:p>
          <a:p>
            <a:pPr algn="l">
              <a:spcAft>
                <a:spcPts val="600"/>
              </a:spcAft>
            </a:pPr>
            <a:r>
              <a:rPr sz="1600" b="0" i="0">
                <a:solidFill>
                  <a:srgbClr val="1F2933"/>
                </a:solidFill>
                <a:latin typeface="Calibri"/>
              </a:rPr>
              <a:t>•  9 of 50 posts were not about rail at all.</a:t>
            </a:r>
          </a:p>
        </p:txBody>
      </p:sp>
      <p:sp>
        <p:nvSpPr>
          <p:cNvPr id="7" name="Failures heading"/>
          <p:cNvSpPr txBox="1"/>
          <p:nvPr/>
        </p:nvSpPr>
        <p:spPr>
          <a:xfrm>
            <a:off x="6217920" y="1463040"/>
            <a:ext cx="5486400" cy="365760"/>
          </a:xfrm>
          <a:prstGeom prst="rect">
            <a:avLst/>
          </a:prstGeom>
          <a:noFill/>
        </p:spPr>
        <p:txBody>
          <a:bodyPr wrap="square" anchor="t" lIns="0" rIns="0" tIns="0" bIns="0">
            <a:spAutoFit/>
          </a:bodyPr>
          <a:lstStyle/>
          <a:p>
            <a:pPr algn="l"/>
            <a:r>
              <a:rPr sz="2200" b="1" i="0">
                <a:solidFill>
                  <a:srgbClr val="1F2933"/>
                </a:solidFill>
                <a:latin typeface="Calibri"/>
              </a:rPr>
              <a:t>Where the models fail</a:t>
            </a:r>
          </a:p>
        </p:txBody>
      </p:sp>
      <p:sp>
        <p:nvSpPr>
          <p:cNvPr id="8" name="Failure 1"/>
          <p:cNvSpPr/>
          <p:nvPr/>
        </p:nvSpPr>
        <p:spPr>
          <a:xfrm>
            <a:off x="6217920" y="1965960"/>
            <a:ext cx="5486400" cy="118872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ailure 1 heading"/>
          <p:cNvSpPr txBox="1"/>
          <p:nvPr/>
        </p:nvSpPr>
        <p:spPr>
          <a:xfrm>
            <a:off x="6446520" y="2075688"/>
            <a:ext cx="5029200" cy="320040"/>
          </a:xfrm>
          <a:prstGeom prst="rect">
            <a:avLst/>
          </a:prstGeom>
          <a:noFill/>
        </p:spPr>
        <p:txBody>
          <a:bodyPr wrap="square" anchor="t" lIns="0" rIns="0" tIns="0" bIns="0">
            <a:spAutoFit/>
          </a:bodyPr>
          <a:lstStyle/>
          <a:p>
            <a:pPr algn="l"/>
            <a:r>
              <a:rPr sz="1800" b="1" i="0">
                <a:solidFill>
                  <a:srgbClr val="C8102E"/>
                </a:solidFill>
                <a:latin typeface="Calibri"/>
              </a:rPr>
              <a:t>Service notices</a:t>
            </a:r>
          </a:p>
        </p:txBody>
      </p:sp>
      <p:sp>
        <p:nvSpPr>
          <p:cNvPr id="10" name="Failure 1 text"/>
          <p:cNvSpPr txBox="1"/>
          <p:nvPr/>
        </p:nvSpPr>
        <p:spPr>
          <a:xfrm>
            <a:off x="6446520" y="2441448"/>
            <a:ext cx="5029200" cy="685800"/>
          </a:xfrm>
          <a:prstGeom prst="rect">
            <a:avLst/>
          </a:prstGeom>
          <a:noFill/>
        </p:spPr>
        <p:txBody>
          <a:bodyPr wrap="square" anchor="t" lIns="0" rIns="0" tIns="0" bIns="0">
            <a:spAutoFit/>
          </a:bodyPr>
          <a:lstStyle/>
          <a:p>
            <a:pPr algn="l"/>
            <a:r>
              <a:rPr sz="1400" b="0" i="0">
                <a:solidFill>
                  <a:srgbClr val="1F2933"/>
                </a:solidFill>
                <a:latin typeface="Calibri"/>
              </a:rPr>
              <a:t>A replacement-bus notice is bad news, but both models say neutral (93% to 100% sure).</a:t>
            </a:r>
          </a:p>
        </p:txBody>
      </p:sp>
      <p:sp>
        <p:nvSpPr>
          <p:cNvPr id="11" name="Failure 2"/>
          <p:cNvSpPr/>
          <p:nvPr/>
        </p:nvSpPr>
        <p:spPr>
          <a:xfrm>
            <a:off x="6217920" y="3337560"/>
            <a:ext cx="5486400" cy="118872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ailure 2 heading"/>
          <p:cNvSpPr txBox="1"/>
          <p:nvPr/>
        </p:nvSpPr>
        <p:spPr>
          <a:xfrm>
            <a:off x="6446520" y="3447288"/>
            <a:ext cx="5029200" cy="320040"/>
          </a:xfrm>
          <a:prstGeom prst="rect">
            <a:avLst/>
          </a:prstGeom>
          <a:noFill/>
        </p:spPr>
        <p:txBody>
          <a:bodyPr wrap="square" anchor="t" lIns="0" rIns="0" tIns="0" bIns="0">
            <a:spAutoFit/>
          </a:bodyPr>
          <a:lstStyle/>
          <a:p>
            <a:pPr algn="l"/>
            <a:r>
              <a:rPr sz="1800" b="1" i="0">
                <a:solidFill>
                  <a:srgbClr val="C8102E"/>
                </a:solidFill>
                <a:latin typeface="Calibri"/>
              </a:rPr>
              <a:t>Sarcasm and jokes</a:t>
            </a:r>
          </a:p>
        </p:txBody>
      </p:sp>
      <p:sp>
        <p:nvSpPr>
          <p:cNvPr id="13" name="Failure 2 text"/>
          <p:cNvSpPr txBox="1"/>
          <p:nvPr/>
        </p:nvSpPr>
        <p:spPr>
          <a:xfrm>
            <a:off x="6446520" y="3813048"/>
            <a:ext cx="5029200" cy="685800"/>
          </a:xfrm>
          <a:prstGeom prst="rect">
            <a:avLst/>
          </a:prstGeom>
          <a:noFill/>
        </p:spPr>
        <p:txBody>
          <a:bodyPr wrap="square" anchor="t" lIns="0" rIns="0" tIns="0" bIns="0">
            <a:spAutoFit/>
          </a:bodyPr>
          <a:lstStyle/>
          <a:p>
            <a:pPr algn="l"/>
            <a:r>
              <a:rPr sz="1400" b="0" i="0">
                <a:solidFill>
                  <a:srgbClr val="1F2933"/>
                </a:solidFill>
                <a:latin typeface="Calibri"/>
              </a:rPr>
              <a:t>A post imitating a ticket inspector is read as negative by both models.</a:t>
            </a:r>
          </a:p>
        </p:txBody>
      </p:sp>
      <p:sp>
        <p:nvSpPr>
          <p:cNvPr id="14" name="Failure 3"/>
          <p:cNvSpPr/>
          <p:nvPr/>
        </p:nvSpPr>
        <p:spPr>
          <a:xfrm>
            <a:off x="6217920" y="4709160"/>
            <a:ext cx="5486400" cy="118872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ailure 3 heading"/>
          <p:cNvSpPr txBox="1"/>
          <p:nvPr/>
        </p:nvSpPr>
        <p:spPr>
          <a:xfrm>
            <a:off x="6446520" y="4818888"/>
            <a:ext cx="5029200" cy="320040"/>
          </a:xfrm>
          <a:prstGeom prst="rect">
            <a:avLst/>
          </a:prstGeom>
          <a:noFill/>
        </p:spPr>
        <p:txBody>
          <a:bodyPr wrap="square" anchor="t" lIns="0" rIns="0" tIns="0" bIns="0">
            <a:spAutoFit/>
          </a:bodyPr>
          <a:lstStyle/>
          <a:p>
            <a:pPr algn="l"/>
            <a:r>
              <a:rPr sz="1800" b="1" i="0">
                <a:solidFill>
                  <a:srgbClr val="C8102E"/>
                </a:solidFill>
                <a:latin typeface="Calibri"/>
              </a:rPr>
              <a:t>Sentiment about something else</a:t>
            </a:r>
          </a:p>
        </p:txBody>
      </p:sp>
      <p:sp>
        <p:nvSpPr>
          <p:cNvPr id="16" name="Failure 3 text"/>
          <p:cNvSpPr txBox="1"/>
          <p:nvPr/>
        </p:nvSpPr>
        <p:spPr>
          <a:xfrm>
            <a:off x="6446520" y="5184648"/>
            <a:ext cx="5029200" cy="685800"/>
          </a:xfrm>
          <a:prstGeom prst="rect">
            <a:avLst/>
          </a:prstGeom>
          <a:noFill/>
        </p:spPr>
        <p:txBody>
          <a:bodyPr wrap="square" anchor="t" lIns="0" rIns="0" tIns="0" bIns="0">
            <a:spAutoFit/>
          </a:bodyPr>
          <a:lstStyle/>
          <a:p>
            <a:pPr algn="l"/>
            <a:r>
              <a:rPr sz="1400" b="0" i="0">
                <a:solidFill>
                  <a:srgbClr val="1F2933"/>
                </a:solidFill>
                <a:latin typeface="Calibri"/>
              </a:rPr>
              <a:t>An angry post about a parliament vote is scored negative, but it is not about the railway.</a:t>
            </a:r>
          </a:p>
        </p:txBody>
      </p:sp>
      <p:sp>
        <p:nvSpPr>
          <p:cNvPr id="17" name="Footer"/>
          <p:cNvSpPr txBox="1"/>
          <p:nvPr/>
        </p:nvSpPr>
        <p:spPr>
          <a:xfrm>
            <a:off x="548640" y="6400800"/>
            <a:ext cx="9144000" cy="274320"/>
          </a:xfrm>
          <a:prstGeom prst="rect">
            <a:avLst/>
          </a:prstGeom>
          <a:noFill/>
        </p:spPr>
        <p:txBody>
          <a:bodyPr wrap="square" anchor="t" lIns="0" rIns="0" tIns="0" bIns="0">
            <a:spAutoFit/>
          </a:bodyPr>
          <a:lstStyle/>
          <a:p>
            <a:pPr algn="l"/>
            <a:r>
              <a:rPr sz="1200" b="0" i="0">
                <a:solidFill>
                  <a:srgbClr val="5B6770"/>
                </a:solidFill>
                <a:latin typeface="Calibri"/>
              </a:rPr>
              <a:t>Bahn-Puls | Hackathon 6 | SDG 9</a:t>
            </a:r>
          </a:p>
        </p:txBody>
      </p:sp>
      <p:sp>
        <p:nvSpPr>
          <p:cNvPr id="18" name="Slide number"/>
          <p:cNvSpPr txBox="1"/>
          <p:nvPr/>
        </p:nvSpPr>
        <p:spPr>
          <a:xfrm>
            <a:off x="10972800" y="6400800"/>
            <a:ext cx="731520" cy="274320"/>
          </a:xfrm>
          <a:prstGeom prst="rect">
            <a:avLst/>
          </a:prstGeom>
          <a:noFill/>
        </p:spPr>
        <p:txBody>
          <a:bodyPr wrap="square" anchor="t" lIns="0" rIns="0" tIns="0" bIns="0">
            <a:spAutoFit/>
          </a:bodyPr>
          <a:lstStyle/>
          <a:p>
            <a:pPr algn="r"/>
            <a:r>
              <a:rPr sz="1200" b="0" i="0">
                <a:solidFill>
                  <a:srgbClr val="5B677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band"/>
          <p:cNvSpPr/>
          <p:nvPr/>
        </p:nvSpPr>
        <p:spPr>
          <a:xfrm>
            <a:off x="0" y="0"/>
            <a:ext cx="12191695" cy="1097280"/>
          </a:xfrm>
          <a:prstGeom prst="rect">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le"/>
          <p:cNvSpPr txBox="1"/>
          <p:nvPr/>
        </p:nvSpPr>
        <p:spPr>
          <a:xfrm>
            <a:off x="548640" y="164592"/>
            <a:ext cx="11064240" cy="566928"/>
          </a:xfrm>
          <a:prstGeom prst="rect">
            <a:avLst/>
          </a:prstGeom>
          <a:noFill/>
        </p:spPr>
        <p:txBody>
          <a:bodyPr wrap="square" anchor="ctr" lIns="0" rIns="0" tIns="0" bIns="0">
            <a:spAutoFit/>
          </a:bodyPr>
          <a:lstStyle/>
          <a:p>
            <a:pPr algn="l"/>
            <a:r>
              <a:rPr sz="3400" b="1" i="0">
                <a:solidFill>
                  <a:srgbClr val="FFFFFF"/>
                </a:solidFill>
                <a:latin typeface="Calibri"/>
              </a:rPr>
              <a:t>Ethics, limits and next steps</a:t>
            </a:r>
          </a:p>
        </p:txBody>
      </p:sp>
      <p:sp>
        <p:nvSpPr>
          <p:cNvPr id="4" name="Column 1"/>
          <p:cNvSpPr/>
          <p:nvPr/>
        </p:nvSpPr>
        <p:spPr>
          <a:xfrm>
            <a:off x="548640" y="1463040"/>
            <a:ext cx="3520440" cy="457200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lumn 1 heading"/>
          <p:cNvSpPr txBox="1"/>
          <p:nvPr/>
        </p:nvSpPr>
        <p:spPr>
          <a:xfrm>
            <a:off x="777240" y="1645920"/>
            <a:ext cx="3063240" cy="822960"/>
          </a:xfrm>
          <a:prstGeom prst="rect">
            <a:avLst/>
          </a:prstGeom>
          <a:noFill/>
        </p:spPr>
        <p:txBody>
          <a:bodyPr wrap="square" anchor="t" lIns="0" rIns="0" tIns="0" bIns="0">
            <a:spAutoFit/>
          </a:bodyPr>
          <a:lstStyle/>
          <a:p>
            <a:pPr algn="l"/>
            <a:r>
              <a:rPr sz="2000" b="1" i="0">
                <a:solidFill>
                  <a:srgbClr val="C8102E"/>
                </a:solidFill>
                <a:latin typeface="Calibri"/>
              </a:rPr>
              <a:t>What we protect</a:t>
            </a:r>
          </a:p>
        </p:txBody>
      </p:sp>
      <p:sp>
        <p:nvSpPr>
          <p:cNvPr id="6" name="Column 1 list"/>
          <p:cNvSpPr txBox="1"/>
          <p:nvPr/>
        </p:nvSpPr>
        <p:spPr>
          <a:xfrm>
            <a:off x="777240" y="2560320"/>
            <a:ext cx="3063240" cy="3383280"/>
          </a:xfrm>
          <a:prstGeom prst="rect">
            <a:avLst/>
          </a:prstGeom>
          <a:noFill/>
        </p:spPr>
        <p:txBody>
          <a:bodyPr wrap="square" anchor="t" lIns="0" rIns="0" tIns="0" bIns="0">
            <a:spAutoFit/>
          </a:bodyPr>
          <a:lstStyle/>
          <a:p>
            <a:pPr algn="l">
              <a:spcAft>
                <a:spcPts val="600"/>
              </a:spcAft>
            </a:pPr>
            <a:r>
              <a:rPr sz="1600" b="0" i="0">
                <a:solidFill>
                  <a:srgbClr val="1F2933"/>
                </a:solidFill>
                <a:latin typeface="Calibri"/>
              </a:rPr>
              <a:t>•  No handles, names or profile data stored</a:t>
            </a:r>
          </a:p>
          <a:p>
            <a:pPr algn="l">
              <a:spcAft>
                <a:spcPts val="600"/>
              </a:spcAft>
            </a:pPr>
            <a:r>
              <a:rPr sz="1600" b="0" i="0">
                <a:solidFill>
                  <a:srgbClr val="1F2933"/>
                </a:solidFill>
                <a:latin typeface="Calibri"/>
              </a:rPr>
              <a:t>•  No post URLs (they contain the author's ID)</a:t>
            </a:r>
          </a:p>
          <a:p>
            <a:pPr algn="l">
              <a:spcAft>
                <a:spcPts val="600"/>
              </a:spcAft>
            </a:pPr>
            <a:r>
              <a:rPr sz="1600" b="0" i="0">
                <a:solidFill>
                  <a:srgbClr val="1F2933"/>
                </a:solidFill>
                <a:latin typeface="Calibri"/>
              </a:rPr>
              <a:t>•  Read-only: we never post, like or follow</a:t>
            </a:r>
          </a:p>
          <a:p>
            <a:pPr algn="l">
              <a:spcAft>
                <a:spcPts val="600"/>
              </a:spcAft>
            </a:pPr>
            <a:r>
              <a:rPr sz="1600" b="0" i="0">
                <a:solidFill>
                  <a:srgbClr val="1F2933"/>
                </a:solidFill>
                <a:latin typeface="Calibri"/>
              </a:rPr>
              <a:t>•  Public data, but we only publish what we need</a:t>
            </a:r>
          </a:p>
        </p:txBody>
      </p:sp>
      <p:sp>
        <p:nvSpPr>
          <p:cNvPr id="7" name="Column 2"/>
          <p:cNvSpPr/>
          <p:nvPr/>
        </p:nvSpPr>
        <p:spPr>
          <a:xfrm>
            <a:off x="4343400" y="1463040"/>
            <a:ext cx="3520440" cy="457200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olumn 2 heading"/>
          <p:cNvSpPr txBox="1"/>
          <p:nvPr/>
        </p:nvSpPr>
        <p:spPr>
          <a:xfrm>
            <a:off x="4572000" y="1645920"/>
            <a:ext cx="3063240" cy="822960"/>
          </a:xfrm>
          <a:prstGeom prst="rect">
            <a:avLst/>
          </a:prstGeom>
          <a:noFill/>
        </p:spPr>
        <p:txBody>
          <a:bodyPr wrap="square" anchor="t" lIns="0" rIns="0" tIns="0" bIns="0">
            <a:spAutoFit/>
          </a:bodyPr>
          <a:lstStyle/>
          <a:p>
            <a:pPr algn="l"/>
            <a:r>
              <a:rPr sz="2000" b="1" i="0">
                <a:solidFill>
                  <a:srgbClr val="C8102E"/>
                </a:solidFill>
                <a:latin typeface="Calibri"/>
              </a:rPr>
              <a:t>What it must NOT be used for</a:t>
            </a:r>
          </a:p>
        </p:txBody>
      </p:sp>
      <p:sp>
        <p:nvSpPr>
          <p:cNvPr id="9" name="Column 2 list"/>
          <p:cNvSpPr txBox="1"/>
          <p:nvPr/>
        </p:nvSpPr>
        <p:spPr>
          <a:xfrm>
            <a:off x="4572000" y="2560320"/>
            <a:ext cx="3063240" cy="3383280"/>
          </a:xfrm>
          <a:prstGeom prst="rect">
            <a:avLst/>
          </a:prstGeom>
          <a:noFill/>
        </p:spPr>
        <p:txBody>
          <a:bodyPr wrap="square" anchor="t" lIns="0" rIns="0" tIns="0" bIns="0">
            <a:spAutoFit/>
          </a:bodyPr>
          <a:lstStyle/>
          <a:p>
            <a:pPr algn="l">
              <a:spcAft>
                <a:spcPts val="600"/>
              </a:spcAft>
            </a:pPr>
            <a:r>
              <a:rPr sz="1600" b="0" i="0">
                <a:solidFill>
                  <a:srgbClr val="1F2933"/>
                </a:solidFill>
                <a:latin typeface="Calibri"/>
              </a:rPr>
              <a:t>•  Judging individual staff</a:t>
            </a:r>
          </a:p>
          <a:p>
            <a:pPr algn="l">
              <a:spcAft>
                <a:spcPts val="600"/>
              </a:spcAft>
            </a:pPr>
            <a:r>
              <a:rPr sz="1600" b="0" i="0">
                <a:solidFill>
                  <a:srgbClr val="1F2933"/>
                </a:solidFill>
                <a:latin typeface="Calibri"/>
              </a:rPr>
              <a:t>•  Claiming a problem is solved because posting stopped</a:t>
            </a:r>
          </a:p>
          <a:p>
            <a:pPr algn="l">
              <a:spcAft>
                <a:spcPts val="600"/>
              </a:spcAft>
            </a:pPr>
            <a:r>
              <a:rPr sz="1600" b="0" i="0">
                <a:solidFill>
                  <a:srgbClr val="1F2933"/>
                </a:solidFill>
                <a:latin typeface="Calibri"/>
              </a:rPr>
              <a:t>•  Contacting or profiling passengers</a:t>
            </a:r>
          </a:p>
          <a:p>
            <a:pPr algn="l">
              <a:spcAft>
                <a:spcPts val="600"/>
              </a:spcAft>
            </a:pPr>
            <a:r>
              <a:rPr sz="1600" b="0" i="0">
                <a:solidFill>
                  <a:srgbClr val="1F2933"/>
                </a:solidFill>
                <a:latin typeface="Calibri"/>
              </a:rPr>
              <a:t>•  Ranking lines on a handful of posts</a:t>
            </a:r>
          </a:p>
        </p:txBody>
      </p:sp>
      <p:sp>
        <p:nvSpPr>
          <p:cNvPr id="10" name="Column 3"/>
          <p:cNvSpPr/>
          <p:nvPr/>
        </p:nvSpPr>
        <p:spPr>
          <a:xfrm>
            <a:off x="8138160" y="1463040"/>
            <a:ext cx="3520440" cy="4572000"/>
          </a:xfrm>
          <a:prstGeom prst="round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Column 3 heading"/>
          <p:cNvSpPr txBox="1"/>
          <p:nvPr/>
        </p:nvSpPr>
        <p:spPr>
          <a:xfrm>
            <a:off x="8366760" y="1645920"/>
            <a:ext cx="3063240" cy="822960"/>
          </a:xfrm>
          <a:prstGeom prst="rect">
            <a:avLst/>
          </a:prstGeom>
          <a:noFill/>
        </p:spPr>
        <p:txBody>
          <a:bodyPr wrap="square" anchor="t" lIns="0" rIns="0" tIns="0" bIns="0">
            <a:spAutoFit/>
          </a:bodyPr>
          <a:lstStyle/>
          <a:p>
            <a:pPr algn="l"/>
            <a:r>
              <a:rPr sz="2000" b="1" i="0">
                <a:solidFill>
                  <a:srgbClr val="C8102E"/>
                </a:solidFill>
                <a:latin typeface="Calibri"/>
              </a:rPr>
              <a:t>Next steps</a:t>
            </a:r>
          </a:p>
        </p:txBody>
      </p:sp>
      <p:sp>
        <p:nvSpPr>
          <p:cNvPr id="12" name="Column 3 list"/>
          <p:cNvSpPr txBox="1"/>
          <p:nvPr/>
        </p:nvSpPr>
        <p:spPr>
          <a:xfrm>
            <a:off x="8366760" y="2560320"/>
            <a:ext cx="3063240" cy="3383280"/>
          </a:xfrm>
          <a:prstGeom prst="rect">
            <a:avLst/>
          </a:prstGeom>
          <a:noFill/>
        </p:spPr>
        <p:txBody>
          <a:bodyPr wrap="square" anchor="t" lIns="0" rIns="0" tIns="0" bIns="0">
            <a:spAutoFit/>
          </a:bodyPr>
          <a:lstStyle/>
          <a:p>
            <a:pPr algn="l">
              <a:spcAft>
                <a:spcPts val="600"/>
              </a:spcAft>
            </a:pPr>
            <a:r>
              <a:rPr sz="1600" b="0" i="0">
                <a:solidFill>
                  <a:srgbClr val="1F2933"/>
                </a:solidFill>
                <a:latin typeface="Calibri"/>
              </a:rPr>
              <a:t>•  Filter off-topic posts before scoring</a:t>
            </a:r>
          </a:p>
          <a:p>
            <a:pPr algn="l">
              <a:spcAft>
                <a:spcPts val="600"/>
              </a:spcAft>
            </a:pPr>
            <a:r>
              <a:rPr sz="1600" b="0" i="0">
                <a:solidFill>
                  <a:srgbClr val="1F2933"/>
                </a:solidFill>
                <a:latin typeface="Calibri"/>
              </a:rPr>
              <a:t>•  A rule or third model for service notices</a:t>
            </a:r>
          </a:p>
          <a:p>
            <a:pPr algn="l">
              <a:spcAft>
                <a:spcPts val="600"/>
              </a:spcAft>
            </a:pPr>
            <a:r>
              <a:rPr sz="1600" b="0" i="0">
                <a:solidFill>
                  <a:srgbClr val="1F2933"/>
                </a:solidFill>
                <a:latin typeface="Calibri"/>
              </a:rPr>
              <a:t>•  Label more than 50 posts</a:t>
            </a:r>
          </a:p>
          <a:p>
            <a:pPr algn="l">
              <a:spcAft>
                <a:spcPts val="600"/>
              </a:spcAft>
            </a:pPr>
            <a:r>
              <a:rPr sz="1600" b="0" i="0">
                <a:solidFill>
                  <a:srgbClr val="1F2933"/>
                </a:solidFill>
                <a:latin typeface="Calibri"/>
              </a:rPr>
              <a:t>•  Delete the public data branch after grading</a:t>
            </a:r>
          </a:p>
        </p:txBody>
      </p:sp>
      <p:sp>
        <p:nvSpPr>
          <p:cNvPr id="13" name="Footer"/>
          <p:cNvSpPr txBox="1"/>
          <p:nvPr/>
        </p:nvSpPr>
        <p:spPr>
          <a:xfrm>
            <a:off x="548640" y="6400800"/>
            <a:ext cx="9144000" cy="274320"/>
          </a:xfrm>
          <a:prstGeom prst="rect">
            <a:avLst/>
          </a:prstGeom>
          <a:noFill/>
        </p:spPr>
        <p:txBody>
          <a:bodyPr wrap="square" anchor="t" lIns="0" rIns="0" tIns="0" bIns="0">
            <a:spAutoFit/>
          </a:bodyPr>
          <a:lstStyle/>
          <a:p>
            <a:pPr algn="l"/>
            <a:r>
              <a:rPr sz="1200" b="0" i="0">
                <a:solidFill>
                  <a:srgbClr val="5B6770"/>
                </a:solidFill>
                <a:latin typeface="Calibri"/>
              </a:rPr>
              <a:t>Bahn-Puls | Hackathon 6 | SDG 9</a:t>
            </a:r>
          </a:p>
        </p:txBody>
      </p:sp>
      <p:sp>
        <p:nvSpPr>
          <p:cNvPr id="14" name="Slide number"/>
          <p:cNvSpPr txBox="1"/>
          <p:nvPr/>
        </p:nvSpPr>
        <p:spPr>
          <a:xfrm>
            <a:off x="10972800" y="6400800"/>
            <a:ext cx="731520" cy="274320"/>
          </a:xfrm>
          <a:prstGeom prst="rect">
            <a:avLst/>
          </a:prstGeom>
          <a:noFill/>
        </p:spPr>
        <p:txBody>
          <a:bodyPr wrap="square" anchor="t" lIns="0" rIns="0" tIns="0" bIns="0">
            <a:spAutoFit/>
          </a:bodyPr>
          <a:lstStyle/>
          <a:p>
            <a:pPr algn="r"/>
            <a:r>
              <a:rPr sz="1200" b="0" i="0">
                <a:solidFill>
                  <a:srgbClr val="5B6770"/>
                </a:solidFill>
                <a:latin typeface="Calibri"/>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