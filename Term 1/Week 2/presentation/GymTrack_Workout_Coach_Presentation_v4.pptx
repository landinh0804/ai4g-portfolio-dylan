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228600"/>
            <a:ext cx="1645920" cy="1645920"/>
          </a:xfrm>
          <a:prstGeom prst="ellipse">
            <a:avLst/>
          </a:prstGeom>
          <a:solidFill>
            <a:srgbClr val="2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5120640"/>
            <a:ext cx="1463040" cy="1463040"/>
          </a:xfrm>
          <a:prstGeom prst="ellipse">
            <a:avLst/>
          </a:prstGeom>
          <a:solidFill>
            <a:srgbClr val="24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" y="5852160"/>
            <a:ext cx="1280160" cy="1280160"/>
          </a:xfrm>
          <a:prstGeom prst="ellipse">
            <a:avLst/>
          </a:prstGeom>
          <a:solidFill>
            <a:srgbClr val="25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758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DD5DB"/>
                </a:solidFill>
                <a:latin typeface="Aptos"/>
              </a:rPr>
              <a:t>SDG 3 • GOOD HEALTH &amp; WELL-BEING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61872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GymTrack</a:t>
            </a:r>
            <a:br/>
            <a:r>
              <a:rPr sz="3900" b="1">
                <a:solidFill>
                  <a:srgbClr val="FFFFFF"/>
                </a:solidFill>
                <a:latin typeface="Aptos"/>
              </a:rPr>
              <a:t>Workout 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97180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7E2EF"/>
                </a:solidFill>
                <a:latin typeface="Aptos"/>
              </a:rPr>
              <a:t>A simple chat-based workout tracker for gym beginners.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3858768"/>
            <a:ext cx="1920240" cy="502920"/>
          </a:xfrm>
          <a:prstGeom prst="roundRect">
            <a:avLst/>
          </a:prstGeom>
          <a:solidFill>
            <a:srgbClr val="266BD8"/>
          </a:solidFill>
          <a:ln>
            <a:solidFill>
              <a:srgbClr val="266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3995928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n8n + Telegram + 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01675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5D3E4"/>
                </a:solidFill>
                <a:latin typeface="Aptos"/>
              </a:rPr>
              <a:t>D. L. Dinh &amp; Jou •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GYMTRACK • SDG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64738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6BD8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C1B33"/>
                </a:solidFill>
                <a:latin typeface="Aptos"/>
              </a:rPr>
              <a:t>Beginners often lose track of their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387"/>
                </a:solidFill>
                <a:latin typeface="Aptos"/>
              </a:rPr>
              <a:t>After one or two days, it is easy to forget exercises, weights, sets, cardio, or rest.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01952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12848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C1B33"/>
                </a:solidFill>
                <a:latin typeface="Aptos"/>
              </a:rPr>
              <a:t>What can go wrong?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953512"/>
            <a:ext cx="109728" cy="109728"/>
          </a:xfrm>
          <a:prstGeom prst="roundRect">
            <a:avLst/>
          </a:prstGeom>
          <a:solidFill>
            <a:srgbClr val="FA8E35"/>
          </a:solidFill>
          <a:ln>
            <a:solidFill>
              <a:srgbClr val="FA8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898648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C1B33"/>
                </a:solidFill>
                <a:latin typeface="Aptos"/>
              </a:rPr>
              <a:t>Forgotten workouts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154680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Users cannot clearly see their recent progress.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849624"/>
            <a:ext cx="109728" cy="109728"/>
          </a:xfrm>
          <a:prstGeom prst="roundRect">
            <a:avLst/>
          </a:prstGeom>
          <a:solidFill>
            <a:srgbClr val="266BD8"/>
          </a:solidFill>
          <a:ln>
            <a:solidFill>
              <a:srgbClr val="266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794760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C1B33"/>
                </a:solidFill>
                <a:latin typeface="Aptos"/>
              </a:rPr>
              <a:t>No simple reflection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4050792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It is harder to plan the next workout safely.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745736"/>
            <a:ext cx="109728" cy="109728"/>
          </a:xfrm>
          <a:prstGeom prst="roundRect">
            <a:avLst/>
          </a:prstGeom>
          <a:solidFill>
            <a:srgbClr val="25B374"/>
          </a:solidFill>
          <a:ln>
            <a:solidFill>
              <a:srgbClr val="25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690872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C1B33"/>
                </a:solidFill>
                <a:latin typeface="Aptos"/>
              </a:rPr>
              <a:t>Less 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946904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Progress can feel unclear or discouraging.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901952"/>
            <a:ext cx="7022592" cy="3429000"/>
          </a:xfrm>
          <a:prstGeom prst="roundRect">
            <a:avLst/>
          </a:prstGeom>
          <a:solidFill>
            <a:srgbClr val="0C1B33"/>
          </a:solidFill>
          <a:ln>
            <a:solidFill>
              <a:srgbClr val="0C1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26771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BD5DB"/>
                </a:solidFill>
                <a:latin typeface="Aptos"/>
              </a:rPr>
              <a:t>OUR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69748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People new to the gym who want an easy record of what they did.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069080"/>
            <a:ext cx="5715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7E2EF"/>
                </a:solidFill>
                <a:latin typeface="Aptos"/>
              </a:rPr>
              <a:t>GymTrack turns a short chat message into a useful workout record and a supportive reply.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GYMTRACK • SDG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64738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6BD8"/>
                </a:solidFill>
                <a:latin typeface="Aptos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C1B33"/>
                </a:solidFill>
                <a:latin typeface="Aptos"/>
              </a:rPr>
              <a:t>A simple workout log in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387"/>
                </a:solidFill>
                <a:latin typeface="Aptos"/>
              </a:rPr>
              <a:t>No complicated spreadsheet or fitness app is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2677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286000"/>
            <a:ext cx="420624" cy="420624"/>
          </a:xfrm>
          <a:prstGeom prst="roundRect">
            <a:avLst/>
          </a:prstGeom>
          <a:solidFill>
            <a:srgbClr val="FA8E35"/>
          </a:solidFill>
          <a:ln>
            <a:solidFill>
              <a:srgbClr val="FA8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86584"/>
            <a:ext cx="420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0779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C1B33"/>
                </a:solidFill>
                <a:latin typeface="Aptos"/>
              </a:rPr>
              <a:t>Log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346704"/>
            <a:ext cx="1783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Send a message about weights, reps, cardio, steps, or 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7" y="304495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66BD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057400"/>
            <a:ext cx="22677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21608" y="2286000"/>
            <a:ext cx="420624" cy="420624"/>
          </a:xfrm>
          <a:prstGeom prst="roundRect">
            <a:avLst/>
          </a:prstGeom>
          <a:solidFill>
            <a:srgbClr val="266BD8"/>
          </a:solidFill>
          <a:ln>
            <a:solidFill>
              <a:srgbClr val="266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386584"/>
            <a:ext cx="420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90779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C1B33"/>
                </a:solidFill>
                <a:latin typeface="Aptos"/>
              </a:rPr>
              <a:t>Process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3346704"/>
            <a:ext cx="1783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n8n receives the message and checks recent workout history.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304495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66BD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057400"/>
            <a:ext cx="22677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01968" y="2286000"/>
            <a:ext cx="420624" cy="420624"/>
          </a:xfrm>
          <a:prstGeom prst="roundRect">
            <a:avLst/>
          </a:prstGeom>
          <a:solidFill>
            <a:srgbClr val="24BEC9"/>
          </a:solidFill>
          <a:ln>
            <a:solidFill>
              <a:srgbClr val="24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386584"/>
            <a:ext cx="420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90779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C1B33"/>
                </a:solidFill>
                <a:latin typeface="Aptos"/>
              </a:rPr>
              <a:t>Reply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346704"/>
            <a:ext cx="1783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ChatGPT creates a short, supportive response and next goal.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304495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66BD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057400"/>
            <a:ext cx="22677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82328" y="2286000"/>
            <a:ext cx="420624" cy="420624"/>
          </a:xfrm>
          <a:prstGeom prst="roundRect">
            <a:avLst/>
          </a:prstGeom>
          <a:solidFill>
            <a:srgbClr val="25B374"/>
          </a:solidFill>
          <a:ln>
            <a:solidFill>
              <a:srgbClr val="25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2328" y="2386584"/>
            <a:ext cx="420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90779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C1B33"/>
                </a:solidFill>
                <a:latin typeface="Aptos"/>
              </a:rPr>
              <a:t>Save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346704"/>
            <a:ext cx="1783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The workout and feedback are stored for future reference.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166360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C1B33"/>
                </a:solidFill>
                <a:latin typeface="Aptos"/>
              </a:rPr>
              <a:t>Input → automation → feedback → stored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GYMTRACK • SDG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64738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6BD8"/>
                </a:solidFill>
                <a:latin typeface="Aptos"/>
              </a:rPr>
              <a:t>WORKING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C1B33"/>
                </a:solidFill>
                <a:latin typeface="Aptos"/>
              </a:rPr>
              <a:t>Real Telegram response from GymTrack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387"/>
                </a:solidFill>
                <a:latin typeface="Aptos"/>
              </a:rPr>
              <a:t>This is proof of the full chat flow working from user input to automated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2743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819910c78e7c235caff3bc6b8ad47f59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30" y="1792224"/>
            <a:ext cx="2040659" cy="44165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977639" y="1737360"/>
            <a:ext cx="7269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2544" y="212140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C1B33"/>
                </a:solidFill>
                <a:latin typeface="Aptos"/>
              </a:rPr>
              <a:t>Example: push-day workout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2544" y="2587752"/>
            <a:ext cx="6126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387"/>
                </a:solidFill>
                <a:latin typeface="Aptos"/>
              </a:rPr>
              <a:t>The user sends:</a:t>
            </a:r>
            <a:br/>
            <a:r>
              <a:rPr sz="1300" b="0">
                <a:solidFill>
                  <a:srgbClr val="647387"/>
                </a:solidFill>
                <a:latin typeface="Aptos"/>
              </a:rPr>
              <a:t>“Bench press 85kg 3×8, OHP 50kg 3×8, lateral raises 12kg 3×12. Slept 8h.”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3895344"/>
            <a:ext cx="109728" cy="109728"/>
          </a:xfrm>
          <a:prstGeom prst="roundRect">
            <a:avLst/>
          </a:prstGeom>
          <a:solidFill>
            <a:srgbClr val="FA8E35"/>
          </a:solidFill>
          <a:ln>
            <a:solidFill>
              <a:srgbClr val="FA8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3840480"/>
            <a:ext cx="5989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C1B33"/>
                </a:solidFill>
                <a:latin typeface="Aptos"/>
              </a:rPr>
              <a:t>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4096512"/>
            <a:ext cx="5989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The bot recognises the exercises, weights, and repetitions.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4626864"/>
            <a:ext cx="109728" cy="109728"/>
          </a:xfrm>
          <a:prstGeom prst="roundRect">
            <a:avLst/>
          </a:prstGeom>
          <a:solidFill>
            <a:srgbClr val="266BD8"/>
          </a:solidFill>
          <a:ln>
            <a:solidFill>
              <a:srgbClr val="266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572000"/>
            <a:ext cx="5989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C1B33"/>
                </a:solidFill>
                <a:latin typeface="Aptos"/>
              </a:rPr>
              <a:t>Next-session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828032"/>
            <a:ext cx="5989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It provides a general target and reminder to focus on 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5358383"/>
            <a:ext cx="109728" cy="109728"/>
          </a:xfrm>
          <a:prstGeom prst="roundRect">
            <a:avLst/>
          </a:prstGeom>
          <a:solidFill>
            <a:srgbClr val="25B374"/>
          </a:solidFill>
          <a:ln>
            <a:solidFill>
              <a:srgbClr val="25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5303520"/>
            <a:ext cx="5989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C1B33"/>
                </a:solidFill>
                <a:latin typeface="Aptos"/>
              </a:rPr>
              <a:t>Recovery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5559552"/>
            <a:ext cx="5989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When the user says they rested, it encourages recovery and hydration.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GYMTRACK • SDG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64738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6BD8"/>
                </a:solidFill>
                <a:latin typeface="Aptos"/>
              </a:rPr>
              <a:t>REQUIRED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C1B33"/>
                </a:solidFill>
                <a:latin typeface="Aptos"/>
              </a:rPr>
              <a:t>How we used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387"/>
                </a:solidFill>
                <a:latin typeface="Aptos"/>
              </a:rPr>
              <a:t>n8n connects the services and runs the workflow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176272"/>
            <a:ext cx="384048" cy="384048"/>
          </a:xfrm>
          <a:prstGeom prst="roundRect">
            <a:avLst/>
          </a:prstGeom>
          <a:solidFill>
            <a:srgbClr val="266BD8"/>
          </a:solidFill>
          <a:ln>
            <a:solidFill>
              <a:srgbClr val="266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76856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2194560"/>
            <a:ext cx="3840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C1B33"/>
                </a:solidFill>
                <a:latin typeface="Aptos"/>
              </a:rPr>
              <a:t>Telegram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2615184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Receives the user's workout chat message.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2176272"/>
            <a:ext cx="384048" cy="384048"/>
          </a:xfrm>
          <a:prstGeom prst="roundRect">
            <a:avLst/>
          </a:prstGeom>
          <a:solidFill>
            <a:srgbClr val="25B374"/>
          </a:solidFill>
          <a:ln>
            <a:solidFill>
              <a:srgbClr val="25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76856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464" y="2194560"/>
            <a:ext cx="3840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C1B33"/>
                </a:solidFill>
                <a:latin typeface="Aptos"/>
              </a:rPr>
              <a:t>Google Sheets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1464" y="2615184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Reads past workouts and records the new entry.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9476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4050792"/>
            <a:ext cx="384048" cy="384048"/>
          </a:xfrm>
          <a:prstGeom prst="roundRect">
            <a:avLst/>
          </a:prstGeom>
          <a:solidFill>
            <a:srgbClr val="FA8E35"/>
          </a:solidFill>
          <a:ln>
            <a:solidFill>
              <a:srgbClr val="FA8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51376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4069080"/>
            <a:ext cx="3840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C1B33"/>
                </a:solidFill>
                <a:latin typeface="Aptos"/>
              </a:rPr>
              <a:t>ChatGPT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4489704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Writes concise encouragement and general feedback.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79476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4050792"/>
            <a:ext cx="384048" cy="384048"/>
          </a:xfrm>
          <a:prstGeom prst="roundRect">
            <a:avLst/>
          </a:prstGeom>
          <a:solidFill>
            <a:srgbClr val="24BEC9"/>
          </a:solidFill>
          <a:ln>
            <a:solidFill>
              <a:srgbClr val="24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51376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4" y="4069080"/>
            <a:ext cx="3840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C1B33"/>
                </a:solidFill>
                <a:latin typeface="Aptos"/>
              </a:rPr>
              <a:t>Telegram Reply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4489704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Sends the response to the same user chat.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GYMTRACK • SDG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64738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6BD8"/>
                </a:solidFill>
                <a:latin typeface="Aptos"/>
              </a:rPr>
              <a:t>USER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C1B33"/>
                </a:solidFill>
                <a:latin typeface="Aptos"/>
              </a:rPr>
              <a:t>What GymTrack gives the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387"/>
                </a:solidFill>
                <a:latin typeface="Aptos"/>
              </a:rPr>
              <a:t>The goal is simple: make workout reflection easier and more consistent.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401568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75104" y="2331720"/>
            <a:ext cx="822960" cy="822960"/>
          </a:xfrm>
          <a:prstGeom prst="ellipse">
            <a:avLst/>
          </a:prstGeom>
          <a:solidFill>
            <a:srgbClr val="2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75104" y="252374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761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C1B33"/>
                </a:solidFill>
                <a:latin typeface="Aptos"/>
              </a:rPr>
              <a:t>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50208"/>
            <a:ext cx="2578608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387"/>
                </a:solidFill>
                <a:latin typeface="Aptos"/>
              </a:rPr>
              <a:t>A record of exercises, sets, reps, weights, cardio, and 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2011680"/>
            <a:ext cx="3401568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97296" y="2331720"/>
            <a:ext cx="822960" cy="822960"/>
          </a:xfrm>
          <a:prstGeom prst="ellipse">
            <a:avLst/>
          </a:prstGeom>
          <a:solidFill>
            <a:srgbClr val="FA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252374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3474720"/>
            <a:ext cx="2761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C1B33"/>
                </a:solidFill>
                <a:latin typeface="Aptos"/>
              </a:rPr>
              <a:t>Reflect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3950208"/>
            <a:ext cx="2578608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387"/>
                </a:solidFill>
                <a:latin typeface="Aptos"/>
              </a:rPr>
              <a:t>A concise summary of what the user completed that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2011680"/>
            <a:ext cx="3401568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19488" y="2331720"/>
            <a:ext cx="822960" cy="822960"/>
          </a:xfrm>
          <a:prstGeom prst="ellipse">
            <a:avLst/>
          </a:prstGeom>
          <a:solidFill>
            <a:srgbClr val="25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9488" y="252374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3474720"/>
            <a:ext cx="2761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C1B33"/>
                </a:solidFill>
                <a:latin typeface="Aptos"/>
              </a:rPr>
              <a:t>Stay encouraged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3" y="3950208"/>
            <a:ext cx="2578608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387"/>
                </a:solidFill>
                <a:latin typeface="Aptos"/>
              </a:rPr>
              <a:t>Positive messages help users continue their fitness habit.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GYMTRACK • SDG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64738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6BD8"/>
                </a:solidFill>
                <a:latin typeface="Aptos"/>
              </a:rPr>
              <a:t>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C1B33"/>
                </a:solidFill>
                <a:latin typeface="Aptos"/>
              </a:rPr>
              <a:t>Supportive feedback — not a personal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387"/>
                </a:solidFill>
                <a:latin typeface="Aptos"/>
              </a:rPr>
              <a:t>Fitness guidance can cause harm if users treat it as professional or medical advice.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66360" cy="3520440"/>
          </a:xfrm>
          <a:prstGeom prst="roundRect">
            <a:avLst/>
          </a:prstGeom>
          <a:solidFill>
            <a:srgbClr val="FFF6F4"/>
          </a:solidFill>
          <a:ln>
            <a:solidFill>
              <a:srgbClr val="F7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22199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D34B54"/>
                </a:solidFill>
                <a:latin typeface="Aptos"/>
              </a:rPr>
              <a:t>⚠ Risks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2889504"/>
            <a:ext cx="109728" cy="109728"/>
          </a:xfrm>
          <a:prstGeom prst="roundRect">
            <a:avLst/>
          </a:prstGeom>
          <a:solidFill>
            <a:srgbClr val="D34B54"/>
          </a:solidFill>
          <a:ln>
            <a:solidFill>
              <a:srgbClr val="D34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834640"/>
            <a:ext cx="4069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C1B33"/>
                </a:solidFill>
                <a:latin typeface="Aptos"/>
              </a:rPr>
              <a:t>Overtraining or injury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3090672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A user could lift too much or train while in pain.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3840479"/>
            <a:ext cx="109728" cy="109728"/>
          </a:xfrm>
          <a:prstGeom prst="roundRect">
            <a:avLst/>
          </a:prstGeom>
          <a:solidFill>
            <a:srgbClr val="D34B54"/>
          </a:solidFill>
          <a:ln>
            <a:solidFill>
              <a:srgbClr val="D34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7592" y="3785615"/>
            <a:ext cx="4069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C1B33"/>
                </a:solidFill>
                <a:latin typeface="Aptos"/>
              </a:rPr>
              <a:t>Wrong level of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4041648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Users may mistake automated feedback for qualified training advice.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166360" cy="3520440"/>
          </a:xfrm>
          <a:prstGeom prst="roundRect">
            <a:avLst/>
          </a:prstGeom>
          <a:solidFill>
            <a:srgbClr val="F1FAF7"/>
          </a:solidFill>
          <a:ln>
            <a:solidFill>
              <a:srgbClr val="C4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22199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5B374"/>
                </a:solidFill>
                <a:latin typeface="Aptos"/>
              </a:rPr>
              <a:t>✓ Our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1968" y="2889504"/>
            <a:ext cx="109728" cy="109728"/>
          </a:xfrm>
          <a:prstGeom prst="roundRect">
            <a:avLst/>
          </a:prstGeom>
          <a:solidFill>
            <a:srgbClr val="25B374"/>
          </a:solidFill>
          <a:ln>
            <a:solidFill>
              <a:srgbClr val="25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2834640"/>
            <a:ext cx="4069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C1B33"/>
                </a:solidFill>
                <a:latin typeface="Aptos"/>
              </a:rPr>
              <a:t>Clear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090672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General tracking and encouragement only; not medical advice.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1968" y="3840479"/>
            <a:ext cx="109728" cy="109728"/>
          </a:xfrm>
          <a:prstGeom prst="roundRect">
            <a:avLst/>
          </a:prstGeom>
          <a:solidFill>
            <a:srgbClr val="25B374"/>
          </a:solidFill>
          <a:ln>
            <a:solidFill>
              <a:srgbClr val="25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0568" y="3785615"/>
            <a:ext cx="4069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C1B33"/>
                </a:solidFill>
                <a:latin typeface="Aptos"/>
              </a:rPr>
              <a:t>Safety reminders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4041648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Encourage rest, recovery, hydration, good form, and professional help where needed.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GYMTRACK • SDG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64738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943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DD5DB"/>
                </a:solidFill>
                <a:latin typeface="Aptos"/>
              </a:rPr>
              <a:t>GYMTRACK WORKOUT COACH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0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Track. Reflect. Train responsibly.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2EF"/>
                </a:solidFill>
                <a:latin typeface="Aptos"/>
              </a:rPr>
              <a:t>A simple SDG 3 tool that helps beginner gym users remember and reflect on their workouts.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880360"/>
            <a:ext cx="6400800" cy="2194560"/>
          </a:xfrm>
          <a:prstGeom prst="roundRect">
            <a:avLst/>
          </a:prstGeom>
          <a:solidFill>
            <a:srgbClr val="183150"/>
          </a:solidFill>
          <a:ln>
            <a:solidFill>
              <a:srgbClr val="18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3182112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DD5DB"/>
                </a:solidFill>
                <a:latin typeface="Aptos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630168"/>
            <a:ext cx="5394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1. Send a workout message in Telegram</a:t>
            </a:r>
            <a:br/>
            <a:r>
              <a:rPr sz="1500" b="0">
                <a:solidFill>
                  <a:srgbClr val="FFFFFF"/>
                </a:solidFill>
                <a:latin typeface="Aptos"/>
              </a:rPr>
              <a:t>2. Show the GymTrack reply</a:t>
            </a:r>
            <a:br/>
            <a:r>
              <a:rPr sz="1500" b="0">
                <a:solidFill>
                  <a:srgbClr val="FFFFFF"/>
                </a:solidFill>
                <a:latin typeface="Aptos"/>
              </a:rPr>
              <a:t>3. Point out the feedback and safety reminder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806440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Thank you —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GYMTRACK • SDG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64738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700"/>
                </a:solidFill>
                <a:latin typeface="Aptos"/>
              </a:rPr>
              <a:t>HOW THE WORKFLOW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0223A"/>
                </a:solidFill>
                <a:latin typeface="Aptos"/>
              </a:rPr>
              <a:t>n8n connects every step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36171"/>
                </a:solidFill>
                <a:latin typeface="Aptos"/>
              </a:rPr>
              <a:t>The workflow turns one Telegram workout message into stored history and a helpful reply.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758952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fed761c0c3bd576c14b4b9e4a370ee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38528"/>
            <a:ext cx="7223760" cy="3749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737360"/>
            <a:ext cx="3063240" cy="4160520"/>
          </a:xfrm>
          <a:prstGeom prst="roundRect">
            <a:avLst/>
          </a:prstGeom>
          <a:solidFill>
            <a:srgbClr val="1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20574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FROM CHAT
TO COACHING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2788920"/>
            <a:ext cx="292608" cy="292608"/>
          </a:xfrm>
          <a:prstGeom prst="ellipse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807208"/>
            <a:ext cx="2926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7152" y="277977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Telegram receives the workout log</a:t>
            </a:r>
          </a:p>
        </p:txBody>
      </p:sp>
      <p:sp>
        <p:nvSpPr>
          <p:cNvPr id="13" name="Oval 12"/>
          <p:cNvSpPr/>
          <p:nvPr/>
        </p:nvSpPr>
        <p:spPr>
          <a:xfrm>
            <a:off x="8823960" y="3337560"/>
            <a:ext cx="292608" cy="292608"/>
          </a:xfrm>
          <a:prstGeom prst="ellipse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3355848"/>
            <a:ext cx="2926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332841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Google Sheets reads recent history</a:t>
            </a:r>
          </a:p>
        </p:txBody>
      </p:sp>
      <p:sp>
        <p:nvSpPr>
          <p:cNvPr id="16" name="Oval 15"/>
          <p:cNvSpPr/>
          <p:nvPr/>
        </p:nvSpPr>
        <p:spPr>
          <a:xfrm>
            <a:off x="8823960" y="3886200"/>
            <a:ext cx="292608" cy="292608"/>
          </a:xfrm>
          <a:prstGeom prst="ellipse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3904487"/>
            <a:ext cx="2926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387705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ChatGPT creates feedback and a next goal</a:t>
            </a:r>
          </a:p>
        </p:txBody>
      </p:sp>
      <p:sp>
        <p:nvSpPr>
          <p:cNvPr id="19" name="Oval 18"/>
          <p:cNvSpPr/>
          <p:nvPr/>
        </p:nvSpPr>
        <p:spPr>
          <a:xfrm>
            <a:off x="8823960" y="4434840"/>
            <a:ext cx="292608" cy="292608"/>
          </a:xfrm>
          <a:prstGeom prst="ellipse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453127"/>
            <a:ext cx="2926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442569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The new workout is saved</a:t>
            </a:r>
          </a:p>
        </p:txBody>
      </p:sp>
      <p:sp>
        <p:nvSpPr>
          <p:cNvPr id="22" name="Oval 21"/>
          <p:cNvSpPr/>
          <p:nvPr/>
        </p:nvSpPr>
        <p:spPr>
          <a:xfrm>
            <a:off x="8823960" y="4983479"/>
            <a:ext cx="292608" cy="292608"/>
          </a:xfrm>
          <a:prstGeom prst="ellipse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5001767"/>
            <a:ext cx="2926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497433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Telegram sends the reply 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44768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36171"/>
                </a:solidFill>
                <a:latin typeface="Aptos"/>
              </a:rPr>
              <a:t>GymTrack Workout Coach  •  n8n workflow proof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