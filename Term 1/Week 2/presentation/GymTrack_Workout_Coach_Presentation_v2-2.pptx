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B3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052560" y="-1143000"/>
            <a:ext cx="4114800" cy="4114800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738360" y="-457200"/>
            <a:ext cx="2743200" cy="2743200"/>
          </a:xfrm>
          <a:prstGeom prst="ellipse">
            <a:avLst/>
          </a:prstGeom>
          <a:solidFill>
            <a:srgbClr val="18274A"/>
          </a:solidFill>
          <a:ln cap="flat" cmpd="sng" w="9525">
            <a:solidFill>
              <a:srgbClr val="1827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1124765" y="5175515"/>
            <a:ext cx="2834700" cy="283470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-438965" y="5632715"/>
            <a:ext cx="1737300" cy="1737300"/>
          </a:xfrm>
          <a:prstGeom prst="ellipse">
            <a:avLst/>
          </a:prstGeom>
          <a:solidFill>
            <a:srgbClr val="101B35"/>
          </a:solidFill>
          <a:ln cap="flat" cmpd="sng" w="9525">
            <a:solidFill>
              <a:srgbClr val="101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58368" y="566928"/>
            <a:ext cx="1965960" cy="310896"/>
          </a:xfrm>
          <a:prstGeom prst="roundRect">
            <a:avLst>
              <a:gd fmla="val 16667" name="adj"/>
            </a:avLst>
          </a:prstGeom>
          <a:solidFill>
            <a:srgbClr val="1D3557"/>
          </a:solidFill>
          <a:ln cap="flat" cmpd="sng" w="9525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94944" y="598932"/>
            <a:ext cx="18928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7F8EA"/>
                </a:solidFill>
                <a:latin typeface="Arial"/>
                <a:ea typeface="Arial"/>
                <a:cs typeface="Arial"/>
                <a:sym typeface="Arial"/>
              </a:rPr>
              <a:t>AI FOR GOOD • SDG 3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58368" y="141732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GYMTRACK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58368" y="199339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Workout Coach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76656" y="2761488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A simple chat-based tool that helps beginners</a:t>
            </a:r>
            <a:b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record workouts, stay motivated, and reflect safely.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58368" y="4160520"/>
            <a:ext cx="6766560" cy="1115568"/>
          </a:xfrm>
          <a:prstGeom prst="roundRect">
            <a:avLst>
              <a:gd fmla="val 16667" name="adj"/>
            </a:avLst>
          </a:prstGeom>
          <a:solidFill>
            <a:srgbClr val="18274A"/>
          </a:solidFill>
          <a:ln cap="flat" cmpd="sng" w="9525">
            <a:solidFill>
              <a:srgbClr val="1827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914400" y="4443984"/>
            <a:ext cx="420624" cy="420624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14400" y="451713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⌨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22960" y="49286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901952" y="4572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53719D"/>
          </a:solidFill>
          <a:ln cap="flat" cmpd="sng" w="9525">
            <a:solidFill>
              <a:srgbClr val="53719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2487168" y="4443984"/>
            <a:ext cx="420624" cy="420624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487168" y="451713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2395727" y="49286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3474720" y="4572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53719D"/>
          </a:solidFill>
          <a:ln cap="flat" cmpd="sng" w="9525">
            <a:solidFill>
              <a:srgbClr val="53719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4059935" y="4443984"/>
            <a:ext cx="420624" cy="420624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4059935" y="451713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968496" y="49286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5047488" y="4572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53719D"/>
          </a:solidFill>
          <a:ln cap="flat" cmpd="sng" w="9525">
            <a:solidFill>
              <a:srgbClr val="53719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5632704" y="4443984"/>
            <a:ext cx="420624" cy="420624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632704" y="4517136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541264" y="492861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964281" y="6044177"/>
            <a:ext cx="2743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D.L. Dinh &amp; Jou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964281" y="6318497"/>
            <a:ext cx="2743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5C5E2"/>
                </a:solidFill>
              </a:rPr>
              <a:t>p</a:t>
            </a:r>
            <a:r>
              <a:rPr b="0" i="0" lang="en-US" sz="1000" u="none" cap="none" strike="noStrike">
                <a:solidFill>
                  <a:srgbClr val="B5C5E2"/>
                </a:solidFill>
                <a:latin typeface="Arial"/>
                <a:ea typeface="Arial"/>
                <a:cs typeface="Arial"/>
                <a:sym typeface="Arial"/>
              </a:rPr>
              <a:t>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Beginners often train, but do not consistently remember or reflect on their progress.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621792" y="1828800"/>
            <a:ext cx="3703320" cy="3886200"/>
          </a:xfrm>
          <a:prstGeom prst="roundRect">
            <a:avLst>
              <a:gd fmla="val 1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2176272"/>
            <a:ext cx="621792" cy="621792"/>
          </a:xfrm>
          <a:prstGeom prst="ellipse">
            <a:avLst/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2249424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14400" y="2971800"/>
            <a:ext cx="29260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After one day,</a:t>
            </a:r>
            <a:br>
              <a:rPr b="1" i="0" lang="en-US" sz="2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workout details</a:t>
            </a:r>
            <a:br>
              <a:rPr b="1" i="0" lang="en-US" sz="2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are easy to forget.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932688" y="4343400"/>
            <a:ext cx="2971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This makes it harder to see patterns,</a:t>
            </a:r>
            <a:b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celebrate progress, or avoid doing too much.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709160" y="1828800"/>
            <a:ext cx="683971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5010912" y="2075688"/>
            <a:ext cx="438912" cy="438912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010912" y="2148840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⌁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5596128" y="20116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Lost details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596128" y="230428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Sets, reps, cardio, steps and effort can be forgotten.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4709160" y="3063240"/>
            <a:ext cx="683971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5010912" y="3310128"/>
            <a:ext cx="438912" cy="438912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5010912" y="3383280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◫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596128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No weekly view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5596128" y="353872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It is difficult to notice what was completed this week.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4709160" y="4297680"/>
            <a:ext cx="683971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5010912" y="4544568"/>
            <a:ext cx="438912" cy="438912"/>
          </a:xfrm>
          <a:prstGeom prst="ellipse">
            <a:avLst/>
          </a:prstGeom>
          <a:solidFill>
            <a:srgbClr val="FFD166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5010912" y="4617720"/>
            <a:ext cx="438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♥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596128" y="44805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No quick support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5596128" y="477316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Beginners may need simple encouragement after training.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4709160" y="5504688"/>
            <a:ext cx="3749039" cy="310896"/>
          </a:xfrm>
          <a:prstGeom prst="roundRect">
            <a:avLst>
              <a:gd fmla="val 16667" name="adj"/>
            </a:avLst>
          </a:prstGeom>
          <a:solidFill>
            <a:srgbClr val="E5FAF6"/>
          </a:solidFill>
          <a:ln cap="flat" cmpd="sng" w="9525">
            <a:solidFill>
              <a:srgbClr val="E5FA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4745736" y="5536692"/>
            <a:ext cx="3675887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OUR RESPONSE: SIMPLE WORKOUT LOGGING + SUPPORT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Who GymTrack is for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focused SDG 3 tool for people beginning their gym routine.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612642" y="1769388"/>
            <a:ext cx="5440800" cy="358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960120" y="2221992"/>
            <a:ext cx="640080" cy="64008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960120" y="229514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👟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50970" y="2735572"/>
            <a:ext cx="42978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New gym-goers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50970" y="3256780"/>
            <a:ext cx="44988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People who want an easy way to record what they did today and look back at their weekly progress.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950970" y="4354060"/>
            <a:ext cx="1417200" cy="310800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987546" y="4386064"/>
            <a:ext cx="1344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CONDITIONS OF USE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50970" y="4719820"/>
            <a:ext cx="4206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• Uses Telegram chat</a:t>
            </a:r>
            <a:b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• Can type a short workout message</a:t>
            </a:r>
            <a:b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• Wants general tracking feedback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6400800" y="1847088"/>
            <a:ext cx="5138928" cy="3584448"/>
          </a:xfrm>
          <a:prstGeom prst="roundRect">
            <a:avLst>
              <a:gd fmla="val 16667" name="adj"/>
            </a:avLst>
          </a:prstGeom>
          <a:solidFill>
            <a:srgbClr val="101B35"/>
          </a:solidFill>
          <a:ln cap="flat" cmpd="sng" w="9525">
            <a:solidFill>
              <a:srgbClr val="101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6784848" y="224028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SDG 3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784848" y="2615184"/>
            <a:ext cx="3657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Health</a:t>
            </a:r>
            <a:b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Well-being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784848" y="3712463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GymTrack supports healthy routines by helping users reflect on activity, build consistency, and receive reminders not to overwork.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784848" y="4818888"/>
            <a:ext cx="2377440" cy="310896"/>
          </a:xfrm>
          <a:prstGeom prst="roundRect">
            <a:avLst>
              <a:gd fmla="val 16667" name="adj"/>
            </a:avLst>
          </a:prstGeom>
          <a:solidFill>
            <a:srgbClr val="1D3557"/>
          </a:solidFill>
          <a:ln cap="flat" cmpd="sng" w="9525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821425" y="4850898"/>
            <a:ext cx="2304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7F8EA"/>
                </a:solidFill>
                <a:latin typeface="Arial"/>
                <a:ea typeface="Arial"/>
                <a:cs typeface="Arial"/>
                <a:sym typeface="Arial"/>
              </a:rPr>
              <a:t>LOW-PRESSURE • BEGINNER-FRIENDLY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short chat message becomes a saved workout record and a supportive reply.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566928" y="2304288"/>
            <a:ext cx="1956816" cy="2167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1271016" y="2560320"/>
            <a:ext cx="530352" cy="530352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271016" y="263347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85800" y="2423160"/>
            <a:ext cx="292608" cy="3108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722376" y="2455164"/>
            <a:ext cx="2194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31520" y="3255264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User logs workout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31520" y="3785616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2569464" y="3273552"/>
            <a:ext cx="237744" cy="256032"/>
          </a:xfrm>
          <a:prstGeom prst="chevron">
            <a:avLst>
              <a:gd fmla="val 50000" name="adj"/>
            </a:avLst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2871216" y="2304288"/>
            <a:ext cx="1956816" cy="2167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575304" y="2560320"/>
            <a:ext cx="530352" cy="530352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3575304" y="263347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2990088" y="2423160"/>
            <a:ext cx="292608" cy="3108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3026664" y="2455164"/>
            <a:ext cx="2194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3035808" y="3255264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n8n runs workflow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3035808" y="3785616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4873752" y="3273552"/>
            <a:ext cx="237744" cy="256032"/>
          </a:xfrm>
          <a:prstGeom prst="chevron">
            <a:avLst>
              <a:gd fmla="val 50000" name="adj"/>
            </a:avLst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5175504" y="2304288"/>
            <a:ext cx="1956816" cy="2167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879592" y="2560320"/>
            <a:ext cx="530352" cy="530352"/>
          </a:xfrm>
          <a:prstGeom prst="ellipse">
            <a:avLst/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5879592" y="263347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5294376" y="2423160"/>
            <a:ext cx="292608" cy="3108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5330952" y="2455164"/>
            <a:ext cx="2194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340096" y="3255264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ChatGPT creates reply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340096" y="3785616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Encouragement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7178040" y="3273552"/>
            <a:ext cx="237744" cy="256032"/>
          </a:xfrm>
          <a:prstGeom prst="chevron">
            <a:avLst>
              <a:gd fmla="val 50000" name="adj"/>
            </a:avLst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7479792" y="2304288"/>
            <a:ext cx="1956816" cy="2167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8183879" y="2560320"/>
            <a:ext cx="530352" cy="530352"/>
          </a:xfrm>
          <a:prstGeom prst="ellipse">
            <a:avLst/>
          </a:prstGeom>
          <a:solidFill>
            <a:srgbClr val="FFD166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8183879" y="263347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7598664" y="2423160"/>
            <a:ext cx="292608" cy="3108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7635240" y="2455164"/>
            <a:ext cx="2194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7644383" y="3255264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History is saved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7644383" y="3785616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Weekly record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9482328" y="3273552"/>
            <a:ext cx="237744" cy="256032"/>
          </a:xfrm>
          <a:prstGeom prst="chevron">
            <a:avLst>
              <a:gd fmla="val 50000" name="adj"/>
            </a:avLst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9784080" y="2304288"/>
            <a:ext cx="1956816" cy="2167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DE5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10488167" y="2560320"/>
            <a:ext cx="530352" cy="530352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10488167" y="263347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9902952" y="2423160"/>
            <a:ext cx="292608" cy="3108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9939528" y="2455164"/>
            <a:ext cx="2194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967F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9948672" y="3255264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User receives it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9948672" y="3785616"/>
            <a:ext cx="1627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Telegram reply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932688" y="5175504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Example input: “Today I did 20 minutes cardio, squats 3×10, and 6,000 steps.”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932688" y="5559552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workflow replies in the same chat—no manual work is needed.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A simple chat experience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user does not need a complex dashboard—just sends their workout in Telegram.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804672" y="1709928"/>
            <a:ext cx="3886200" cy="4498848"/>
          </a:xfrm>
          <a:prstGeom prst="roundRect">
            <a:avLst>
              <a:gd fmla="val 16667" name="adj"/>
            </a:avLst>
          </a:prstGeom>
          <a:solidFill>
            <a:srgbClr val="101B35"/>
          </a:solidFill>
          <a:ln cap="flat" cmpd="sng" w="9525">
            <a:solidFill>
              <a:srgbClr val="101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1024128" y="2002536"/>
            <a:ext cx="3456432" cy="3950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298448" y="221284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GymTrack Bot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298448" y="245059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325880" y="2852928"/>
            <a:ext cx="2587752" cy="768096"/>
          </a:xfrm>
          <a:prstGeom prst="roundRect">
            <a:avLst>
              <a:gd fmla="val 16667" name="adj"/>
            </a:avLst>
          </a:prstGeom>
          <a:solidFill>
            <a:srgbClr val="EEF0FF"/>
          </a:solidFill>
          <a:ln cap="flat" cmpd="sng" w="9525">
            <a:solidFill>
              <a:srgbClr val="EE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1499616" y="3017520"/>
            <a:ext cx="22402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Today: cardio 20 min,</a:t>
            </a:r>
            <a:b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squats 3×10, 6,000 steps.</a:t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1554480" y="3822191"/>
            <a:ext cx="2578608" cy="1325880"/>
          </a:xfrm>
          <a:prstGeom prst="roundRect">
            <a:avLst>
              <a:gd fmla="val 16667" name="adj"/>
            </a:avLst>
          </a:prstGeom>
          <a:solidFill>
            <a:srgbClr val="E5FAF6"/>
          </a:solidFill>
          <a:ln cap="flat" cmpd="sng" w="9525">
            <a:solidFill>
              <a:srgbClr val="E5FA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1737360" y="4005072"/>
            <a:ext cx="22219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Good job! You completed cardio</a:t>
            </a:r>
            <a:b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and strength training today.</a:t>
            </a:r>
            <a:b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Remember: rest and do not overwork.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3264408" y="4956048"/>
            <a:ext cx="60350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Delivered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5257800" y="2029968"/>
            <a:ext cx="502920" cy="50292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5257800" y="210312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5943600" y="204825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It recognises the workout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5943600" y="2359152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reply mentions what the user wrote.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5257800" y="3291840"/>
            <a:ext cx="502920" cy="502920"/>
          </a:xfrm>
          <a:prstGeom prst="ellipse">
            <a:avLst/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5257800" y="336499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♥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5943600" y="331012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It encourages safely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5943600" y="362102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response supports motivation and rest.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5257800" y="4553712"/>
            <a:ext cx="502920" cy="502920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5257800" y="462686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5943600" y="457200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It records progress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5943600" y="4882896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workout can be used for weekly reflection.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The n8n workflow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n8n is the required tool and connects the complete experience.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621792" y="1828800"/>
            <a:ext cx="10972800" cy="4160520"/>
          </a:xfrm>
          <a:prstGeom prst="roundRect">
            <a:avLst>
              <a:gd fmla="val 16667" name="adj"/>
            </a:avLst>
          </a:prstGeom>
          <a:solidFill>
            <a:srgbClr val="101B35"/>
          </a:solidFill>
          <a:ln cap="flat" cmpd="sng" w="9525">
            <a:solidFill>
              <a:srgbClr val="101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969264" y="21488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LIVE AUTOMATION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960120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389888" y="3108960"/>
            <a:ext cx="411480" cy="41148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1389888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033272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2286000" y="3429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6B86B4"/>
          </a:solidFill>
          <a:ln cap="flat" cmpd="sng" w="9525">
            <a:solidFill>
              <a:srgbClr val="6B86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2679191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3108959" y="3108960"/>
            <a:ext cx="411480" cy="411480"/>
          </a:xfrm>
          <a:prstGeom prst="ellipse">
            <a:avLst/>
          </a:prstGeom>
          <a:solidFill>
            <a:srgbClr val="FFD166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3108959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2752344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4005072" y="3429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6B86B4"/>
          </a:solidFill>
          <a:ln cap="flat" cmpd="sng" w="9525">
            <a:solidFill>
              <a:srgbClr val="6B86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398264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4828031" y="3108960"/>
            <a:ext cx="411480" cy="411480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4828031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&lt;&gt;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4471416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5724144" y="3429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6B86B4"/>
          </a:solidFill>
          <a:ln cap="flat" cmpd="sng" w="9525">
            <a:solidFill>
              <a:srgbClr val="6B86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6117336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6547103" y="3108960"/>
            <a:ext cx="411480" cy="411480"/>
          </a:xfrm>
          <a:prstGeom prst="ellipse">
            <a:avLst/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6547103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190488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Coaching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7443215" y="3429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6B86B4"/>
          </a:solidFill>
          <a:ln cap="flat" cmpd="sng" w="9525">
            <a:solidFill>
              <a:srgbClr val="6B86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7836408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8266176" y="3108960"/>
            <a:ext cx="411480" cy="41148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8266176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7909560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9162288" y="3429000"/>
            <a:ext cx="256032" cy="256032"/>
          </a:xfrm>
          <a:prstGeom prst="chevron">
            <a:avLst>
              <a:gd fmla="val 50000" name="adj"/>
            </a:avLst>
          </a:prstGeom>
          <a:solidFill>
            <a:srgbClr val="6B86B4"/>
          </a:solidFill>
          <a:ln cap="flat" cmpd="sng" w="9525">
            <a:solidFill>
              <a:srgbClr val="6B86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9555480" y="2907792"/>
            <a:ext cx="1280160" cy="1335024"/>
          </a:xfrm>
          <a:prstGeom prst="roundRect">
            <a:avLst>
              <a:gd fmla="val 16667" name="adj"/>
            </a:avLst>
          </a:prstGeom>
          <a:solidFill>
            <a:srgbClr val="20365E"/>
          </a:solidFill>
          <a:ln cap="flat" cmpd="sng" w="9525">
            <a:solidFill>
              <a:srgbClr val="2C47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9985248" y="3108960"/>
            <a:ext cx="411480" cy="411480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9985248" y="318211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9628632" y="3703320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5715000" y="4773168"/>
            <a:ext cx="1874519" cy="594360"/>
          </a:xfrm>
          <a:prstGeom prst="roundRect">
            <a:avLst>
              <a:gd fmla="val 16667" name="adj"/>
            </a:avLst>
          </a:prstGeom>
          <a:solidFill>
            <a:srgbClr val="1B4563"/>
          </a:solidFill>
          <a:ln cap="flat" cmpd="sng" w="9525">
            <a:solidFill>
              <a:srgbClr val="1B456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5897880" y="496519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7F8EA"/>
                </a:solidFill>
                <a:latin typeface="Arial"/>
                <a:ea typeface="Arial"/>
                <a:cs typeface="Arial"/>
                <a:sym typeface="Arial"/>
              </a:rPr>
              <a:t>↻ Window Memory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960120" y="5376672"/>
            <a:ext cx="9966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We used n8n to connect Telegram, workout history, ChatGPT feedback, and saved records in one automated workflow.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/>
        </p:nvSpPr>
        <p:spPr>
          <a:xfrm>
            <a:off x="594360" y="384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94360" y="68580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Responsible use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612648" y="1225296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supports tracking; it does not replace a human trainer or medical professional.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12648" y="651052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GYMTRACK  •  SDG 3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0972800" y="65105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21792" y="1901952"/>
            <a:ext cx="3364992" cy="2944368"/>
          </a:xfrm>
          <a:prstGeom prst="roundRect">
            <a:avLst>
              <a:gd fmla="val 1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941832" y="2240280"/>
            <a:ext cx="530352" cy="530352"/>
          </a:xfrm>
          <a:prstGeom prst="ellipse">
            <a:avLst/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941832" y="231343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941832" y="29443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941832" y="3456432"/>
            <a:ext cx="2697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user may overtrain or follow feedback despite pain or a health condition.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325112" y="1901952"/>
            <a:ext cx="3364992" cy="2944368"/>
          </a:xfrm>
          <a:prstGeom prst="roundRect">
            <a:avLst>
              <a:gd fmla="val 16667" name="adj"/>
            </a:avLst>
          </a:prstGeom>
          <a:solidFill>
            <a:srgbClr val="FFF9E7"/>
          </a:solidFill>
          <a:ln cap="flat" cmpd="sng" w="9525">
            <a:solidFill>
              <a:srgbClr val="FFF9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4645151" y="2240280"/>
            <a:ext cx="530352" cy="530352"/>
          </a:xfrm>
          <a:prstGeom prst="ellipse">
            <a:avLst/>
          </a:prstGeom>
          <a:solidFill>
            <a:srgbClr val="FFD166"/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4645151" y="231343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↯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4645151" y="29443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4645151" y="3456432"/>
            <a:ext cx="2697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This can increase the risk of injury or give false confidence.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028431" y="1901952"/>
            <a:ext cx="3364992" cy="2944368"/>
          </a:xfrm>
          <a:prstGeom prst="roundRect">
            <a:avLst>
              <a:gd fmla="val 16667" name="adj"/>
            </a:avLst>
          </a:prstGeom>
          <a:solidFill>
            <a:srgbClr val="E5FAF6"/>
          </a:solidFill>
          <a:ln cap="flat" cmpd="sng" w="9525">
            <a:solidFill>
              <a:srgbClr val="E5FA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8348471" y="2240280"/>
            <a:ext cx="530352" cy="530352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8348471" y="2313432"/>
            <a:ext cx="530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8348471" y="29443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B"/>
                </a:solidFill>
                <a:latin typeface="Arial"/>
                <a:ea typeface="Arial"/>
                <a:cs typeface="Arial"/>
                <a:sym typeface="Arial"/>
              </a:rPr>
              <a:t>Our action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8348471" y="3456432"/>
            <a:ext cx="2697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 show warnings: do not overwork, stop if there is pain, and seek professional advice when needed.</a:t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621792" y="5230368"/>
            <a:ext cx="10771632" cy="566928"/>
          </a:xfrm>
          <a:prstGeom prst="roundRect">
            <a:avLst>
              <a:gd fmla="val 16667" name="adj"/>
            </a:avLst>
          </a:prstGeom>
          <a:solidFill>
            <a:srgbClr val="101B35"/>
          </a:solidFill>
          <a:ln cap="flat" cmpd="sng" w="9525">
            <a:solidFill>
              <a:srgbClr val="101B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877824" y="5422392"/>
            <a:ext cx="10149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Clear boundary: General workout tracking and encouragement only — not medical, nutritional, or personalised training advice.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B35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/>
          <p:nvPr/>
        </p:nvSpPr>
        <p:spPr>
          <a:xfrm>
            <a:off x="9098280" y="-1207008"/>
            <a:ext cx="4389120" cy="4389120"/>
          </a:xfrm>
          <a:prstGeom prst="ellipse">
            <a:avLst/>
          </a:prstGeom>
          <a:solidFill>
            <a:srgbClr val="5967F2"/>
          </a:solidFill>
          <a:ln cap="flat" cmpd="sng" w="9525">
            <a:solidFill>
              <a:srgbClr val="5967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-1417320" y="5303520"/>
            <a:ext cx="3566160" cy="3566160"/>
          </a:xfrm>
          <a:prstGeom prst="ellipse">
            <a:avLst/>
          </a:prstGeom>
          <a:solidFill>
            <a:srgbClr val="15C6A5"/>
          </a:solidFill>
          <a:ln cap="flat" cmpd="sng" w="9525">
            <a:solidFill>
              <a:srgbClr val="15C6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685800" y="640080"/>
            <a:ext cx="2468880" cy="310896"/>
          </a:xfrm>
          <a:prstGeom prst="roundRect">
            <a:avLst>
              <a:gd fmla="val 16667" name="adj"/>
            </a:avLst>
          </a:prstGeom>
          <a:solidFill>
            <a:srgbClr val="1D3557"/>
          </a:solidFill>
          <a:ln cap="flat" cmpd="sng" w="9525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722376" y="672084"/>
            <a:ext cx="2395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7F8EA"/>
                </a:solidFill>
                <a:latin typeface="Arial"/>
                <a:ea typeface="Arial"/>
                <a:cs typeface="Arial"/>
                <a:sym typeface="Arial"/>
              </a:rPr>
              <a:t>SDG 3 • GOOD HEALTH &amp; WELL-BEING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658368" y="150876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Log. Learn. Improve.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676656" y="2267712"/>
            <a:ext cx="6858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GymTrack helps new gym-goers turn a short workout chat</a:t>
            </a:r>
            <a:b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D9E4F5"/>
                </a:solidFill>
                <a:latin typeface="Arial"/>
                <a:ea typeface="Arial"/>
                <a:cs typeface="Arial"/>
                <a:sym typeface="Arial"/>
              </a:rPr>
              <a:t>into a remembered routine and supportive feedback.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685800" y="3429000"/>
            <a:ext cx="5961888" cy="1609344"/>
          </a:xfrm>
          <a:prstGeom prst="roundRect">
            <a:avLst>
              <a:gd fmla="val 16667" name="adj"/>
            </a:avLst>
          </a:prstGeom>
          <a:solidFill>
            <a:srgbClr val="18274A"/>
          </a:solidFill>
          <a:ln cap="flat" cmpd="sng" w="9525">
            <a:solidFill>
              <a:srgbClr val="1827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960120" y="373075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960120" y="4142232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Send a workout message     2. Get a reply     3. Show saved history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76656" y="59618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5C6A5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76656" y="63459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5C5E2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