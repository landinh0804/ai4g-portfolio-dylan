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0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40880" y="-1188720"/>
            <a:ext cx="5943600" cy="5852160"/>
          </a:xfrm>
          <a:prstGeom prst="roundRect">
            <a:avLst/>
          </a:prstGeom>
          <a:solidFill>
            <a:srgbClr val="E85200"/>
          </a:solidFill>
          <a:ln>
            <a:solidFill>
              <a:srgbClr val="E8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78240" y="4023360"/>
            <a:ext cx="4480560" cy="4480560"/>
          </a:xfrm>
          <a:prstGeom prst="roundRect">
            <a:avLst/>
          </a:prstGeom>
          <a:solidFill>
            <a:srgbClr val="F78920"/>
          </a:solidFill>
          <a:ln>
            <a:solidFill>
              <a:srgbClr val="F78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5486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DutchLingo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Aptos"/>
              </a:defRPr>
            </a:pPr>
            <a:r>
              <a:t>Practical Dutch vocabulary for beginner learners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SDG 4 • Quality Education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46120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392424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700C"/>
                </a:solidFill>
                <a:latin typeface="Aptos"/>
              </a:defRPr>
            </a:pPr>
            <a:r>
              <a:t>Built with Bolt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75703" y="1917234"/>
            <a:ext cx="4754880" cy="2758355"/>
          </a:xfrm>
          <a:prstGeom prst="roundRect">
            <a:avLst/>
          </a:prstGeom>
          <a:solidFill>
            <a:srgbClr val="DCD6CD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ssistant-AwNnycd6f3DJPAgUrBGUhQ-4A14D2F6-E9FF-487D-BA11-1D1A875278D0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44082"/>
            <a:ext cx="4754880" cy="27583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0350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Team: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6233A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5C6878"/>
                </a:solidFill>
                <a:latin typeface="Aptos"/>
              </a:defRPr>
            </a:pPr>
            <a:r>
              <a:t>A small but real everyday learning barrier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 b="1">
                <a:solidFill>
                  <a:srgbClr val="16233A"/>
                </a:solidFill>
                <a:latin typeface="Aptos"/>
              </a:defRPr>
            </a:pPr>
            <a:r>
              <a:t>For international students and newcomers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4526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6233A"/>
                </a:solidFill>
                <a:latin typeface="Aptos"/>
              </a:defRPr>
            </a:pPr>
            <a:r>
              <a:t>• Practical Dutch helps with daily life in the Netherlands.</a:t>
            </a:r>
          </a:p>
          <a:p>
            <a:pPr>
              <a:spcAft>
                <a:spcPts val="1200"/>
              </a:spcAft>
              <a:defRPr sz="1800">
                <a:solidFill>
                  <a:srgbClr val="16233A"/>
                </a:solidFill>
                <a:latin typeface="Aptos"/>
              </a:defRPr>
            </a:pPr>
            <a:r>
              <a:t>• Beginners need simple, regular vocabulary practice.</a:t>
            </a:r>
          </a:p>
          <a:p>
            <a:pPr>
              <a:spcAft>
                <a:spcPts val="1200"/>
              </a:spcAft>
              <a:defRPr sz="1800">
                <a:solidFill>
                  <a:srgbClr val="16233A"/>
                </a:solidFill>
                <a:latin typeface="Aptos"/>
              </a:defRPr>
            </a:pPr>
            <a:r>
              <a:t>• Large language courses can feel difficult or expensive at the 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74920" cy="4160520"/>
          </a:xfrm>
          <a:prstGeom prst="roundRect">
            <a:avLst/>
          </a:prstGeom>
          <a:solidFill>
            <a:srgbClr val="FF700C"/>
          </a:solidFill>
          <a:ln>
            <a:solidFill>
              <a:srgbClr val="FF70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920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Our SDG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331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SDG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9992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Quality Education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794760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DutchLingo gives beginner learners a low-pressure way to learn, practise, and revisit useful Dutch words.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4114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5C6878"/>
                </a:solidFill>
                <a:latin typeface="Aptos"/>
              </a:defRPr>
            </a:pPr>
            <a:r>
              <a:t>DutchLingo  •  Hackathon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92240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5C68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6233A"/>
                </a:solidFill>
                <a:latin typeface="Aptos"/>
              </a:defRPr>
            </a:pPr>
            <a:r>
              <a:t>Who is DutchLingo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5C6878"/>
                </a:solidFill>
                <a:latin typeface="Aptos"/>
              </a:defRPr>
            </a:pPr>
            <a:r>
              <a:t>Our first version has a clear, focused target group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F700C"/>
                </a:solidFill>
                <a:latin typeface="Aptos"/>
              </a:defRPr>
            </a:pPr>
            <a:r>
              <a:t>Intended learners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6233A"/>
                </a:solidFill>
                <a:latin typeface="Aptos"/>
              </a:defRPr>
            </a:pPr>
            <a:r>
              <a:t>• English-speaking adults who are new to Dutch</a:t>
            </a:r>
          </a:p>
          <a:p>
            <a:pPr>
              <a:spcAft>
                <a:spcPts val="1200"/>
              </a:spcAft>
              <a:defRPr sz="1700">
                <a:solidFill>
                  <a:srgbClr val="16233A"/>
                </a:solidFill>
                <a:latin typeface="Aptos"/>
              </a:defRPr>
            </a:pPr>
            <a:r>
              <a:t>• International students and newcomers in the Netherlands</a:t>
            </a:r>
          </a:p>
          <a:p>
            <a:pPr>
              <a:spcAft>
                <a:spcPts val="1200"/>
              </a:spcAft>
              <a:defRPr sz="1700">
                <a:solidFill>
                  <a:srgbClr val="16233A"/>
                </a:solidFill>
                <a:latin typeface="Aptos"/>
              </a:defRPr>
            </a:pPr>
            <a:r>
              <a:t>• Learners who need practical everyday vocabulary</a:t>
            </a:r>
          </a:p>
          <a:p>
            <a:pPr>
              <a:spcAft>
                <a:spcPts val="1200"/>
              </a:spcAft>
              <a:defRPr sz="1700">
                <a:solidFill>
                  <a:srgbClr val="16233A"/>
                </a:solidFill>
                <a:latin typeface="Aptos"/>
              </a:defRPr>
            </a:pPr>
            <a:r>
              <a:t>• People with a device, internet access, and basic digital skills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257800" cy="4297680"/>
          </a:xfrm>
          <a:prstGeom prst="roundRect">
            <a:avLst/>
          </a:prstGeom>
          <a:solidFill>
            <a:srgbClr val="F7F2EB"/>
          </a:solidFill>
          <a:ln>
            <a:solidFill>
              <a:srgbClr val="F7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16233A"/>
                </a:solidFill>
                <a:latin typeface="Aptos"/>
              </a:defRPr>
            </a:pPr>
            <a:r>
              <a:t>Who we do not fully serve yet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23160"/>
            <a:ext cx="4434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Learners without English literacy</a:t>
            </a:r>
          </a:p>
          <a:p>
            <a:pPr>
              <a:spcAft>
                <a:spcPts val="12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Offline users or people without a suitable device</a:t>
            </a:r>
          </a:p>
          <a:p>
            <a:pPr>
              <a:spcAft>
                <a:spcPts val="12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People needing more accessibility support</a:t>
            </a:r>
          </a:p>
          <a:p>
            <a:pPr>
              <a:spcAft>
                <a:spcPts val="1200"/>
              </a:spcAft>
              <a:defRPr sz="1600">
                <a:solidFill>
                  <a:srgbClr val="16233A"/>
                </a:solidFill>
                <a:latin typeface="Aptos"/>
              </a:defRPr>
            </a:pPr>
            <a:r>
              <a:t>• Advanced learners needing detailed grammar or conversation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4114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5C6878"/>
                </a:solidFill>
                <a:latin typeface="Aptos"/>
              </a:defRPr>
            </a:pPr>
            <a:r>
              <a:t>DutchLingo  •  Hackathon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5C68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6233A"/>
                </a:solidFill>
                <a:latin typeface="Aptos"/>
              </a:defRPr>
            </a:pPr>
            <a:r>
              <a:t>A simple learning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5C6878"/>
                </a:solidFill>
                <a:latin typeface="Aptos"/>
              </a:defRPr>
            </a:pPr>
            <a:r>
              <a:t>One app, four connected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23317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35607" y="2176272"/>
            <a:ext cx="777240" cy="777240"/>
          </a:xfrm>
          <a:prstGeom prst="roundRect">
            <a:avLst/>
          </a:prstGeom>
          <a:solidFill>
            <a:srgbClr val="FF700C"/>
          </a:solidFill>
          <a:ln>
            <a:solidFill>
              <a:srgbClr val="FF70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35607" y="2350008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3246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6233A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749039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>
                <a:solidFill>
                  <a:srgbClr val="5C6878"/>
                </a:solidFill>
                <a:latin typeface="Aptos"/>
              </a:defRPr>
            </a:pPr>
            <a:r>
              <a:t>See a Dutch word</a:t>
            </a:r>
            <a:br/>
            <a:r>
              <a:t>and its translation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1874519"/>
            <a:ext cx="23317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88536" y="2176272"/>
            <a:ext cx="777240" cy="777240"/>
          </a:xfrm>
          <a:prstGeom prst="roundRect">
            <a:avLst/>
          </a:prstGeom>
          <a:solidFill>
            <a:srgbClr val="FF700C"/>
          </a:solidFill>
          <a:ln>
            <a:solidFill>
              <a:srgbClr val="FF70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8536" y="2350008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1335" y="3246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6233A"/>
                </a:solidFill>
                <a:latin typeface="Aptos"/>
              </a:defRPr>
            </a:pPr>
            <a:r>
              <a:t>Practise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749039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>
                <a:solidFill>
                  <a:srgbClr val="5C6878"/>
                </a:solidFill>
                <a:latin typeface="Aptos"/>
              </a:defRPr>
            </a:pPr>
            <a:r>
              <a:t>Answer quiz questions</a:t>
            </a:r>
            <a:br/>
            <a:r>
              <a:t>and get instant feedback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1874519"/>
            <a:ext cx="23317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41464" y="2176272"/>
            <a:ext cx="777240" cy="777240"/>
          </a:xfrm>
          <a:prstGeom prst="roundRect">
            <a:avLst/>
          </a:prstGeom>
          <a:solidFill>
            <a:srgbClr val="FF700C"/>
          </a:solidFill>
          <a:ln>
            <a:solidFill>
              <a:srgbClr val="FF70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1464" y="2350008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4264" y="3246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6233A"/>
                </a:solidFill>
                <a:latin typeface="Aptos"/>
              </a:defRPr>
            </a:pPr>
            <a:r>
              <a:t>Find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749039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>
                <a:solidFill>
                  <a:srgbClr val="5C6878"/>
                </a:solidFill>
                <a:latin typeface="Aptos"/>
              </a:defRPr>
            </a:pPr>
            <a:r>
              <a:t>Search the full</a:t>
            </a:r>
            <a:br/>
            <a:r>
              <a:t>word library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7152" y="1874519"/>
            <a:ext cx="23317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94392" y="2176272"/>
            <a:ext cx="777240" cy="777240"/>
          </a:xfrm>
          <a:prstGeom prst="roundRect">
            <a:avLst/>
          </a:prstGeom>
          <a:solidFill>
            <a:srgbClr val="FF700C"/>
          </a:solidFill>
          <a:ln>
            <a:solidFill>
              <a:srgbClr val="FF70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94392" y="2350008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7192" y="3246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16233A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6" y="3749039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0">
                <a:solidFill>
                  <a:srgbClr val="5C6878"/>
                </a:solidFill>
                <a:latin typeface="Aptos"/>
              </a:defRPr>
            </a:pPr>
            <a:r>
              <a:t>See progress from</a:t>
            </a:r>
            <a:br/>
            <a:r>
              <a:t>new to mastered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577840"/>
            <a:ext cx="9966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FF700C"/>
                </a:solidFill>
                <a:latin typeface="Aptos"/>
              </a:defRPr>
            </a:pPr>
            <a:r>
              <a:t>The prototype includes 105 curated Dutch–English words in 11 categories.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4114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5C6878"/>
                </a:solidFill>
                <a:latin typeface="Aptos"/>
              </a:defRPr>
            </a:pPr>
            <a:r>
              <a:t>DutchLingo  •  Hackathon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5C68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6233A"/>
                </a:solidFill>
                <a:latin typeface="Aptos"/>
              </a:defRPr>
            </a:pPr>
            <a:r>
              <a:t>Learn and practise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5C6878"/>
                </a:solidFill>
                <a:latin typeface="Aptos"/>
              </a:defRPr>
            </a:pPr>
            <a:r>
              <a:t>Short activities make starting less overwhelming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" y="2167640"/>
            <a:ext cx="5486400" cy="3171943"/>
          </a:xfrm>
          <a:prstGeom prst="roundRect">
            <a:avLst/>
          </a:prstGeom>
          <a:solidFill>
            <a:srgbClr val="DCD6CD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ssistant-RmRmzHqN9c8MwCSPiCz8vj-10CCD4F8-73A0-4C9A-AA94-269580579AFB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94488"/>
            <a:ext cx="5486400" cy="31719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18503" y="2222262"/>
            <a:ext cx="5303520" cy="3062699"/>
          </a:xfrm>
          <a:prstGeom prst="roundRect">
            <a:avLst/>
          </a:prstGeom>
          <a:solidFill>
            <a:srgbClr val="DCD6CD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ssistant-FTexQthcdCC97eEuHAqwVR-1C68B6FE-8E47-433D-A7A3-462197280126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49110"/>
            <a:ext cx="5303520" cy="306269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51560" y="5715000"/>
            <a:ext cx="4389120" cy="438912"/>
          </a:xfrm>
          <a:prstGeom prst="roundRect">
            <a:avLst/>
          </a:prstGeom>
          <a:solidFill>
            <a:srgbClr val="FF700C"/>
          </a:solidFill>
          <a:ln>
            <a:solidFill>
              <a:srgbClr val="FF70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843016"/>
            <a:ext cx="420624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Learn: reveal the translation when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5715000"/>
            <a:ext cx="4160520" cy="438912"/>
          </a:xfrm>
          <a:prstGeom prst="roundRect">
            <a:avLst/>
          </a:prstGeom>
          <a:solidFill>
            <a:srgbClr val="FF700C"/>
          </a:solidFill>
          <a:ln>
            <a:solidFill>
              <a:srgbClr val="FF70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5432" y="5843016"/>
            <a:ext cx="40233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Practice: quizzes, feedback, points and streaks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4114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5C6878"/>
                </a:solidFill>
                <a:latin typeface="Aptos"/>
              </a:defRPr>
            </a:pPr>
            <a:r>
              <a:t>DutchLingo  •  Hackathon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92240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5C68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6233A"/>
                </a:solidFill>
                <a:latin typeface="Aptos"/>
              </a:defRPr>
            </a:pPr>
            <a:r>
              <a:t>Find words and track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5C6878"/>
                </a:solidFill>
                <a:latin typeface="Aptos"/>
              </a:defRPr>
            </a:pPr>
            <a:r>
              <a:t>Learners can return to vocabulary whenever they need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" y="2109914"/>
            <a:ext cx="5669280" cy="3287395"/>
          </a:xfrm>
          <a:prstGeom prst="roundRect">
            <a:avLst/>
          </a:prstGeom>
          <a:solidFill>
            <a:srgbClr val="DCD6CD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ssistant-LeUBhShBB62q8T7FCuGCix-FE32BB02-BD6B-4CAF-BA0C-940737098014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36762"/>
            <a:ext cx="5669280" cy="32873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55664" y="2255082"/>
            <a:ext cx="5166360" cy="2997059"/>
          </a:xfrm>
          <a:prstGeom prst="roundRect">
            <a:avLst/>
          </a:prstGeom>
          <a:solidFill>
            <a:srgbClr val="DCD6CD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ssistant-AwNnycd6f3DJPAgUrBGUhQ-4A14D2F6-E9FF-487D-BA11-1D1A875278D0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81930"/>
            <a:ext cx="5166360" cy="29970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06440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700C"/>
                </a:solidFill>
                <a:latin typeface="Aptos"/>
              </a:defRPr>
            </a:pPr>
            <a:r>
              <a:t>Search Dutch or English • browse categories • view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80644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700C"/>
                </a:solidFill>
                <a:latin typeface="Aptos"/>
              </a:defRPr>
            </a:pPr>
            <a:r>
              <a:t>Dashboard shows words that are new, learning, and mastered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4114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5C6878"/>
                </a:solidFill>
                <a:latin typeface="Aptos"/>
              </a:defRPr>
            </a:pPr>
            <a:r>
              <a:t>DutchLingo  •  Hackathon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5C68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6233A"/>
                </a:solidFill>
                <a:latin typeface="Aptos"/>
              </a:defRPr>
            </a:pPr>
            <a:r>
              <a:t>How we used Bolt responsibly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5C6878"/>
                </a:solidFill>
                <a:latin typeface="Aptos"/>
              </a:defRPr>
            </a:pPr>
            <a:r>
              <a:t>Bolt was the required AI tool in this hackathon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 b="1">
                <a:solidFill>
                  <a:srgbClr val="FF700C"/>
                </a:solidFill>
                <a:latin typeface="Aptos"/>
              </a:defRPr>
            </a:pPr>
            <a:r>
              <a:t>Bolt helped us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480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6233A"/>
                </a:solidFill>
                <a:latin typeface="Aptos"/>
              </a:defRPr>
            </a:pPr>
            <a:r>
              <a:t>• Build the React interface and learning screens</a:t>
            </a:r>
          </a:p>
          <a:p>
            <a:pPr>
              <a:spcAft>
                <a:spcPts val="1200"/>
              </a:spcAft>
              <a:defRPr sz="1700">
                <a:solidFill>
                  <a:srgbClr val="16233A"/>
                </a:solidFill>
                <a:latin typeface="Aptos"/>
              </a:defRPr>
            </a:pPr>
            <a:r>
              <a:t>• Create and improve the app features</a:t>
            </a:r>
          </a:p>
          <a:p>
            <a:pPr>
              <a:spcAft>
                <a:spcPts val="1200"/>
              </a:spcAft>
              <a:defRPr sz="1700">
                <a:solidFill>
                  <a:srgbClr val="16233A"/>
                </a:solidFill>
                <a:latin typeface="Aptos"/>
              </a:defRPr>
            </a:pPr>
            <a:r>
              <a:t>• Iterate on the design during the hackathon</a:t>
            </a:r>
          </a:p>
          <a:p>
            <a:pPr>
              <a:spcAft>
                <a:spcPts val="1200"/>
              </a:spcAft>
              <a:defRPr sz="1700">
                <a:solidFill>
                  <a:srgbClr val="16233A"/>
                </a:solidFill>
                <a:latin typeface="Aptos"/>
              </a:defRPr>
            </a:pPr>
            <a:r>
              <a:t>• Solve issues and refine the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2920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C6878"/>
                </a:solidFill>
                <a:latin typeface="Aptos"/>
              </a:defRPr>
            </a:pPr>
            <a:r>
              <a:t>Our team defined the problem, wrote prompts, reviewed the output, tested the app, and chose what to improve.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64224" y="1514879"/>
            <a:ext cx="5074920" cy="2922985"/>
          </a:xfrm>
          <a:prstGeom prst="roundRect">
            <a:avLst/>
          </a:prstGeom>
          <a:solidFill>
            <a:srgbClr val="DCD6CD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ssistant-2jn8QYY5xH7UPuwTGYAR8U-CD5C6E03-1058-4224-94BB-4008D2B2025D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41727"/>
            <a:ext cx="5074920" cy="292298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09360" y="4617720"/>
            <a:ext cx="5074920" cy="1325880"/>
          </a:xfrm>
          <a:prstGeom prst="roundRect">
            <a:avLst/>
          </a:prstGeom>
          <a:solidFill>
            <a:srgbClr val="F7F2EB"/>
          </a:solidFill>
          <a:ln>
            <a:solidFill>
              <a:srgbClr val="F7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48463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16233A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523036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5C6878"/>
                </a:solidFill>
                <a:latin typeface="Aptos"/>
              </a:defRPr>
            </a:pPr>
            <a:r>
              <a:t>DutchLingo is a practice tool, not a language certificate or a tool for judging employment, education, migration, or integration.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4114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5C6878"/>
                </a:solidFill>
                <a:latin typeface="Aptos"/>
              </a:defRPr>
            </a:pPr>
            <a:r>
              <a:t>DutchLingo  •  Hackathon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92240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5C68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E1E8F2"/>
                </a:solidFill>
                <a:latin typeface="Aptos"/>
              </a:defRPr>
            </a:pPr>
            <a:r>
              <a:t>DutchLingo makes beginner Dutch practice simple, focused, and low-pressure.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0"/>
            <a:ext cx="6492240" cy="3611880"/>
          </a:xfrm>
          <a:prstGeom prst="roundRect">
            <a:avLst/>
          </a:prstGeom>
          <a:solidFill>
            <a:srgbClr val="FF700C"/>
          </a:solidFill>
          <a:ln>
            <a:solidFill>
              <a:srgbClr val="FF70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651760"/>
            <a:ext cx="5623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1. Open Learn and show the word “hond”.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2. Reveal its English translation.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3. Open Practice and answer one quiz question.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4. Open Library and search for “hond”.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5. Open About and show SDG 4 and exclusions.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33172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320040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E1E8F2"/>
                </a:solidFill>
                <a:latin typeface="Aptos"/>
              </a:defRPr>
            </a:pPr>
            <a:r>
              <a:t>We are happy to explain our problem, our use of Bolt, and the prototype.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4114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2CDDC"/>
                </a:solidFill>
                <a:latin typeface="Aptos"/>
              </a:defRPr>
            </a:pPr>
            <a:r>
              <a:t>DutchLingo  •  Hackathon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C2CDDC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